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93" r:id="rId3"/>
    <p:sldId id="302" r:id="rId4"/>
    <p:sldId id="304" r:id="rId5"/>
    <p:sldId id="305" r:id="rId6"/>
    <p:sldId id="306" r:id="rId7"/>
    <p:sldId id="307" r:id="rId8"/>
  </p:sldIdLst>
  <p:sldSz cx="18288000" cy="10287000"/>
  <p:notesSz cx="6858000" cy="9144000"/>
  <p:embeddedFontLst>
    <p:embeddedFont>
      <p:font typeface="游ゴシック" panose="020B0400000000000000" pitchFamily="34" charset="-128"/>
      <p:regular r:id="rId10"/>
      <p:bold r:id="rId11"/>
    </p:embeddedFont>
    <p:embeddedFont>
      <p:font typeface="游ゴシック" panose="020B0400000000000000" pitchFamily="34" charset="-128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C5D9"/>
    <a:srgbClr val="C0D8C3"/>
    <a:srgbClr val="BFBFBF"/>
    <a:srgbClr val="FFF3B9"/>
    <a:srgbClr val="EDF4BF"/>
    <a:srgbClr val="FFE8E1"/>
    <a:srgbClr val="F7E7AF"/>
    <a:srgbClr val="F4E7CC"/>
    <a:srgbClr val="ECECEC"/>
    <a:srgbClr val="F4D6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90" autoAdjust="0"/>
    <p:restoredTop sz="94184" autoAdjust="0"/>
  </p:normalViewPr>
  <p:slideViewPr>
    <p:cSldViewPr>
      <p:cViewPr>
        <p:scale>
          <a:sx n="90" d="100"/>
          <a:sy n="90" d="100"/>
        </p:scale>
        <p:origin x="48" y="-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D7B3-D8F9-DB42-9752-C640A49B89F2}" type="datetimeFigureOut">
              <a:rPr kumimoji="1" lang="ja-JP" altLang="en-US" smtClean="0"/>
              <a:t>2025/7/21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E85BE-9FAD-764D-B84A-7C70829A20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9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0528-F736-36EF-97B7-A9EDEBC1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F8D68-25AD-D7B0-437C-3D5B62B59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DC6F48-CBE3-05AB-D506-97EA278B1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ユーザーのアクションでどこまで流れるのかを明記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DFCE0-D4C3-5EC8-8EF5-964963675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82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EB85-0420-06C3-67FC-CD5C24FB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D6D15C-C657-462C-FC3B-A3E26BDDC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E0B01A-60F2-B6D5-B41E-FE5D0ED4A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52A1D-35CA-4AD3-551A-163E05824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60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BBA2D-B130-9243-38B4-B9813AD5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42A31A-92CB-2DBA-C4FF-76E75D94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525FB05-A1F8-23AF-2C7B-B688F5EBA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0FA42A-1B2E-3A53-C88E-7B4F9572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28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01AE4-9599-F9EB-4C0C-3FB1E5364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943F0E-4D86-D25D-8355-1EC1B7695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6F557B3-D6D5-C5F0-B87B-D78B69291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5205A2-2654-F824-C559-591A20DFE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1766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E9656-0CB5-5EFF-B5D4-0C5317A8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9E3708-409D-A420-6B36-895298A83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37DBF2-13AB-113E-39DA-6162FEA04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F7B8E7-3E84-144B-090E-038EA384E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1656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A886-A44A-7147-A1D4-0759394A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2B4848-3863-EE23-5589-83DAC9871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A1F8F12-D6F5-5920-394E-B09750FD5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1D3A13-4AFC-18F1-4649-0EC0DA3C6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57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svg"/><Relationship Id="rId28" Type="http://schemas.openxmlformats.org/officeDocument/2006/relationships/image" Target="../media/image28.pn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1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8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19.svg"/><Relationship Id="rId26" Type="http://schemas.openxmlformats.org/officeDocument/2006/relationships/image" Target="../media/image49.svg"/><Relationship Id="rId39" Type="http://schemas.openxmlformats.org/officeDocument/2006/relationships/image" Target="../media/image52.svg"/><Relationship Id="rId21" Type="http://schemas.openxmlformats.org/officeDocument/2006/relationships/image" Target="../media/image46.png"/><Relationship Id="rId34" Type="http://schemas.openxmlformats.org/officeDocument/2006/relationships/image" Target="../media/image33.svg"/><Relationship Id="rId7" Type="http://schemas.openxmlformats.org/officeDocument/2006/relationships/image" Target="../media/image7.png"/><Relationship Id="rId12" Type="http://schemas.openxmlformats.org/officeDocument/2006/relationships/image" Target="../media/image39.svg"/><Relationship Id="rId17" Type="http://schemas.openxmlformats.org/officeDocument/2006/relationships/image" Target="../media/image18.png"/><Relationship Id="rId25" Type="http://schemas.openxmlformats.org/officeDocument/2006/relationships/image" Target="../media/image48.png"/><Relationship Id="rId33" Type="http://schemas.openxmlformats.org/officeDocument/2006/relationships/image" Target="../media/image32.png"/><Relationship Id="rId38" Type="http://schemas.openxmlformats.org/officeDocument/2006/relationships/image" Target="../media/image5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svg"/><Relationship Id="rId20" Type="http://schemas.openxmlformats.org/officeDocument/2006/relationships/image" Target="../media/image45.svg"/><Relationship Id="rId29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38.png"/><Relationship Id="rId24" Type="http://schemas.openxmlformats.org/officeDocument/2006/relationships/image" Target="../media/image27.svg"/><Relationship Id="rId32" Type="http://schemas.openxmlformats.org/officeDocument/2006/relationships/image" Target="../media/image31.svg"/><Relationship Id="rId37" Type="http://schemas.openxmlformats.org/officeDocument/2006/relationships/image" Target="../media/image50.svg"/><Relationship Id="rId5" Type="http://schemas.openxmlformats.org/officeDocument/2006/relationships/image" Target="../media/image36.png"/><Relationship Id="rId15" Type="http://schemas.openxmlformats.org/officeDocument/2006/relationships/image" Target="../media/image42.png"/><Relationship Id="rId23" Type="http://schemas.openxmlformats.org/officeDocument/2006/relationships/image" Target="../media/image26.png"/><Relationship Id="rId28" Type="http://schemas.openxmlformats.org/officeDocument/2006/relationships/image" Target="../media/image12.svg"/><Relationship Id="rId36" Type="http://schemas.openxmlformats.org/officeDocument/2006/relationships/image" Target="../media/image29.svg"/><Relationship Id="rId10" Type="http://schemas.openxmlformats.org/officeDocument/2006/relationships/image" Target="../media/image10.svg"/><Relationship Id="rId19" Type="http://schemas.openxmlformats.org/officeDocument/2006/relationships/image" Target="../media/image44.png"/><Relationship Id="rId31" Type="http://schemas.openxmlformats.org/officeDocument/2006/relationships/image" Target="../media/image20.png"/><Relationship Id="rId4" Type="http://schemas.openxmlformats.org/officeDocument/2006/relationships/image" Target="../media/image35.svg"/><Relationship Id="rId9" Type="http://schemas.openxmlformats.org/officeDocument/2006/relationships/image" Target="../media/image9.png"/><Relationship Id="rId14" Type="http://schemas.openxmlformats.org/officeDocument/2006/relationships/image" Target="../media/image41.svg"/><Relationship Id="rId22" Type="http://schemas.openxmlformats.org/officeDocument/2006/relationships/image" Target="../media/image47.svg"/><Relationship Id="rId27" Type="http://schemas.openxmlformats.org/officeDocument/2006/relationships/image" Target="../media/image11.png"/><Relationship Id="rId30" Type="http://schemas.openxmlformats.org/officeDocument/2006/relationships/image" Target="../media/image30.svg"/><Relationship Id="rId35" Type="http://schemas.openxmlformats.org/officeDocument/2006/relationships/image" Target="../media/image28.png"/><Relationship Id="rId8" Type="http://schemas.openxmlformats.org/officeDocument/2006/relationships/image" Target="../media/image8.svg"/><Relationship Id="rId3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Freeform 5"/>
          <p:cNvSpPr/>
          <p:nvPr/>
        </p:nvSpPr>
        <p:spPr>
          <a:xfrm flipH="1">
            <a:off x="13374676" y="1505082"/>
            <a:ext cx="5352794" cy="6277264"/>
          </a:xfrm>
          <a:custGeom>
            <a:avLst/>
            <a:gdLst/>
            <a:ahLst/>
            <a:cxnLst/>
            <a:rect l="l" t="t" r="r" b="b"/>
            <a:pathLst>
              <a:path w="5352794" h="6277264">
                <a:moveTo>
                  <a:pt x="5352794" y="0"/>
                </a:moveTo>
                <a:lnTo>
                  <a:pt x="0" y="0"/>
                </a:lnTo>
                <a:lnTo>
                  <a:pt x="0" y="6277264"/>
                </a:lnTo>
                <a:lnTo>
                  <a:pt x="5352794" y="6277264"/>
                </a:lnTo>
                <a:lnTo>
                  <a:pt x="5352794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57250" y="7025641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91463" y="3612504"/>
            <a:ext cx="11049000" cy="2656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199"/>
              </a:lnSpc>
            </a:pPr>
            <a:r>
              <a:rPr lang="en-US" sz="72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2025/07/25進捗報告</a:t>
            </a:r>
          </a:p>
          <a:p>
            <a:pPr>
              <a:lnSpc>
                <a:spcPts val="11199"/>
              </a:lnSpc>
            </a:pP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- Task is </a:t>
            </a:r>
            <a:r>
              <a:rPr lang="en-US" sz="4000" b="1" spc="399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overでdeath寸前</a:t>
            </a: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！-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66BA20F-ACCC-3614-9C86-45BD6A5FA5CC}"/>
              </a:ext>
            </a:extLst>
          </p:cNvPr>
          <p:cNvGrpSpPr/>
          <p:nvPr/>
        </p:nvGrpSpPr>
        <p:grpSpPr>
          <a:xfrm>
            <a:off x="1080279" y="2704922"/>
            <a:ext cx="6234921" cy="866942"/>
            <a:chOff x="1403336" y="1324305"/>
            <a:chExt cx="6234921" cy="866942"/>
          </a:xfrm>
        </p:grpSpPr>
        <p:grpSp>
          <p:nvGrpSpPr>
            <p:cNvPr id="10" name="Group 10"/>
            <p:cNvGrpSpPr/>
            <p:nvPr/>
          </p:nvGrpSpPr>
          <p:grpSpPr>
            <a:xfrm>
              <a:off x="1722038" y="1324305"/>
              <a:ext cx="5687621" cy="866942"/>
              <a:chOff x="0" y="-47625"/>
              <a:chExt cx="1154506" cy="228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54506" cy="180706"/>
              </a:xfrm>
              <a:custGeom>
                <a:avLst/>
                <a:gdLst/>
                <a:ahLst/>
                <a:cxnLst/>
                <a:rect l="l" t="t" r="r" b="b"/>
                <a:pathLst>
                  <a:path w="906552" h="180706">
                    <a:moveTo>
                      <a:pt x="0" y="0"/>
                    </a:moveTo>
                    <a:lnTo>
                      <a:pt x="906552" y="0"/>
                    </a:lnTo>
                    <a:lnTo>
                      <a:pt x="906552" y="180706"/>
                    </a:lnTo>
                    <a:lnTo>
                      <a:pt x="0" y="180706"/>
                    </a:lnTo>
                    <a:close/>
                  </a:path>
                </a:pathLst>
              </a:custGeom>
              <a:solidFill>
                <a:srgbClr val="1B1B1B"/>
              </a:solidFill>
            </p:spPr>
            <p:txBody>
              <a:bodyPr/>
              <a:lstStyle/>
              <a:p>
                <a:endParaRPr lang="ja-JP" altLang="en-US"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906552" cy="2283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403336" y="1592638"/>
              <a:ext cx="6234921" cy="51110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</a:pPr>
              <a:r>
                <a:rPr lang="ja-JP" altLang="en-US" sz="2999" b="1" spc="149">
                  <a:solidFill>
                    <a:srgbClr val="F6F6F6"/>
                  </a:solidFill>
                  <a:latin typeface="Yu Gothic" panose="020B0400000000000000" pitchFamily="34" charset="-128"/>
                  <a:ea typeface="Yu Gothic" panose="020B0400000000000000" pitchFamily="34" charset="-128"/>
                  <a:cs typeface="Noto Sans JP Bold"/>
                  <a:sym typeface="Noto Sans JP Bold"/>
                </a:rPr>
                <a:t>マッチングシステム作成</a:t>
              </a:r>
              <a:endParaRPr lang="en-US" sz="2999" b="1" spc="149" dirty="0">
                <a:solidFill>
                  <a:srgbClr val="F6F6F6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Bold"/>
                <a:sym typeface="Noto Sans JP Bold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00200" y="7371895"/>
            <a:ext cx="4471529" cy="52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499" b="1" spc="124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ML/DS</a:t>
            </a:r>
            <a:r>
              <a:rPr lang="ja-JP" altLang="en-US" sz="2499" b="1" spc="124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白川桃子</a:t>
            </a:r>
            <a:endParaRPr lang="en-US" sz="2499" b="1" spc="124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8BFA9-2BBF-C3F8-C160-8F14663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30D5134-B865-BC45-E4AD-24F0DA1673DA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FFF3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音声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B4AAA26-0844-6898-D926-BBE7696ED5D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5A4DB73-398F-E0C9-97EF-6491BA51E90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DFF8F19-8F6D-2359-2C27-7DE4BD711C02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65509D03-402A-1077-5D2D-43589FEA3F5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E1F7F37-A779-9E98-5B59-54C058C2403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6BBD031-66B8-BD6E-F436-D5AE3BD961C8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0DFC3AC-6EDF-69B9-FB3B-49D50E6DAA08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DC6797-66C2-6FC1-DD63-5A52ECEF7E4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29E2FE1-D563-0372-D735-61E09345E468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E4CA4440-32C2-1FD3-7FBC-5FD7ADD21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64D4C33-F9BD-A628-538A-85119DBC01D8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858FD3E-E23F-9596-7AF6-5F4E86F4BD93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ABCFBB6B-5FA0-70EB-A9F8-DB04593B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0F26FB2A-2700-6B17-8ED6-84AE192BE367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16CEACC-3541-4F23-C1FB-2C4B7311EC4B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A18AB0B9-3C56-C558-452E-A0E109A481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2D32BB0-4820-FD0E-2380-17C9A1DBFB05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200D84F-F4C8-C305-44AD-37FB3FE2D1E0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9EE8FBAC-6F6D-29A3-64A6-F392FAD41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C752708-A40F-4929-6CED-32A0D10D0A6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0E314FD-B0F0-03D2-1B34-9041E973ACA1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036D2202-9C43-93A3-E5E8-98B3514896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6FB1BBC-36FD-EA2D-8F39-BF0767A8FD6E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7219F052-7CD2-5F3C-85AC-27442968CB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84D76FFD-5C4A-7B69-B4DF-52AAB4618DBF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D3536E5A-6BC4-F39D-6212-C3567BCDBC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0217C13F-8BBD-0A4B-D352-76F18A7AEE18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1A3780D-F3C8-F087-B5F6-CCD4651DF3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E1C44753-B12A-9F7B-F857-6DD9DFD89B15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F0E471F0-15BC-D393-99EF-9DFAB2051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E35AB532-6CFB-F5FC-A5EB-30A00CCE9318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3DDB1DF0-16E5-807C-9C88-C4B5BA17E6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6A5FA647-1A5B-488E-C666-F9ACCD57D20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1B38502-67D3-90B5-2EEB-D2B7833112BE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E3A4D875-D6C3-8C72-F96D-9B7E2F031D5D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14EFAEE-1A90-3189-7661-39B9BFDED86E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5D9F454B-A186-5E6D-9FA0-5BDB763A4C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286DEAEC-6855-38C0-E126-38922C349D69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9EB7FD93-38B2-415F-6292-75F7A9ACE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FECB0108-7782-A526-A9F5-882FB7EAE2DE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EFAB432-0EAC-6A92-7303-A96BC00B0679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FA6EE4C0-4C24-2A8A-1F22-0E7B7F3FD176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8D16AACD-D027-F886-3F15-1517E712B5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919A9735-2C25-9C9B-DE6B-077217B99BC3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E4D6B706-B2C4-3BC5-1A29-B811A5560EE5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8766CA23-A024-E27E-5DF7-177685384DF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15906DB7-B281-B083-B171-51F885A82ED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867FAF8-C1CA-6E72-01AC-3E81273A1F91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1742A8C9-9A3E-6FD3-1A96-0D9848E83615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482ADA5C-028C-C80E-BEE8-630D0926567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468D9143-F508-A29A-58A7-8E35FDDCFDD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3C0963C3-BF8F-6863-5EAB-C347A81FC3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1F0A999-D676-F98A-0F2E-DB31802B23DD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5337A111-EADE-09AD-5F6A-ABB0A52DA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E9D8035-E70D-F131-A76A-E393B6504B5B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A44E382E-FB19-69DF-CA12-800455406E3E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33873C44-15C1-6698-10A2-E24E2A9AE14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DAE9171-9EBD-BEB5-9AC6-F084E6188E73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ED9187B3-D2E5-B3A8-2BB1-263DDA6CB94C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8B37BCC3-E2AA-7B23-B805-3352D7138DC4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063E242-DAE0-A90D-3849-306A68862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B2CE6384-A4A7-7424-2BA9-7DC661C5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59090B78-A23D-F199-5C34-E36973E4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D594FF29-17A2-0317-3BC0-E7349055C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F2584802-E253-112B-F09B-452BE3F6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3E519E46-DC0C-2661-6EB3-BCB93C8CB9BF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8127752-690E-CE4C-4043-8C1212A0956B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BB24FFE4-414D-F16B-FCA9-20913FA04BF0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85FC96DD-68F1-8027-077F-90D0F91CA72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1C879E5-5EB4-C5A4-6171-B6424ADC1EB8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68C08D0-04A1-8B75-86C9-3645B594535E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A7D50072-8D0D-195B-5995-DC90FA91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201AC9B-10CA-E39A-7DA7-079DD844C505}"/>
              </a:ext>
            </a:extLst>
          </p:cNvPr>
          <p:cNvSpPr txBox="1"/>
          <p:nvPr/>
        </p:nvSpPr>
        <p:spPr>
          <a:xfrm>
            <a:off x="7852620" y="190005"/>
            <a:ext cx="25827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サービス全体</a:t>
            </a:r>
          </a:p>
        </p:txBody>
      </p:sp>
    </p:spTree>
    <p:extLst>
      <p:ext uri="{BB962C8B-B14F-4D97-AF65-F5344CB8AC3E}">
        <p14:creationId xmlns:p14="http://schemas.microsoft.com/office/powerpoint/2010/main" val="2704687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3E6B-1752-7295-61E0-0A15D878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C97A41C-2711-DA42-9872-6E0C527CAA1A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650559-3C96-4211-D9D1-D51ED4194025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1CF6882-B980-6C2A-4461-FF1DFD3ACA1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C579079-CE1F-7F84-64D3-EE719B63F7D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152D41-B2DB-9F7F-57A7-9E90C833C1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3054A466-42E6-1665-EFC5-4E191F1317E3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193253B5-0D3F-214C-95C1-83C5C6ED4D4A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865451E-C0BF-8FDB-54BE-3DB87AE7C453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07CE263-638C-CC35-02B4-FB0A5F3577B6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694B75FC-A730-FBE2-591D-61251CB55A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ACB0C9B5-7851-67EB-CFA7-00576CCE5156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D7701FE-37BE-6BB4-362A-4E091A5841EE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355DEF15-3580-5689-1EE7-B3DBF0F95E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D829664-1A3F-5860-D416-715EFA4670F4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39EDB0A-7932-EF3C-242A-4B9CDC4D056D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BC59C3F-B852-EEC1-2029-BE04012DCF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60540FA-4262-21B9-4F49-E1816DD03D52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D217F37-EAC5-BBE8-0223-6623E0298CA4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8AC93F50-8961-8120-26AB-FFE7087B5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6945909-1DA5-0444-247C-A7F02C29A114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A82160A-03E4-64FE-26B8-91D528F26D4B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2276834D-121F-5159-C495-F91E904DFA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7CAC2F2-E815-34A3-E307-706626DDBE11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359DC753-A8A1-1727-65AA-644041A4A7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90CE65D2-1CDF-C5BF-AA14-B87C9BA8B0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949F46AB-55B9-C78A-2E05-2E274D3E2963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D7906DE8-65CA-DC7C-7532-5875338794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34ACD628-D378-79E8-5CB8-2F58EB0FA61B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488BA2E7-60A4-A452-6E6F-2B0CE720FA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B5B3901C-1A07-5D6F-E117-11808EDAAB69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18486881-168D-6ACA-F8C9-39FDE6AFC9BE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C47B5B6-AD52-612A-0489-3F5C283FC0A1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DA1917F0-0199-94D6-8905-47AAB7AF5D87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72326B5-4A93-3D4B-FFCD-642F43D696F0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6F4A2ED8-6626-1738-E73E-74995FEF28A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CF124466-3981-0697-0712-4C0DBBCE1272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264EF05C-7A41-1D6D-4695-D3FE4A8A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D41863EC-1D28-2D82-8499-3C46BE14A700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51B0E911-596D-7B10-ECFD-54F529C1453A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840A8B15-256A-B735-C51B-DE57CB52BD7C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3053CC80-221C-5E4E-C75E-1BF6E13A6728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A488C6FC-3B22-6D52-8783-B7C2CAE5C5C0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EE858361-1D5D-9A0E-9532-9381C5D3D3F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D185BBD2-1600-B0D3-98C9-DCCBCF79208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18BA8E81-3CF3-383C-60F8-8F34409991AD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65F6F21-DF58-F979-B018-F3D92DAAC3EC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255CF375-BD8B-33DE-3745-B25775B5FF5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AAEBCCF1-526E-CF91-51C4-AF981E77C422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A1755934-EA97-69DE-F6D6-448FF7E5FB9E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F962D41F-48DF-ABB3-E855-A4C09BF13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5B3E01C-01E7-FAFE-C3D2-4EECD659063A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0032C6-4C70-666C-53D5-CB569FDF0A02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4C766515-A16B-0EA6-3FC4-AE839F2E085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1F1EE88-1A01-E225-31A9-85E6B1FBDF47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602F1535-6448-966E-1BEE-6C07F5E37510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0AB255DF-A165-3E52-644B-6304B621AB59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7B82316-CD8F-8AFC-67B9-33C75D64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CBD7077D-0D94-3C5A-4683-469997055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A6ABEA0C-1813-C610-D163-DE881389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2272A3EC-97BC-4B3E-E83A-B41DA7A0C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DD117508-FD4E-0EC6-ACD7-9CE2CED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0D867C28-DC94-FC24-C87D-7E42D62B2F71}"/>
              </a:ext>
            </a:extLst>
          </p:cNvPr>
          <p:cNvCxnSpPr>
            <a:cxnSpLocks/>
          </p:cNvCxnSpPr>
          <p:nvPr/>
        </p:nvCxnSpPr>
        <p:spPr>
          <a:xfrm flipV="1">
            <a:off x="10508942" y="7658100"/>
            <a:ext cx="0" cy="60960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384EF2F-9591-270E-6EBA-970AB4178E59}"/>
              </a:ext>
            </a:extLst>
          </p:cNvPr>
          <p:cNvCxnSpPr>
            <a:cxnSpLocks/>
          </p:cNvCxnSpPr>
          <p:nvPr/>
        </p:nvCxnSpPr>
        <p:spPr>
          <a:xfrm>
            <a:off x="3599297" y="8237021"/>
            <a:ext cx="6909645" cy="268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23742939-658E-1E2F-6F0B-F9B02DE17206}"/>
              </a:ext>
            </a:extLst>
          </p:cNvPr>
          <p:cNvCxnSpPr>
            <a:cxnSpLocks/>
          </p:cNvCxnSpPr>
          <p:nvPr/>
        </p:nvCxnSpPr>
        <p:spPr>
          <a:xfrm flipV="1">
            <a:off x="3609384" y="7764413"/>
            <a:ext cx="1" cy="50347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CAD7E6A5-51FC-B4D7-713F-0722136961A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1A87B56-1560-50E8-7ECA-081EA2E87C05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EFBA151-6273-5847-64DC-67918D848595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B79342F6-91AE-E01A-01BD-6E5128BAE7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100FFBB0-812E-33F7-ABC9-B0C2EE19660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pic>
        <p:nvPicPr>
          <p:cNvPr id="10" name="グラフィックス 9" descr="クリップ 単色塗りつぶし">
            <a:extLst>
              <a:ext uri="{FF2B5EF4-FFF2-40B4-BE49-F238E27FC236}">
                <a16:creationId xmlns:a16="http://schemas.microsoft.com/office/drawing/2014/main" id="{F9CD5B05-750A-4F70-E372-83F53B0D40E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pic>
        <p:nvPicPr>
          <p:cNvPr id="15" name="グラフィックス 14" descr="クリップ 単色塗りつぶし">
            <a:extLst>
              <a:ext uri="{FF2B5EF4-FFF2-40B4-BE49-F238E27FC236}">
                <a16:creationId xmlns:a16="http://schemas.microsoft.com/office/drawing/2014/main" id="{355F4082-B7FE-78B1-E684-7801FDF80B2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A8AE7D-C684-6B34-C90E-14AF3040D004}"/>
              </a:ext>
            </a:extLst>
          </p:cNvPr>
          <p:cNvSpPr txBox="1"/>
          <p:nvPr/>
        </p:nvSpPr>
        <p:spPr>
          <a:xfrm>
            <a:off x="5300353" y="5333048"/>
            <a:ext cx="37802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マッチングシステムの仕組み理解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A1E47BC6-4C17-0680-70FA-11C2A27272BA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グラフィックス 34" descr="レシート 単色塗りつぶし">
            <a:extLst>
              <a:ext uri="{FF2B5EF4-FFF2-40B4-BE49-F238E27FC236}">
                <a16:creationId xmlns:a16="http://schemas.microsoft.com/office/drawing/2014/main" id="{15AFC007-CAE0-70CA-555C-EE14DCC60E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4031A15-52F4-AF19-6F63-BE48E9D14603}"/>
              </a:ext>
            </a:extLst>
          </p:cNvPr>
          <p:cNvSpPr txBox="1"/>
          <p:nvPr/>
        </p:nvSpPr>
        <p:spPr>
          <a:xfrm>
            <a:off x="2574673" y="8508162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スコアが低すぎる原因解明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22E2832-B3B3-5421-E650-8772A914842C}"/>
              </a:ext>
            </a:extLst>
          </p:cNvPr>
          <p:cNvSpPr txBox="1"/>
          <p:nvPr/>
        </p:nvSpPr>
        <p:spPr>
          <a:xfrm>
            <a:off x="7087994" y="190005"/>
            <a:ext cx="4112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今週取り組んできた所</a:t>
            </a:r>
          </a:p>
        </p:txBody>
      </p:sp>
    </p:spTree>
    <p:extLst>
      <p:ext uri="{BB962C8B-B14F-4D97-AF65-F5344CB8AC3E}">
        <p14:creationId xmlns:p14="http://schemas.microsoft.com/office/powerpoint/2010/main" val="37366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23327-0902-37DC-48D0-F1C75B281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1884A6C-D8F0-3DE4-001C-96698BEF634D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296319C-7E62-CB3B-3FF9-2BBEBDA48871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7F0E8804-5925-474D-E727-0F73679DFFC0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E520975-8DC7-39B9-E3CA-BD4D1A2EE094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B63AE808-3524-6BFF-29BA-93FAB427D481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ECD0E5F-3958-CDD6-9045-B41CEECA9E6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0FF5659-6597-5EE0-B36F-05571B6892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FFE7FBC-F94E-190B-1F0B-DDD4AE9BB284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FFF9524-5852-CE08-F7F5-7A35F0CE1019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zero-shot learning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のスコア低すぎ問題の解決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9C4ACE0-86E0-FEDB-FB35-1892C498735A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pic>
        <p:nvPicPr>
          <p:cNvPr id="14" name="図 13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EF2C4A3-1CE8-30CC-2E64-2CA7F5F6C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065" y="2600307"/>
            <a:ext cx="6934200" cy="62269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E177DD-B64F-B3FD-5110-646840DE075F}"/>
              </a:ext>
            </a:extLst>
          </p:cNvPr>
          <p:cNvSpPr txBox="1"/>
          <p:nvPr/>
        </p:nvSpPr>
        <p:spPr>
          <a:xfrm>
            <a:off x="2496086" y="3907796"/>
            <a:ext cx="723948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rgbClr val="C00000"/>
                </a:solidFill>
              </a:rPr>
              <a:t>英語用のモデルに日本語を入力していた</a:t>
            </a:r>
            <a:endParaRPr kumimoji="1" lang="en-US" altLang="ja-JP" sz="3200" dirty="0"/>
          </a:p>
          <a:p>
            <a:endParaRPr kumimoji="1" lang="en-US" altLang="ja-JP" sz="3200" dirty="0"/>
          </a:p>
          <a:p>
            <a:endParaRPr kumimoji="1" lang="en-US" altLang="ja-JP" sz="3200" dirty="0"/>
          </a:p>
          <a:p>
            <a:r>
              <a:rPr kumimoji="1" lang="ja-JP" altLang="en-US" sz="3200"/>
              <a:t>日本語に対応したモデルに変更後は</a:t>
            </a:r>
            <a:endParaRPr kumimoji="1" lang="en-US" altLang="ja-JP" sz="3200" dirty="0"/>
          </a:p>
          <a:p>
            <a:r>
              <a:rPr kumimoji="1" lang="ja-JP" altLang="en-US" sz="3200"/>
              <a:t>問題なくスコアを計算できた！！！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209854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916D-D6B2-BF55-63EC-2479FBBA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01C45BE-9E30-7B91-B378-0CCF4C12758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2D5DF0-C64F-5F3E-0C0A-2F44BC5844FE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225DA87-32B9-06DA-2071-A1F08403CB7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F9A0BC7-9BD6-B2E6-D792-786EB3FAFC91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95362EA-79B4-FF78-618E-54C9A2C1ACF3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BC5F0F2-4C59-4FF7-6CFF-77D419248D2F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EDCC788-D962-4B72-B753-1C943C37C1C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B815BD7-2F30-E573-46B5-D3146DC3FDEF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32D3770-2A0D-F337-8102-94FABDEC5403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マッチングシステムの仕組み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FFBD72-2EC3-6939-01B5-6CAC9C01B44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03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0A907A-AED5-A0A0-4BEE-7BB0B91A3A1D}"/>
              </a:ext>
            </a:extLst>
          </p:cNvPr>
          <p:cNvGrpSpPr/>
          <p:nvPr/>
        </p:nvGrpSpPr>
        <p:grpSpPr>
          <a:xfrm>
            <a:off x="1903296" y="2751573"/>
            <a:ext cx="14481366" cy="5897127"/>
            <a:chOff x="2892234" y="2923257"/>
            <a:chExt cx="14481366" cy="5897127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5CE1C6B3-5D70-5965-829D-796BC591F135}"/>
                </a:ext>
              </a:extLst>
            </p:cNvPr>
            <p:cNvSpPr/>
            <p:nvPr/>
          </p:nvSpPr>
          <p:spPr>
            <a:xfrm>
              <a:off x="7467600" y="3924300"/>
              <a:ext cx="2743200" cy="685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5029986-38F6-41CD-4FA2-482E51098B36}"/>
                </a:ext>
              </a:extLst>
            </p:cNvPr>
            <p:cNvSpPr/>
            <p:nvPr/>
          </p:nvSpPr>
          <p:spPr>
            <a:xfrm>
              <a:off x="10668000" y="3924300"/>
              <a:ext cx="3048000" cy="685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/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kumimoji="1" lang="en-US" altLang="ja-JP" sz="3600" i="1" smtClean="0">
                                <a:latin typeface="+mn-ea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kumimoji="1" lang="en-US" altLang="ja-JP" sz="3600" i="1" smtClean="0">
                                    <a:latin typeface="+mn-ea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0" smtClean="0">
                                    <a:latin typeface="+mn-ea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𝑖</m:t>
                                </m:r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,</m:t>
                                </m:r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𝑗</m:t>
                                </m:r>
                              </m:lim>
                            </m:limLow>
                          </m:fName>
                          <m:e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</m:t>
                                </m:r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,</m:t>
                                </m:r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𝑗𝑙</m:t>
                                </m:r>
                              </m:sub>
                            </m:sSub>
                            <m:r>
                              <a:rPr kumimoji="1" lang="en-US" altLang="ja-JP" sz="3600">
                                <a:latin typeface="+mn-ea"/>
                              </a:rPr>
                              <m:t>−</m:t>
                            </m:r>
                            <m:r>
                              <a:rPr kumimoji="1" lang="en-US" altLang="ja-JP" sz="3600" i="1">
                                <a:latin typeface="+mn-ea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1" lang="el-GR" altLang="ja-JP" sz="3600" i="1">
                                        <a:latin typeface="+mn-ea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𝑙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𝑖𝑙</m:t>
                                    </m:r>
                                  </m:sub>
                                </m:s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−1)</m:t>
                                </m:r>
                              </m:e>
                              <m:sup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2</m:t>
                                </m:r>
                              </m:sup>
                            </m:sSup>
                          </m:e>
                        </m:func>
                      </m:oMath>
                    </m:oMathPara>
                  </a14:m>
                  <a:endParaRPr kumimoji="1" lang="en-US" altLang="ja-JP" sz="36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endParaRPr kumimoji="1" lang="en-US" altLang="ja-JP" sz="32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32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+mn-ea"/>
                        </a:rPr>
                        <m:t>=</m:t>
                      </m:r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𝑗𝑘</m:t>
                          </m:r>
                        </m:sub>
                      </m:sSub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000" i="1">
                              <a:latin typeface="+mn-ea"/>
                            </a:rPr>
                            <m:t>Z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+mn-ea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+mn-ea"/>
                            </a:rPr>
                            <m:t>𝑘</m:t>
                          </m:r>
                        </m:sub>
                      </m:sSub>
                    </m:oMath>
                  </a14:m>
                  <a:r>
                    <a:rPr kumimoji="1" lang="en-US" altLang="ja-JP" sz="2000" dirty="0">
                      <a:latin typeface="+mn-ea"/>
                    </a:rPr>
                    <a:t>:</a:t>
                  </a:r>
                  <a:r>
                    <a:rPr kumimoji="1" lang="ja-JP" altLang="en-US" sz="2000">
                      <a:latin typeface="+mn-ea"/>
                    </a:rPr>
                    <a:t>ユーザー＊のトピック</a:t>
                  </a:r>
                  <a:r>
                    <a:rPr kumimoji="1" lang="en-US" altLang="ja-JP" sz="2000" dirty="0">
                      <a:latin typeface="+mn-ea"/>
                    </a:rPr>
                    <a:t>k</a:t>
                  </a:r>
                  <a:r>
                    <a:rPr kumimoji="1" lang="ja-JP" altLang="en-US" sz="2000">
                      <a:latin typeface="+mn-ea"/>
                    </a:rPr>
                    <a:t>に対する関心度合い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+mn-ea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+mn-ea"/>
                            </a:rPr>
                            <m:t>𝑙</m:t>
                          </m:r>
                        </m:sub>
                      </m:sSub>
                      <m:r>
                        <a:rPr kumimoji="1" lang="en-US" altLang="ja-JP" sz="2000" b="0" i="0" smtClean="0">
                          <a:latin typeface="+mn-ea"/>
                        </a:rPr>
                        <m:t>: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ユーザー＊がクラス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+mn-ea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に属する時は</a:t>
                  </a:r>
                  <a:r>
                    <a:rPr kumimoji="1" lang="en-US" altLang="ja-JP" sz="2000" dirty="0">
                      <a:latin typeface="+mn-ea"/>
                    </a:rPr>
                    <a:t>1,</a:t>
                  </a:r>
                  <a:r>
                    <a:rPr kumimoji="1" lang="ja-JP" altLang="en-US" sz="2000">
                      <a:latin typeface="+mn-ea"/>
                    </a:rPr>
                    <a:t>属さない時は</a:t>
                  </a:r>
                  <a:r>
                    <a:rPr kumimoji="1" lang="en-US" altLang="ja-JP" sz="2000" dirty="0">
                      <a:latin typeface="+mn-ea"/>
                    </a:rPr>
                    <a:t>0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</m:t>
                          </m:r>
                          <m:r>
                            <a:rPr kumimoji="1" lang="en-US" altLang="ja-JP" sz="2800" b="0" i="1" smtClean="0">
                              <a:latin typeface="+mn-ea"/>
                            </a:rPr>
                            <m:t>,</m:t>
                          </m:r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和が最大を取るよう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+mn-ea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+mn-ea"/>
                        </a:rPr>
                        <m:t>,</m:t>
                      </m:r>
                      <m:r>
                        <a:rPr kumimoji="1" lang="en-US" altLang="ja-JP" sz="2000" b="0" i="1" smtClean="0">
                          <a:latin typeface="+mn-ea"/>
                        </a:rPr>
                        <m:t>𝑗</m:t>
                      </m:r>
                    </m:oMath>
                  </a14:m>
                  <a:r>
                    <a:rPr kumimoji="1" lang="ja-JP" altLang="en-US" sz="2000" dirty="0">
                      <a:latin typeface="+mn-ea"/>
                    </a:rPr>
                    <a:t>を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dirty="0" smtClean="0">
                          <a:latin typeface="+mn-ea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に割り当てる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r>
                        <a:rPr kumimoji="1" lang="en-US" altLang="ja-JP" sz="2800" i="1" smtClean="0">
                          <a:latin typeface="+mn-ea"/>
                        </a:rPr>
                        <m:t>𝜆</m:t>
                      </m:r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p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ja-JP" sz="2800" i="1">
                                  <a:latin typeface="+mn-ea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ja-JP" sz="2800" i="1">
                                  <a:latin typeface="+mn-ea"/>
                                </a:rPr>
                                <m:t>Σ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ja-JP" sz="2800" i="1">
                                  <a:latin typeface="+mn-ea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𝑖𝑙</m:t>
                              </m:r>
                            </m:sub>
                          </m:sSub>
                          <m:r>
                            <a:rPr kumimoji="1" lang="en-US" altLang="ja-JP" sz="2800" i="1">
                              <a:latin typeface="+mn-ea"/>
                            </a:rPr>
                            <m:t>−1)</m:t>
                          </m:r>
                        </m:e>
                        <m:sup>
                          <m:r>
                            <a:rPr kumimoji="1" lang="en-US" altLang="ja-JP" sz="2800" b="0" i="1" smtClean="0">
                              <a:latin typeface="+mn-ea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制約条件</a:t>
                  </a:r>
                  <a:r>
                    <a:rPr kumimoji="1" lang="en-US" altLang="ja-JP" sz="2000" dirty="0">
                      <a:latin typeface="+mn-ea"/>
                    </a:rPr>
                    <a:t> </a:t>
                  </a:r>
                  <a:r>
                    <a:rPr kumimoji="1" lang="ja-JP" altLang="en-US" sz="2000">
                      <a:latin typeface="+mn-ea"/>
                    </a:rPr>
                    <a:t>全ユーザーがどこかのグループに</a:t>
                  </a:r>
                  <a:r>
                    <a:rPr kumimoji="1" lang="en-US" altLang="ja-JP" sz="2000" dirty="0">
                      <a:latin typeface="+mn-ea"/>
                    </a:rPr>
                    <a:t>1</a:t>
                  </a:r>
                  <a:r>
                    <a:rPr kumimoji="1" lang="ja-JP" altLang="en-US" sz="2000">
                      <a:latin typeface="+mn-ea"/>
                    </a:rPr>
                    <a:t>回属す</a:t>
                  </a:r>
                  <a:r>
                    <a:rPr kumimoji="1" lang="en-US" altLang="ja-JP" sz="2000" dirty="0">
                      <a:latin typeface="+mn-ea"/>
                    </a:rPr>
                    <a:t>(</a:t>
                  </a:r>
                  <a:r>
                    <a:rPr kumimoji="1" lang="ja-JP" altLang="en-US" sz="2000">
                      <a:latin typeface="+mn-ea"/>
                    </a:rPr>
                    <a:t>可能な限り</a:t>
                  </a:r>
                  <a:r>
                    <a:rPr kumimoji="1" lang="en-US" altLang="ja-JP" sz="2000" dirty="0">
                      <a:latin typeface="+mn-ea"/>
                    </a:rPr>
                    <a:t>)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kumimoji="1" lang="en-US" altLang="ja-JP" sz="2400" dirty="0">
                      <a:latin typeface="+mn-ea"/>
                    </a:rPr>
                    <a:t>	</a:t>
                  </a:r>
                </a:p>
              </p:txBody>
            </p:sp>
          </mc:Choice>
          <mc:Fallback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F66EA36-D877-AE03-ADF7-84E65AED80B5}"/>
                </a:ext>
              </a:extLst>
            </p:cNvPr>
            <p:cNvSpPr txBox="1"/>
            <p:nvPr/>
          </p:nvSpPr>
          <p:spPr>
            <a:xfrm>
              <a:off x="8066392" y="470249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値をより大きく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45CF545-678C-73DC-3BF1-025879D17343}"/>
                </a:ext>
              </a:extLst>
            </p:cNvPr>
            <p:cNvSpPr txBox="1"/>
            <p:nvPr/>
          </p:nvSpPr>
          <p:spPr>
            <a:xfrm>
              <a:off x="11428810" y="4702496"/>
              <a:ext cx="15263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値をより小さく</a:t>
              </a: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DEACBBE-0F6C-632D-712E-6413062410A1}"/>
              </a:ext>
            </a:extLst>
          </p:cNvPr>
          <p:cNvSpPr txBox="1"/>
          <p:nvPr/>
        </p:nvSpPr>
        <p:spPr>
          <a:xfrm>
            <a:off x="2949343" y="2491549"/>
            <a:ext cx="1135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QUBO</a:t>
            </a:r>
            <a:r>
              <a:rPr kumimoji="1" lang="en-US" altLang="ja-JP" sz="1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(=Quadratic Unconstrained Binary Optimization)</a:t>
            </a:r>
            <a:r>
              <a:rPr kumimoji="1" lang="ja-JP" altLang="en-US" sz="2800" b="1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で組み合わせ最適化</a:t>
            </a:r>
            <a:endParaRPr kumimoji="1" lang="en-US" altLang="ja-JP" sz="2800" b="1" dirty="0">
              <a:solidFill>
                <a:srgbClr val="C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94071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891FF-5866-6299-6DDD-D72021664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D6C82D5-8C5C-20A4-6DE0-2BFE8EC7643C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52E47-124A-D5F0-CE1C-0366DD0D5EA0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E931CFB-B526-B416-6C43-8A9D95FEE0B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37934B2-67B4-2D33-DB69-1E7DE3EB3159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6F18E94-4A95-1434-5FD9-91C9244C99C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FA1F6B92-0446-59D0-CF7B-26E7C664BB0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95D817-783A-134A-FF98-2414D9C20E69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A81D070-1858-B24C-F7DC-4D675B0E4FD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B1824D78-0DD3-2CFA-FF91-AFC0713ED34C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アカウント作成・ログイン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0AF47E0-22D5-F1D7-AE25-77F145284C4F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47" name="右矢印 46">
            <a:extLst>
              <a:ext uri="{FF2B5EF4-FFF2-40B4-BE49-F238E27FC236}">
                <a16:creationId xmlns:a16="http://schemas.microsoft.com/office/drawing/2014/main" id="{331266CA-75C3-4838-C9DD-CBCE2F48091E}"/>
              </a:ext>
            </a:extLst>
          </p:cNvPr>
          <p:cNvSpPr/>
          <p:nvPr/>
        </p:nvSpPr>
        <p:spPr>
          <a:xfrm>
            <a:off x="6687436" y="401333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C0D8C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CA6F439-C5BB-F39A-2F47-FD70234E1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95" t="5613" r="26095" b="33250"/>
          <a:stretch>
            <a:fillRect/>
          </a:stretch>
        </p:blipFill>
        <p:spPr>
          <a:xfrm>
            <a:off x="7657952" y="2559105"/>
            <a:ext cx="3747600" cy="28575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図 22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7DF70B79-6AD4-C642-4F78-35D09A076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82" r="26866" b="35953"/>
          <a:stretch>
            <a:fillRect/>
          </a:stretch>
        </p:blipFill>
        <p:spPr>
          <a:xfrm>
            <a:off x="12954000" y="4013338"/>
            <a:ext cx="4296366" cy="32762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図 2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94834A43-9E96-B395-B381-893BB8E651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4" r="25228" b="45325"/>
          <a:stretch>
            <a:fillRect/>
          </a:stretch>
        </p:blipFill>
        <p:spPr>
          <a:xfrm>
            <a:off x="1579892" y="4013338"/>
            <a:ext cx="5107544" cy="327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9" name="右矢印 48">
            <a:extLst>
              <a:ext uri="{FF2B5EF4-FFF2-40B4-BE49-F238E27FC236}">
                <a16:creationId xmlns:a16="http://schemas.microsoft.com/office/drawing/2014/main" id="{46149983-3E69-8699-AB25-0A2B28E25A81}"/>
              </a:ext>
            </a:extLst>
          </p:cNvPr>
          <p:cNvSpPr/>
          <p:nvPr/>
        </p:nvSpPr>
        <p:spPr>
          <a:xfrm>
            <a:off x="6687436" y="603957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AFC5D9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図 4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1B97C1D-68D4-F239-DBFE-D1327F9970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2" r="24875" b="25072"/>
          <a:stretch>
            <a:fillRect/>
          </a:stretch>
        </p:blipFill>
        <p:spPr>
          <a:xfrm>
            <a:off x="7657148" y="5933043"/>
            <a:ext cx="3748404" cy="31205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49EF1D6B-ABD7-2545-1533-5CA8A920FDC2}"/>
              </a:ext>
            </a:extLst>
          </p:cNvPr>
          <p:cNvSpPr txBox="1"/>
          <p:nvPr/>
        </p:nvSpPr>
        <p:spPr>
          <a:xfrm>
            <a:off x="5029200" y="3380202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C0D8C3"/>
                </a:highlight>
              </a:rPr>
              <a:t>初回：新規登録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40C625FA-C726-A94B-65DE-F4C0A88BBF2F}"/>
              </a:ext>
            </a:extLst>
          </p:cNvPr>
          <p:cNvSpPr txBox="1"/>
          <p:nvPr/>
        </p:nvSpPr>
        <p:spPr>
          <a:xfrm>
            <a:off x="4521047" y="7489191"/>
            <a:ext cx="30267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AFC5D9"/>
                </a:highlight>
              </a:rPr>
              <a:t>それ以外：ログイン</a:t>
            </a:r>
          </a:p>
        </p:txBody>
      </p:sp>
    </p:spTree>
    <p:extLst>
      <p:ext uri="{BB962C8B-B14F-4D97-AF65-F5344CB8AC3E}">
        <p14:creationId xmlns:p14="http://schemas.microsoft.com/office/powerpoint/2010/main" val="2560638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1C90-7D4C-EF57-6AE4-EA87FA6A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CFE05DD-6881-8F6A-5262-AE46961B82A9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867551D-156B-4723-0277-CF29232F1851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5AF61E1-CC73-B4D8-D1B6-C06BC0AAFCCD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E5409A1-7E79-AC41-33AE-D1A4D93719E8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9A76C129-5CF6-65C9-2946-21B986EF4D32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8FB21BAB-BEC5-BDBF-EABD-A80AA3D7C90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B5C96CA-4F8E-E054-FF40-A98324D96CFC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9934A64-345F-E115-F767-B66CC9179CA1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FD24C120-6518-DD65-43D5-63D21D09BD1C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アカウント作成・ログイン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8673EB-7A79-4F8D-254B-699B45C5443D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pic>
        <p:nvPicPr>
          <p:cNvPr id="21" name="図 20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2E787F-AB32-26E8-1BFA-BCC6196186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95" t="5613" r="26095" b="33250"/>
          <a:stretch>
            <a:fillRect/>
          </a:stretch>
        </p:blipFill>
        <p:spPr>
          <a:xfrm>
            <a:off x="7570754" y="2523700"/>
            <a:ext cx="3935446" cy="30007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図 22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A0331605-3EFD-4B38-D7AA-3C56FBC7B5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88" r="21777" b="35953"/>
          <a:stretch>
            <a:fillRect/>
          </a:stretch>
        </p:blipFill>
        <p:spPr>
          <a:xfrm>
            <a:off x="12801600" y="4105582"/>
            <a:ext cx="5108001" cy="32762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図 2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562BECF-EEE8-C59D-8702-25608496C0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4" r="25228" b="45325"/>
          <a:stretch>
            <a:fillRect/>
          </a:stretch>
        </p:blipFill>
        <p:spPr>
          <a:xfrm>
            <a:off x="1461953" y="4105574"/>
            <a:ext cx="5108001" cy="32762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9" name="図 2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1D4BED2D-EBAA-EECD-8585-CDB1BEBF08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2" r="24875" b="25072"/>
          <a:stretch>
            <a:fillRect/>
          </a:stretch>
        </p:blipFill>
        <p:spPr>
          <a:xfrm>
            <a:off x="7570754" y="5819622"/>
            <a:ext cx="3935446" cy="327628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6BBEA3F9-BA74-1B7C-E26A-3023D2676331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4953000" y="4024099"/>
            <a:ext cx="2617754" cy="16521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7E76434-93E9-E258-63A3-9D6EE406F70B}"/>
              </a:ext>
            </a:extLst>
          </p:cNvPr>
          <p:cNvCxnSpPr>
            <a:cxnSpLocks/>
          </p:cNvCxnSpPr>
          <p:nvPr/>
        </p:nvCxnSpPr>
        <p:spPr>
          <a:xfrm>
            <a:off x="4953000" y="5971403"/>
            <a:ext cx="2617754" cy="158895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05255AF-CA92-C236-AEA8-DE51202750BA}"/>
              </a:ext>
            </a:extLst>
          </p:cNvPr>
          <p:cNvCxnSpPr>
            <a:cxnSpLocks/>
            <a:stCxn id="29" idx="3"/>
            <a:endCxn id="23" idx="1"/>
          </p:cNvCxnSpPr>
          <p:nvPr/>
        </p:nvCxnSpPr>
        <p:spPr>
          <a:xfrm flipV="1">
            <a:off x="11506200" y="5743725"/>
            <a:ext cx="1295400" cy="171403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3550B55-2A80-D58A-1DA4-9E053657DB56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11506200" y="4024099"/>
            <a:ext cx="1295400" cy="171962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5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6756</TotalTime>
  <Words>302</Words>
  <Application>Microsoft Macintosh PowerPoint</Application>
  <PresentationFormat>ユーザー設定</PresentationFormat>
  <Paragraphs>93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Calibri</vt:lpstr>
      <vt:lpstr>游ゴシック</vt:lpstr>
      <vt:lpstr>Arial</vt:lpstr>
      <vt:lpstr>游ゴシック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　シンプル　年次報告書　プレゼンテーション</dc:title>
  <cp:lastModifiedBy>Momoko SHIRAKAWA</cp:lastModifiedBy>
  <cp:revision>40</cp:revision>
  <dcterms:created xsi:type="dcterms:W3CDTF">2006-08-16T00:00:00Z</dcterms:created>
  <dcterms:modified xsi:type="dcterms:W3CDTF">2025-07-21T08:26:11Z</dcterms:modified>
  <dc:identifier>DAGn9M6bQfc</dc:identifier>
</cp:coreProperties>
</file>