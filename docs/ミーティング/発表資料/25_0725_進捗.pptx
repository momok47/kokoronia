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56" r:id="rId2"/>
    <p:sldId id="293" r:id="rId3"/>
    <p:sldId id="302" r:id="rId4"/>
    <p:sldId id="304" r:id="rId5"/>
    <p:sldId id="305" r:id="rId6"/>
    <p:sldId id="306" r:id="rId7"/>
    <p:sldId id="307" r:id="rId8"/>
    <p:sldId id="308" r:id="rId9"/>
  </p:sldIdLst>
  <p:sldSz cx="18288000" cy="10287000"/>
  <p:notesSz cx="6858000" cy="9144000"/>
  <p:embeddedFontLst>
    <p:embeddedFont>
      <p:font typeface="游ゴシック" panose="020B0400000000000000" pitchFamily="34" charset="-128"/>
      <p:regular r:id="rId11"/>
      <p:bold r:id="rId12"/>
    </p:embeddedFont>
    <p:embeddedFont>
      <p:font typeface="游ゴシック" panose="020B0400000000000000" pitchFamily="34" charset="-128"/>
      <p:regular r:id="rId11"/>
      <p:bold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C5D9"/>
    <a:srgbClr val="C0D8C3"/>
    <a:srgbClr val="BFBFBF"/>
    <a:srgbClr val="FFF3B9"/>
    <a:srgbClr val="EDF4BF"/>
    <a:srgbClr val="FFE8E1"/>
    <a:srgbClr val="F7E7AF"/>
    <a:srgbClr val="F4E7CC"/>
    <a:srgbClr val="ECECEC"/>
    <a:srgbClr val="F4D6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90" autoAdjust="0"/>
    <p:restoredTop sz="94184" autoAdjust="0"/>
  </p:normalViewPr>
  <p:slideViewPr>
    <p:cSldViewPr>
      <p:cViewPr>
        <p:scale>
          <a:sx n="78" d="100"/>
          <a:sy n="78" d="100"/>
        </p:scale>
        <p:origin x="736" y="2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5D7B3-D8F9-DB42-9752-C640A49B89F2}" type="datetimeFigureOut">
              <a:rPr kumimoji="1" lang="ja-JP" altLang="en-US" smtClean="0"/>
              <a:t>2025/7/21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3E85BE-9FAD-764D-B84A-7C70829A20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1958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B0528-F736-36EF-97B7-A9EDEBC10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FFF8D68-25AD-D7B0-437C-3D5B62B59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2DC6F48-CBE3-05AB-D506-97EA278B1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　ユーザーのアクションでどこまで流れるのかを明記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CDFCE0-D4C3-5EC8-8EF5-964963675E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822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EB85-0420-06C3-67FC-CD5C24FB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D6D15C-C657-462C-FC3B-A3E26BDDC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7E0B01A-60F2-B6D5-B41E-FE5D0ED4A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　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452A1D-35CA-4AD3-551A-163E058246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4601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BBA2D-B130-9243-38B4-B9813AD5B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342A31A-92CB-2DBA-C4FF-76E75D94E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525FB05-A1F8-23AF-2C7B-B688F5EBA8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0FA42A-1B2E-3A53-C88E-7B4F9572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72899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01AE4-9599-F9EB-4C0C-3FB1E5364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C943F0E-4D86-D25D-8355-1EC1B7695D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6F557B3-D6D5-C5F0-B87B-D78B69291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5205A2-2654-F824-C559-591A20DFE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1766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E9656-0CB5-5EFF-B5D4-0C5317A8F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F9E3708-409D-A420-6B36-895298A832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37DBF2-13AB-113E-39DA-6162FEA04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6F7B8E7-3E84-144B-090E-038EA384E8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1656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5CCEC-99D1-7C0B-D336-513001462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89B1F36-B6E7-7E18-D8BE-E4A073AD8C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469A689-1AA0-809F-286A-E6781BA3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257BD2A-ED47-46D9-1CC4-33A19CBF8F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98449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5AB4F-3DFD-1B8B-65D5-3124EF809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F53943A-6B0F-576A-0497-D13E573DBA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87B539-53CA-5071-9957-638A28757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39E77DF-C764-4107-69A1-C2B1BC7F7B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90380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sv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5" Type="http://schemas.openxmlformats.org/officeDocument/2006/relationships/image" Target="../media/image25.svg"/><Relationship Id="rId33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svg"/><Relationship Id="rId20" Type="http://schemas.openxmlformats.org/officeDocument/2006/relationships/image" Target="../media/image20.png"/><Relationship Id="rId29" Type="http://schemas.openxmlformats.org/officeDocument/2006/relationships/image" Target="../media/image2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32" Type="http://schemas.openxmlformats.org/officeDocument/2006/relationships/image" Target="../media/image32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svg"/><Relationship Id="rId28" Type="http://schemas.openxmlformats.org/officeDocument/2006/relationships/image" Target="../media/image28.png"/><Relationship Id="rId10" Type="http://schemas.openxmlformats.org/officeDocument/2006/relationships/image" Target="../media/image10.svg"/><Relationship Id="rId19" Type="http://schemas.openxmlformats.org/officeDocument/2006/relationships/image" Target="../media/image19.svg"/><Relationship Id="rId31" Type="http://schemas.openxmlformats.org/officeDocument/2006/relationships/image" Target="../media/image31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Relationship Id="rId22" Type="http://schemas.openxmlformats.org/officeDocument/2006/relationships/image" Target="../media/image22.png"/><Relationship Id="rId27" Type="http://schemas.openxmlformats.org/officeDocument/2006/relationships/image" Target="../media/image27.svg"/><Relationship Id="rId30" Type="http://schemas.openxmlformats.org/officeDocument/2006/relationships/image" Target="../media/image30.svg"/><Relationship Id="rId8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0.png"/><Relationship Id="rId18" Type="http://schemas.openxmlformats.org/officeDocument/2006/relationships/image" Target="../media/image19.svg"/><Relationship Id="rId26" Type="http://schemas.openxmlformats.org/officeDocument/2006/relationships/image" Target="../media/image49.svg"/><Relationship Id="rId39" Type="http://schemas.openxmlformats.org/officeDocument/2006/relationships/image" Target="../media/image52.svg"/><Relationship Id="rId21" Type="http://schemas.openxmlformats.org/officeDocument/2006/relationships/image" Target="../media/image46.png"/><Relationship Id="rId34" Type="http://schemas.openxmlformats.org/officeDocument/2006/relationships/image" Target="../media/image33.svg"/><Relationship Id="rId7" Type="http://schemas.openxmlformats.org/officeDocument/2006/relationships/image" Target="../media/image7.png"/><Relationship Id="rId12" Type="http://schemas.openxmlformats.org/officeDocument/2006/relationships/image" Target="../media/image39.svg"/><Relationship Id="rId17" Type="http://schemas.openxmlformats.org/officeDocument/2006/relationships/image" Target="../media/image18.png"/><Relationship Id="rId25" Type="http://schemas.openxmlformats.org/officeDocument/2006/relationships/image" Target="../media/image48.png"/><Relationship Id="rId33" Type="http://schemas.openxmlformats.org/officeDocument/2006/relationships/image" Target="../media/image32.png"/><Relationship Id="rId38" Type="http://schemas.openxmlformats.org/officeDocument/2006/relationships/image" Target="../media/image51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3.svg"/><Relationship Id="rId20" Type="http://schemas.openxmlformats.org/officeDocument/2006/relationships/image" Target="../media/image45.svg"/><Relationship Id="rId29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svg"/><Relationship Id="rId11" Type="http://schemas.openxmlformats.org/officeDocument/2006/relationships/image" Target="../media/image38.png"/><Relationship Id="rId24" Type="http://schemas.openxmlformats.org/officeDocument/2006/relationships/image" Target="../media/image27.svg"/><Relationship Id="rId32" Type="http://schemas.openxmlformats.org/officeDocument/2006/relationships/image" Target="../media/image31.svg"/><Relationship Id="rId37" Type="http://schemas.openxmlformats.org/officeDocument/2006/relationships/image" Target="../media/image50.svg"/><Relationship Id="rId5" Type="http://schemas.openxmlformats.org/officeDocument/2006/relationships/image" Target="../media/image36.png"/><Relationship Id="rId15" Type="http://schemas.openxmlformats.org/officeDocument/2006/relationships/image" Target="../media/image42.png"/><Relationship Id="rId23" Type="http://schemas.openxmlformats.org/officeDocument/2006/relationships/image" Target="../media/image26.png"/><Relationship Id="rId28" Type="http://schemas.openxmlformats.org/officeDocument/2006/relationships/image" Target="../media/image12.svg"/><Relationship Id="rId36" Type="http://schemas.openxmlformats.org/officeDocument/2006/relationships/image" Target="../media/image29.svg"/><Relationship Id="rId10" Type="http://schemas.openxmlformats.org/officeDocument/2006/relationships/image" Target="../media/image10.svg"/><Relationship Id="rId19" Type="http://schemas.openxmlformats.org/officeDocument/2006/relationships/image" Target="../media/image44.png"/><Relationship Id="rId31" Type="http://schemas.openxmlformats.org/officeDocument/2006/relationships/image" Target="../media/image20.png"/><Relationship Id="rId4" Type="http://schemas.openxmlformats.org/officeDocument/2006/relationships/image" Target="../media/image35.svg"/><Relationship Id="rId9" Type="http://schemas.openxmlformats.org/officeDocument/2006/relationships/image" Target="../media/image9.png"/><Relationship Id="rId14" Type="http://schemas.openxmlformats.org/officeDocument/2006/relationships/image" Target="../media/image41.svg"/><Relationship Id="rId22" Type="http://schemas.openxmlformats.org/officeDocument/2006/relationships/image" Target="../media/image47.svg"/><Relationship Id="rId27" Type="http://schemas.openxmlformats.org/officeDocument/2006/relationships/image" Target="../media/image11.png"/><Relationship Id="rId30" Type="http://schemas.openxmlformats.org/officeDocument/2006/relationships/image" Target="../media/image30.svg"/><Relationship Id="rId35" Type="http://schemas.openxmlformats.org/officeDocument/2006/relationships/image" Target="../media/image28.png"/><Relationship Id="rId8" Type="http://schemas.openxmlformats.org/officeDocument/2006/relationships/image" Target="../media/image8.svg"/><Relationship Id="rId3" Type="http://schemas.openxmlformats.org/officeDocument/2006/relationships/image" Target="../media/image3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/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Freeform 5"/>
          <p:cNvSpPr/>
          <p:nvPr/>
        </p:nvSpPr>
        <p:spPr>
          <a:xfrm flipH="1">
            <a:off x="13374676" y="1505082"/>
            <a:ext cx="5352794" cy="6277264"/>
          </a:xfrm>
          <a:custGeom>
            <a:avLst/>
            <a:gdLst/>
            <a:ahLst/>
            <a:cxnLst/>
            <a:rect l="l" t="t" r="r" b="b"/>
            <a:pathLst>
              <a:path w="5352794" h="6277264">
                <a:moveTo>
                  <a:pt x="5352794" y="0"/>
                </a:moveTo>
                <a:lnTo>
                  <a:pt x="0" y="0"/>
                </a:lnTo>
                <a:lnTo>
                  <a:pt x="0" y="6277264"/>
                </a:lnTo>
                <a:lnTo>
                  <a:pt x="5352794" y="6277264"/>
                </a:lnTo>
                <a:lnTo>
                  <a:pt x="5352794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857250" y="7025641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591463" y="3612504"/>
            <a:ext cx="11049000" cy="2656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1199"/>
              </a:lnSpc>
            </a:pPr>
            <a:r>
              <a:rPr lang="en-US" sz="72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2025/07/25進捗報告</a:t>
            </a:r>
          </a:p>
          <a:p>
            <a:pPr>
              <a:lnSpc>
                <a:spcPts val="11199"/>
              </a:lnSpc>
            </a:pPr>
            <a:r>
              <a:rPr lang="en-US" sz="40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- Task is </a:t>
            </a:r>
            <a:r>
              <a:rPr lang="en-US" sz="4000" b="1" spc="399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overでdeath寸前</a:t>
            </a:r>
            <a:r>
              <a:rPr lang="en-US" sz="40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！-</a:t>
            </a: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A66BA20F-ACCC-3614-9C86-45BD6A5FA5CC}"/>
              </a:ext>
            </a:extLst>
          </p:cNvPr>
          <p:cNvGrpSpPr/>
          <p:nvPr/>
        </p:nvGrpSpPr>
        <p:grpSpPr>
          <a:xfrm>
            <a:off x="1080279" y="2704922"/>
            <a:ext cx="6234921" cy="866942"/>
            <a:chOff x="1403336" y="1324305"/>
            <a:chExt cx="6234921" cy="866942"/>
          </a:xfrm>
        </p:grpSpPr>
        <p:grpSp>
          <p:nvGrpSpPr>
            <p:cNvPr id="10" name="Group 10"/>
            <p:cNvGrpSpPr/>
            <p:nvPr/>
          </p:nvGrpSpPr>
          <p:grpSpPr>
            <a:xfrm>
              <a:off x="1722038" y="1324305"/>
              <a:ext cx="5687621" cy="866942"/>
              <a:chOff x="0" y="-47625"/>
              <a:chExt cx="1154506" cy="228331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154506" cy="180706"/>
              </a:xfrm>
              <a:custGeom>
                <a:avLst/>
                <a:gdLst/>
                <a:ahLst/>
                <a:cxnLst/>
                <a:rect l="l" t="t" r="r" b="b"/>
                <a:pathLst>
                  <a:path w="906552" h="180706">
                    <a:moveTo>
                      <a:pt x="0" y="0"/>
                    </a:moveTo>
                    <a:lnTo>
                      <a:pt x="906552" y="0"/>
                    </a:lnTo>
                    <a:lnTo>
                      <a:pt x="906552" y="180706"/>
                    </a:lnTo>
                    <a:lnTo>
                      <a:pt x="0" y="180706"/>
                    </a:lnTo>
                    <a:close/>
                  </a:path>
                </a:pathLst>
              </a:custGeom>
              <a:solidFill>
                <a:srgbClr val="1B1B1B"/>
              </a:solidFill>
            </p:spPr>
            <p:txBody>
              <a:bodyPr/>
              <a:lstStyle/>
              <a:p>
                <a:endParaRPr lang="ja-JP" altLang="en-US">
                  <a:latin typeface="Yu Gothic" panose="020B0400000000000000" pitchFamily="34" charset="-128"/>
                  <a:ea typeface="Yu Gothic" panose="020B0400000000000000" pitchFamily="34" charset="-128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47625"/>
                <a:ext cx="906552" cy="22833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>
                  <a:latin typeface="Yu Gothic" panose="020B0400000000000000" pitchFamily="34" charset="-128"/>
                  <a:ea typeface="Yu Gothic" panose="020B0400000000000000" pitchFamily="34" charset="-128"/>
                </a:endParaRPr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1403336" y="1592638"/>
              <a:ext cx="6234921" cy="51110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</a:pPr>
              <a:r>
                <a:rPr lang="ja-JP" altLang="en-US" sz="2999" b="1" spc="149">
                  <a:solidFill>
                    <a:srgbClr val="F6F6F6"/>
                  </a:solidFill>
                  <a:latin typeface="Yu Gothic" panose="020B0400000000000000" pitchFamily="34" charset="-128"/>
                  <a:ea typeface="Yu Gothic" panose="020B0400000000000000" pitchFamily="34" charset="-128"/>
                  <a:cs typeface="Noto Sans JP Bold"/>
                  <a:sym typeface="Noto Sans JP Bold"/>
                </a:rPr>
                <a:t>マッチングシステム作成</a:t>
              </a:r>
              <a:endParaRPr lang="en-US" sz="2999" b="1" spc="149" dirty="0">
                <a:solidFill>
                  <a:srgbClr val="F6F6F6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Bold"/>
                <a:sym typeface="Noto Sans JP Bold"/>
              </a:endParaRP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600200" y="7371895"/>
            <a:ext cx="4471529" cy="522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sz="2499" b="1" spc="124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ML/DS</a:t>
            </a:r>
            <a:r>
              <a:rPr lang="ja-JP" altLang="en-US" sz="2499" b="1" spc="124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　白川桃子</a:t>
            </a:r>
            <a:endParaRPr lang="en-US" sz="2499" b="1" spc="124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8BFA9-2BBF-C3F8-C160-8F1466341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730D5134-B865-BC45-E4AD-24F0DA1673DA}"/>
              </a:ext>
            </a:extLst>
          </p:cNvPr>
          <p:cNvSpPr/>
          <p:nvPr/>
        </p:nvSpPr>
        <p:spPr>
          <a:xfrm>
            <a:off x="393598" y="2420830"/>
            <a:ext cx="918672" cy="2722668"/>
          </a:xfrm>
          <a:prstGeom prst="roundRect">
            <a:avLst/>
          </a:prstGeom>
          <a:solidFill>
            <a:srgbClr val="FFF3B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音声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文字起こし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B4AAA26-0844-6898-D926-BBE7696ED5DF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5A4DB73-398F-E0C9-97EF-6491BA51E90D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DFF8F19-8F6D-2359-2C27-7DE4BD711C02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65509D03-402A-1077-5D2D-43589FEA3F52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E1F7F37-A779-9E98-5B59-54C058C2403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76BBD031-66B8-BD6E-F436-D5AE3BD961C8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20DFC3AC-6EDF-69B9-FB3B-49D50E6DAA08}"/>
              </a:ext>
            </a:extLst>
          </p:cNvPr>
          <p:cNvSpPr txBox="1"/>
          <p:nvPr/>
        </p:nvSpPr>
        <p:spPr>
          <a:xfrm>
            <a:off x="2949343" y="1371153"/>
            <a:ext cx="1430995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ローカル環境でのサービスに必要な技術要素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8DC6797-66C2-6FC1-DD63-5A52ECEF7E4E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01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729E2FE1-D563-0372-D735-61E09345E468}"/>
              </a:ext>
            </a:extLst>
          </p:cNvPr>
          <p:cNvGrpSpPr/>
          <p:nvPr/>
        </p:nvGrpSpPr>
        <p:grpSpPr>
          <a:xfrm>
            <a:off x="4897196" y="2683594"/>
            <a:ext cx="1855186" cy="2078502"/>
            <a:chOff x="7213805" y="3006543"/>
            <a:chExt cx="1855186" cy="2078502"/>
          </a:xfrm>
        </p:grpSpPr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E4CA4440-32C2-1FD3-7FBC-5FD7ADD214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3805" y="3006543"/>
              <a:ext cx="1855186" cy="1498063"/>
            </a:xfrm>
            <a:custGeom>
              <a:avLst/>
              <a:gdLst/>
              <a:ahLst/>
              <a:cxnLst/>
              <a:rect l="l" t="t" r="r" b="b"/>
              <a:pathLst>
                <a:path w="1855186" h="1498063">
                  <a:moveTo>
                    <a:pt x="0" y="0"/>
                  </a:moveTo>
                  <a:lnTo>
                    <a:pt x="1855187" y="0"/>
                  </a:lnTo>
                  <a:lnTo>
                    <a:pt x="1855187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C64D4C33-F9BD-A628-538A-85119DBC01D8}"/>
                </a:ext>
              </a:extLst>
            </p:cNvPr>
            <p:cNvSpPr txBox="1"/>
            <p:nvPr/>
          </p:nvSpPr>
          <p:spPr>
            <a:xfrm>
              <a:off x="7723275" y="4623380"/>
              <a:ext cx="8451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GCS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7858FD3E-E23F-9596-7AF6-5F4E86F4BD93}"/>
              </a:ext>
            </a:extLst>
          </p:cNvPr>
          <p:cNvGrpSpPr/>
          <p:nvPr/>
        </p:nvGrpSpPr>
        <p:grpSpPr>
          <a:xfrm>
            <a:off x="9003837" y="2706732"/>
            <a:ext cx="2529860" cy="2055363"/>
            <a:chOff x="11486205" y="3006543"/>
            <a:chExt cx="2529860" cy="2055363"/>
          </a:xfrm>
        </p:grpSpPr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ABCFBB6B-5FA0-70EB-A9F8-DB04593BC8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90296" y="3006543"/>
              <a:ext cx="1521679" cy="1480179"/>
            </a:xfrm>
            <a:custGeom>
              <a:avLst/>
              <a:gdLst/>
              <a:ahLst/>
              <a:cxnLst/>
              <a:rect l="l" t="t" r="r" b="b"/>
              <a:pathLst>
                <a:path w="1521679" h="1480179">
                  <a:moveTo>
                    <a:pt x="0" y="0"/>
                  </a:moveTo>
                  <a:lnTo>
                    <a:pt x="1521679" y="0"/>
                  </a:lnTo>
                  <a:lnTo>
                    <a:pt x="1521679" y="1480179"/>
                  </a:lnTo>
                  <a:lnTo>
                    <a:pt x="0" y="1480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0F26FB2A-2700-6B17-8ED6-84AE192BE367}"/>
                </a:ext>
              </a:extLst>
            </p:cNvPr>
            <p:cNvSpPr txBox="1"/>
            <p:nvPr/>
          </p:nvSpPr>
          <p:spPr>
            <a:xfrm>
              <a:off x="11486205" y="4600241"/>
              <a:ext cx="25298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Speech-to-Text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16CEACC-3541-4F23-C1FB-2C4B7311EC4B}"/>
              </a:ext>
            </a:extLst>
          </p:cNvPr>
          <p:cNvGrpSpPr/>
          <p:nvPr/>
        </p:nvGrpSpPr>
        <p:grpSpPr>
          <a:xfrm>
            <a:off x="13260890" y="5960771"/>
            <a:ext cx="1339002" cy="1775469"/>
            <a:chOff x="2256509" y="6734974"/>
            <a:chExt cx="1339002" cy="1775469"/>
          </a:xfrm>
        </p:grpSpPr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A18AB0B9-3C56-C558-452E-A0E109A481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56509" y="6734974"/>
              <a:ext cx="1219860" cy="1247938"/>
            </a:xfrm>
            <a:custGeom>
              <a:avLst/>
              <a:gdLst/>
              <a:ahLst/>
              <a:cxnLst/>
              <a:rect l="l" t="t" r="r" b="b"/>
              <a:pathLst>
                <a:path w="1341162" h="1372032">
                  <a:moveTo>
                    <a:pt x="0" y="0"/>
                  </a:moveTo>
                  <a:lnTo>
                    <a:pt x="1341162" y="0"/>
                  </a:lnTo>
                  <a:lnTo>
                    <a:pt x="1341162" y="1372032"/>
                  </a:lnTo>
                  <a:lnTo>
                    <a:pt x="0" y="13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62D32BB0-4820-FD0E-2380-17C9A1DBFB05}"/>
                </a:ext>
              </a:extLst>
            </p:cNvPr>
            <p:cNvSpPr txBox="1"/>
            <p:nvPr/>
          </p:nvSpPr>
          <p:spPr>
            <a:xfrm>
              <a:off x="2344848" y="8048778"/>
              <a:ext cx="12506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Django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1200D84F-F4C8-C305-44AD-37FB3FE2D1E0}"/>
              </a:ext>
            </a:extLst>
          </p:cNvPr>
          <p:cNvGrpSpPr/>
          <p:nvPr/>
        </p:nvGrpSpPr>
        <p:grpSpPr>
          <a:xfrm>
            <a:off x="9747002" y="5826457"/>
            <a:ext cx="1426106" cy="1909783"/>
            <a:chOff x="7173083" y="6753785"/>
            <a:chExt cx="1426106" cy="1909783"/>
          </a:xfrm>
        </p:grpSpPr>
        <p:pic>
          <p:nvPicPr>
            <p:cNvPr id="21" name="グラフィックス 20" descr="データベース 枠線">
              <a:extLst>
                <a:ext uri="{FF2B5EF4-FFF2-40B4-BE49-F238E27FC236}">
                  <a16:creationId xmlns:a16="http://schemas.microsoft.com/office/drawing/2014/main" id="{9EE8FBAC-6F6D-29A3-64A6-F392FAD41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FC752708-A40F-4929-6CED-32A0D10D0A6F}"/>
                </a:ext>
              </a:extLst>
            </p:cNvPr>
            <p:cNvSpPr txBox="1"/>
            <p:nvPr/>
          </p:nvSpPr>
          <p:spPr>
            <a:xfrm>
              <a:off x="7284849" y="8201903"/>
              <a:ext cx="12025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20E314FD-B0F0-03D2-1B34-9041E973ACA1}"/>
              </a:ext>
            </a:extLst>
          </p:cNvPr>
          <p:cNvCxnSpPr>
            <a:cxnSpLocks/>
          </p:cNvCxnSpPr>
          <p:nvPr/>
        </p:nvCxnSpPr>
        <p:spPr>
          <a:xfrm>
            <a:off x="2898749" y="3722418"/>
            <a:ext cx="16764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グラフィックス 48" descr="音符 単色塗りつぶし">
            <a:extLst>
              <a:ext uri="{FF2B5EF4-FFF2-40B4-BE49-F238E27FC236}">
                <a16:creationId xmlns:a16="http://schemas.microsoft.com/office/drawing/2014/main" id="{036D2202-9C43-93A3-E5E8-98B35148965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92136" y="3304383"/>
            <a:ext cx="634281" cy="634281"/>
          </a:xfrm>
          <a:prstGeom prst="rect">
            <a:avLst/>
          </a:prstGeom>
        </p:spPr>
      </p:pic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6FB1BBC-36FD-EA2D-8F39-BF0767A8FD6E}"/>
              </a:ext>
            </a:extLst>
          </p:cNvPr>
          <p:cNvCxnSpPr>
            <a:cxnSpLocks/>
          </p:cNvCxnSpPr>
          <p:nvPr/>
        </p:nvCxnSpPr>
        <p:spPr>
          <a:xfrm>
            <a:off x="7277690" y="3480156"/>
            <a:ext cx="16764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グラフィックス 54" descr="音符 単色塗りつぶし">
            <a:extLst>
              <a:ext uri="{FF2B5EF4-FFF2-40B4-BE49-F238E27FC236}">
                <a16:creationId xmlns:a16="http://schemas.microsoft.com/office/drawing/2014/main" id="{7219F052-7CD2-5F3C-85AC-27442968CB8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71077" y="3062121"/>
            <a:ext cx="634281" cy="634281"/>
          </a:xfrm>
          <a:prstGeom prst="rect">
            <a:avLst/>
          </a:prstGeom>
        </p:spPr>
      </p:pic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84D76FFD-5C4A-7B69-B4DF-52AAB4618DBF}"/>
              </a:ext>
            </a:extLst>
          </p:cNvPr>
          <p:cNvCxnSpPr>
            <a:cxnSpLocks/>
          </p:cNvCxnSpPr>
          <p:nvPr/>
        </p:nvCxnSpPr>
        <p:spPr>
          <a:xfrm flipH="1">
            <a:off x="7277690" y="3984468"/>
            <a:ext cx="1676400" cy="575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カギ線コネクタ 69">
            <a:extLst>
              <a:ext uri="{FF2B5EF4-FFF2-40B4-BE49-F238E27FC236}">
                <a16:creationId xmlns:a16="http://schemas.microsoft.com/office/drawing/2014/main" id="{D3536E5A-6BC4-F39D-6212-C3567BCDBC4C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029607" y="3282988"/>
            <a:ext cx="941426" cy="712664"/>
          </a:xfrm>
          <a:prstGeom prst="bentConnector3">
            <a:avLst>
              <a:gd name="adj1" fmla="val 12"/>
            </a:avLst>
          </a:prstGeom>
          <a:ln w="571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0217C13F-8BBD-0A4B-D352-76F18A7AEE18}"/>
              </a:ext>
            </a:extLst>
          </p:cNvPr>
          <p:cNvCxnSpPr>
            <a:cxnSpLocks/>
          </p:cNvCxnSpPr>
          <p:nvPr/>
        </p:nvCxnSpPr>
        <p:spPr>
          <a:xfrm>
            <a:off x="11151209" y="3282987"/>
            <a:ext cx="838200" cy="0"/>
          </a:xfrm>
          <a:prstGeom prst="straightConnector1">
            <a:avLst/>
          </a:prstGeom>
          <a:ln w="571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グラフィックス 80" descr="レシート 単色塗りつぶし">
            <a:extLst>
              <a:ext uri="{FF2B5EF4-FFF2-40B4-BE49-F238E27FC236}">
                <a16:creationId xmlns:a16="http://schemas.microsoft.com/office/drawing/2014/main" id="{31A3780D-F3C8-F087-B5F6-CCD4651DF3A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971033" y="3062121"/>
            <a:ext cx="1005403" cy="1005403"/>
          </a:xfrm>
          <a:prstGeom prst="rect">
            <a:avLst/>
          </a:prstGeom>
        </p:spPr>
      </p:pic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E1C44753-B12A-9F7B-F857-6DD9DFD89B15}"/>
              </a:ext>
            </a:extLst>
          </p:cNvPr>
          <p:cNvGrpSpPr/>
          <p:nvPr/>
        </p:nvGrpSpPr>
        <p:grpSpPr>
          <a:xfrm>
            <a:off x="1371600" y="2676668"/>
            <a:ext cx="1565399" cy="2088047"/>
            <a:chOff x="2175483" y="3006543"/>
            <a:chExt cx="1565399" cy="2088047"/>
          </a:xfrm>
        </p:grpSpPr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F0E471F0-15BC-D393-99EF-9DFAB20519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5483" y="3006543"/>
              <a:ext cx="1565399" cy="1525552"/>
            </a:xfrm>
            <a:custGeom>
              <a:avLst/>
              <a:gdLst/>
              <a:ahLst/>
              <a:cxnLst/>
              <a:rect l="l" t="t" r="r" b="b"/>
              <a:pathLst>
                <a:path w="1565399" h="1525552">
                  <a:moveTo>
                    <a:pt x="0" y="0"/>
                  </a:moveTo>
                  <a:lnTo>
                    <a:pt x="1565399" y="0"/>
                  </a:lnTo>
                  <a:lnTo>
                    <a:pt x="1565399" y="1525552"/>
                  </a:lnTo>
                  <a:lnTo>
                    <a:pt x="0" y="152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E35AB532-6CFB-F5FC-A5EB-30A00CCE9318}"/>
                </a:ext>
              </a:extLst>
            </p:cNvPr>
            <p:cNvSpPr txBox="1"/>
            <p:nvPr/>
          </p:nvSpPr>
          <p:spPr>
            <a:xfrm>
              <a:off x="2274341" y="4632925"/>
              <a:ext cx="13676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 err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pyaudio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pic>
        <p:nvPicPr>
          <p:cNvPr id="90" name="グラフィックス 89" descr="レシート 単色塗りつぶし">
            <a:extLst>
              <a:ext uri="{FF2B5EF4-FFF2-40B4-BE49-F238E27FC236}">
                <a16:creationId xmlns:a16="http://schemas.microsoft.com/office/drawing/2014/main" id="{3DDB1DF0-16E5-807C-9C88-C4B5BA17E6A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716016" y="3704938"/>
            <a:ext cx="654366" cy="654366"/>
          </a:xfrm>
          <a:prstGeom prst="rect">
            <a:avLst/>
          </a:prstGeom>
        </p:spPr>
      </p:pic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6A5FA647-1A5B-488E-C666-F9ACCD57D204}"/>
              </a:ext>
            </a:extLst>
          </p:cNvPr>
          <p:cNvGrpSpPr/>
          <p:nvPr/>
        </p:nvGrpSpPr>
        <p:grpSpPr>
          <a:xfrm>
            <a:off x="2451387" y="5716017"/>
            <a:ext cx="2295821" cy="2020223"/>
            <a:chOff x="2637565" y="6122140"/>
            <a:chExt cx="2295821" cy="2020223"/>
          </a:xfrm>
        </p:grpSpPr>
        <p:sp>
          <p:nvSpPr>
            <p:cNvPr id="99" name="Freeform 7">
              <a:extLst>
                <a:ext uri="{FF2B5EF4-FFF2-40B4-BE49-F238E27FC236}">
                  <a16:creationId xmlns:a16="http://schemas.microsoft.com/office/drawing/2014/main" id="{F1B38502-67D3-90B5-2EEB-D2B7833112BE}"/>
                </a:ext>
              </a:extLst>
            </p:cNvPr>
            <p:cNvSpPr/>
            <p:nvPr/>
          </p:nvSpPr>
          <p:spPr>
            <a:xfrm>
              <a:off x="2874802" y="6122140"/>
              <a:ext cx="1821353" cy="1498063"/>
            </a:xfrm>
            <a:custGeom>
              <a:avLst/>
              <a:gdLst/>
              <a:ahLst/>
              <a:cxnLst/>
              <a:rect l="l" t="t" r="r" b="b"/>
              <a:pathLst>
                <a:path w="1821353" h="1498063">
                  <a:moveTo>
                    <a:pt x="0" y="0"/>
                  </a:moveTo>
                  <a:lnTo>
                    <a:pt x="1821353" y="0"/>
                  </a:lnTo>
                  <a:lnTo>
                    <a:pt x="1821353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E3A4D875-D6C3-8C72-F96D-9B7E2F031D5D}"/>
                </a:ext>
              </a:extLst>
            </p:cNvPr>
            <p:cNvSpPr txBox="1"/>
            <p:nvPr/>
          </p:nvSpPr>
          <p:spPr>
            <a:xfrm>
              <a:off x="2637565" y="7773031"/>
              <a:ext cx="22958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Zero-shot-learning</a:t>
              </a:r>
            </a:p>
          </p:txBody>
        </p:sp>
      </p:grp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814EFAEE-1A90-3189-7661-39B9BFDED86E}"/>
              </a:ext>
            </a:extLst>
          </p:cNvPr>
          <p:cNvCxnSpPr>
            <a:cxnSpLocks/>
          </p:cNvCxnSpPr>
          <p:nvPr/>
        </p:nvCxnSpPr>
        <p:spPr>
          <a:xfrm>
            <a:off x="8043199" y="6349731"/>
            <a:ext cx="181556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" name="グラフィックス 106" descr="コメント: ハート 単色塗りつぶし">
            <a:extLst>
              <a:ext uri="{FF2B5EF4-FFF2-40B4-BE49-F238E27FC236}">
                <a16:creationId xmlns:a16="http://schemas.microsoft.com/office/drawing/2014/main" id="{5D9F454B-A186-5E6D-9FA0-5BDB763A4CB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540999" y="5829300"/>
            <a:ext cx="821125" cy="821125"/>
          </a:xfrm>
          <a:prstGeom prst="rect">
            <a:avLst/>
          </a:prstGeom>
        </p:spPr>
      </p:pic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286DEAEC-6855-38C0-E126-38922C349D69}"/>
              </a:ext>
            </a:extLst>
          </p:cNvPr>
          <p:cNvGrpSpPr/>
          <p:nvPr/>
        </p:nvGrpSpPr>
        <p:grpSpPr>
          <a:xfrm>
            <a:off x="16611621" y="5841969"/>
            <a:ext cx="1676379" cy="1894271"/>
            <a:chOff x="14518479" y="5789880"/>
            <a:chExt cx="1676379" cy="1894271"/>
          </a:xfrm>
        </p:grpSpPr>
        <p:pic>
          <p:nvPicPr>
            <p:cNvPr id="110" name="グラフィックス 109" descr="男性のプロフィール 枠線">
              <a:extLst>
                <a:ext uri="{FF2B5EF4-FFF2-40B4-BE49-F238E27FC236}">
                  <a16:creationId xmlns:a16="http://schemas.microsoft.com/office/drawing/2014/main" id="{9EB7FD93-38B2-415F-6292-75F7A9ACE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4518479" y="5789880"/>
              <a:ext cx="1676379" cy="1676379"/>
            </a:xfrm>
            <a:prstGeom prst="rect">
              <a:avLst/>
            </a:prstGeom>
          </p:spPr>
        </p:pic>
        <p:sp>
          <p:nvSpPr>
            <p:cNvPr id="111" name="テキスト ボックス 110">
              <a:extLst>
                <a:ext uri="{FF2B5EF4-FFF2-40B4-BE49-F238E27FC236}">
                  <a16:creationId xmlns:a16="http://schemas.microsoft.com/office/drawing/2014/main" id="{FECB0108-7782-A526-A9F5-882FB7EAE2DE}"/>
                </a:ext>
              </a:extLst>
            </p:cNvPr>
            <p:cNvSpPr txBox="1"/>
            <p:nvPr/>
          </p:nvSpPr>
          <p:spPr>
            <a:xfrm>
              <a:off x="14648782" y="7222486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ユーザー</a:t>
              </a:r>
            </a:p>
          </p:txBody>
        </p:sp>
      </p:grp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1EFAB432-0EAC-6A92-7303-A96BC00B0679}"/>
              </a:ext>
            </a:extLst>
          </p:cNvPr>
          <p:cNvCxnSpPr>
            <a:cxnSpLocks/>
          </p:cNvCxnSpPr>
          <p:nvPr/>
        </p:nvCxnSpPr>
        <p:spPr>
          <a:xfrm>
            <a:off x="11264042" y="636861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矢印コネクタ 114">
            <a:extLst>
              <a:ext uri="{FF2B5EF4-FFF2-40B4-BE49-F238E27FC236}">
                <a16:creationId xmlns:a16="http://schemas.microsoft.com/office/drawing/2014/main" id="{FA6EE4C0-4C24-2A8A-1F22-0E7B7F3FD176}"/>
              </a:ext>
            </a:extLst>
          </p:cNvPr>
          <p:cNvCxnSpPr>
            <a:cxnSpLocks/>
          </p:cNvCxnSpPr>
          <p:nvPr/>
        </p:nvCxnSpPr>
        <p:spPr>
          <a:xfrm>
            <a:off x="14765669" y="6852919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グラフィックス 118" descr="クリップ 単色塗りつぶし">
            <a:extLst>
              <a:ext uri="{FF2B5EF4-FFF2-40B4-BE49-F238E27FC236}">
                <a16:creationId xmlns:a16="http://schemas.microsoft.com/office/drawing/2014/main" id="{8D16AACD-D027-F886-3F15-1517E712B598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5302474" y="6571589"/>
            <a:ext cx="624053" cy="624053"/>
          </a:xfrm>
          <a:prstGeom prst="rect">
            <a:avLst/>
          </a:prstGeom>
        </p:spPr>
      </p:pic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919A9735-2C25-9C9B-DE6B-077217B99BC3}"/>
              </a:ext>
            </a:extLst>
          </p:cNvPr>
          <p:cNvCxnSpPr>
            <a:cxnSpLocks/>
          </p:cNvCxnSpPr>
          <p:nvPr/>
        </p:nvCxnSpPr>
        <p:spPr>
          <a:xfrm>
            <a:off x="11264042" y="6915230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E4D6B706-B2C4-3BC5-1A29-B811A5560EE5}"/>
              </a:ext>
            </a:extLst>
          </p:cNvPr>
          <p:cNvCxnSpPr>
            <a:cxnSpLocks/>
          </p:cNvCxnSpPr>
          <p:nvPr/>
        </p:nvCxnSpPr>
        <p:spPr>
          <a:xfrm>
            <a:off x="14828357" y="634239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グラフィックス 126" descr="コメント: ハート 単色塗りつぶし">
            <a:extLst>
              <a:ext uri="{FF2B5EF4-FFF2-40B4-BE49-F238E27FC236}">
                <a16:creationId xmlns:a16="http://schemas.microsoft.com/office/drawing/2014/main" id="{8766CA23-A024-E27E-5DF7-177685384DF5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1654253" y="5848371"/>
            <a:ext cx="821125" cy="821125"/>
          </a:xfrm>
          <a:prstGeom prst="rect">
            <a:avLst/>
          </a:prstGeom>
        </p:spPr>
      </p:pic>
      <p:pic>
        <p:nvPicPr>
          <p:cNvPr id="128" name="グラフィックス 127" descr="コメント: ハート 単色塗りつぶし">
            <a:extLst>
              <a:ext uri="{FF2B5EF4-FFF2-40B4-BE49-F238E27FC236}">
                <a16:creationId xmlns:a16="http://schemas.microsoft.com/office/drawing/2014/main" id="{15906DB7-B281-B083-B171-51F885A82EDC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5172987" y="5846375"/>
            <a:ext cx="821125" cy="821125"/>
          </a:xfrm>
          <a:prstGeom prst="rect">
            <a:avLst/>
          </a:prstGeom>
        </p:spPr>
      </p:pic>
      <p:cxnSp>
        <p:nvCxnSpPr>
          <p:cNvPr id="129" name="直線矢印コネクタ 128">
            <a:extLst>
              <a:ext uri="{FF2B5EF4-FFF2-40B4-BE49-F238E27FC236}">
                <a16:creationId xmlns:a16="http://schemas.microsoft.com/office/drawing/2014/main" id="{E867FAF8-C1CA-6E72-01AC-3E81273A1F91}"/>
              </a:ext>
            </a:extLst>
          </p:cNvPr>
          <p:cNvCxnSpPr>
            <a:cxnSpLocks/>
            <a:endCxn id="85" idx="2"/>
          </p:cNvCxnSpPr>
          <p:nvPr/>
        </p:nvCxnSpPr>
        <p:spPr>
          <a:xfrm flipV="1">
            <a:off x="2154299" y="4764715"/>
            <a:ext cx="0" cy="441466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矢印コネクタ 131">
            <a:extLst>
              <a:ext uri="{FF2B5EF4-FFF2-40B4-BE49-F238E27FC236}">
                <a16:creationId xmlns:a16="http://schemas.microsoft.com/office/drawing/2014/main" id="{1742A8C9-9A3E-6FD3-1A96-0D9848E83615}"/>
              </a:ext>
            </a:extLst>
          </p:cNvPr>
          <p:cNvCxnSpPr>
            <a:cxnSpLocks/>
          </p:cNvCxnSpPr>
          <p:nvPr/>
        </p:nvCxnSpPr>
        <p:spPr>
          <a:xfrm flipV="1">
            <a:off x="2133600" y="9179375"/>
            <a:ext cx="15316210" cy="272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482ADA5C-028C-C80E-BEE8-630D0926567B}"/>
              </a:ext>
            </a:extLst>
          </p:cNvPr>
          <p:cNvCxnSpPr>
            <a:cxnSpLocks/>
          </p:cNvCxnSpPr>
          <p:nvPr/>
        </p:nvCxnSpPr>
        <p:spPr>
          <a:xfrm flipH="1">
            <a:off x="17429111" y="7749801"/>
            <a:ext cx="20699" cy="144313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4" name="グラフィックス 143" descr="クリップ 単色塗りつぶし">
            <a:extLst>
              <a:ext uri="{FF2B5EF4-FFF2-40B4-BE49-F238E27FC236}">
                <a16:creationId xmlns:a16="http://schemas.microsoft.com/office/drawing/2014/main" id="{468D9143-F508-A29A-58A7-8E35FDDCFDDD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1814750" y="6665934"/>
            <a:ext cx="624053" cy="624053"/>
          </a:xfrm>
          <a:prstGeom prst="rect">
            <a:avLst/>
          </a:prstGeom>
        </p:spPr>
      </p:pic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3C0963C3-BF8F-6863-5EAB-C347A81FC345}"/>
              </a:ext>
            </a:extLst>
          </p:cNvPr>
          <p:cNvSpPr/>
          <p:nvPr/>
        </p:nvSpPr>
        <p:spPr>
          <a:xfrm>
            <a:off x="443701" y="5483029"/>
            <a:ext cx="918672" cy="3546669"/>
          </a:xfrm>
          <a:prstGeom prst="roundRect">
            <a:avLst/>
          </a:prstGeom>
          <a:solidFill>
            <a:srgbClr val="FFE8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データ分析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表示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B1F0A999-D676-F98A-0F2E-DB31802B23DD}"/>
              </a:ext>
            </a:extLst>
          </p:cNvPr>
          <p:cNvGrpSpPr/>
          <p:nvPr/>
        </p:nvGrpSpPr>
        <p:grpSpPr>
          <a:xfrm>
            <a:off x="5736610" y="5665364"/>
            <a:ext cx="2492990" cy="2068936"/>
            <a:chOff x="5071589" y="5451656"/>
            <a:chExt cx="2492990" cy="2068936"/>
          </a:xfrm>
        </p:grpSpPr>
        <p:pic>
          <p:nvPicPr>
            <p:cNvPr id="14" name="グラフィックス 13" descr="ダンス 枠線">
              <a:extLst>
                <a:ext uri="{FF2B5EF4-FFF2-40B4-BE49-F238E27FC236}">
                  <a16:creationId xmlns:a16="http://schemas.microsoft.com/office/drawing/2014/main" id="{5337A111-EADE-09AD-5F6A-ABB0A52DA3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366987" y="5451656"/>
              <a:ext cx="1859384" cy="1859384"/>
            </a:xfrm>
            <a:prstGeom prst="rect">
              <a:avLst/>
            </a:prstGeom>
          </p:spPr>
        </p:pic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0E9D8035-E70D-F131-A76A-E393B6504B5B}"/>
                </a:ext>
              </a:extLst>
            </p:cNvPr>
            <p:cNvSpPr txBox="1"/>
            <p:nvPr/>
          </p:nvSpPr>
          <p:spPr>
            <a:xfrm>
              <a:off x="5071589" y="7120482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マッチングシステム</a:t>
              </a:r>
            </a:p>
          </p:txBody>
        </p:sp>
      </p:grp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A44E382E-FB19-69DF-CA12-800455406E3E}"/>
              </a:ext>
            </a:extLst>
          </p:cNvPr>
          <p:cNvCxnSpPr>
            <a:cxnSpLocks/>
          </p:cNvCxnSpPr>
          <p:nvPr/>
        </p:nvCxnSpPr>
        <p:spPr>
          <a:xfrm>
            <a:off x="4541094" y="6349731"/>
            <a:ext cx="125035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グラフィックス 49" descr="アドレス帳 単色塗りつぶし">
            <a:extLst>
              <a:ext uri="{FF2B5EF4-FFF2-40B4-BE49-F238E27FC236}">
                <a16:creationId xmlns:a16="http://schemas.microsoft.com/office/drawing/2014/main" id="{33873C44-15C1-6698-10A2-E24E2A9AE14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4723203" y="5945274"/>
            <a:ext cx="821125" cy="821125"/>
          </a:xfrm>
          <a:prstGeom prst="rect">
            <a:avLst/>
          </a:prstGeom>
        </p:spPr>
      </p:pic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DDAE9171-9EBD-BEB5-9AC6-F084E6188E73}"/>
              </a:ext>
            </a:extLst>
          </p:cNvPr>
          <p:cNvGrpSpPr/>
          <p:nvPr/>
        </p:nvGrpSpPr>
        <p:grpSpPr>
          <a:xfrm>
            <a:off x="13401661" y="1988751"/>
            <a:ext cx="4552419" cy="2812676"/>
            <a:chOff x="13447104" y="1589979"/>
            <a:chExt cx="4552419" cy="2812676"/>
          </a:xfrm>
        </p:grpSpPr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ED9187B3-D2E5-B3A8-2BB1-263DDA6CB94C}"/>
                </a:ext>
              </a:extLst>
            </p:cNvPr>
            <p:cNvSpPr/>
            <p:nvPr/>
          </p:nvSpPr>
          <p:spPr>
            <a:xfrm>
              <a:off x="13447104" y="1589979"/>
              <a:ext cx="4552419" cy="281267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テキスト ボックス 86">
              <a:extLst>
                <a:ext uri="{FF2B5EF4-FFF2-40B4-BE49-F238E27FC236}">
                  <a16:creationId xmlns:a16="http://schemas.microsoft.com/office/drawing/2014/main" id="{8B37BCC3-E2AA-7B23-B805-3352D7138DC4}"/>
                </a:ext>
              </a:extLst>
            </p:cNvPr>
            <p:cNvSpPr txBox="1"/>
            <p:nvPr/>
          </p:nvSpPr>
          <p:spPr>
            <a:xfrm>
              <a:off x="14413095" y="1748998"/>
              <a:ext cx="2031325" cy="2585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：音声データ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：文字データ</a:t>
              </a: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：ラベル</a:t>
              </a:r>
              <a:r>
                <a:rPr kumimoji="1" lang="en-US" altLang="ja-JP" b="1" dirty="0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/</a:t>
              </a:r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スコア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：マッチング結果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：プロフィール</a:t>
              </a:r>
            </a:p>
          </p:txBody>
        </p:sp>
        <p:pic>
          <p:nvPicPr>
            <p:cNvPr id="139" name="グラフィックス 138" descr="音符 単色塗りつぶし">
              <a:extLst>
                <a:ext uri="{FF2B5EF4-FFF2-40B4-BE49-F238E27FC236}">
                  <a16:creationId xmlns:a16="http://schemas.microsoft.com/office/drawing/2014/main" id="{E063E242-DAE0-A90D-3849-306A68862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3782048" y="1639283"/>
              <a:ext cx="532417" cy="532417"/>
            </a:xfrm>
            <a:prstGeom prst="rect">
              <a:avLst/>
            </a:prstGeom>
          </p:spPr>
        </p:pic>
        <p:pic>
          <p:nvPicPr>
            <p:cNvPr id="141" name="グラフィックス 140" descr="レシート 単色塗りつぶし">
              <a:extLst>
                <a:ext uri="{FF2B5EF4-FFF2-40B4-BE49-F238E27FC236}">
                  <a16:creationId xmlns:a16="http://schemas.microsoft.com/office/drawing/2014/main" id="{B2CE6384-A4A7-7424-2BA9-7DC661C539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3782048" y="2171700"/>
              <a:ext cx="532416" cy="532416"/>
            </a:xfrm>
            <a:prstGeom prst="rect">
              <a:avLst/>
            </a:prstGeom>
          </p:spPr>
        </p:pic>
        <p:pic>
          <p:nvPicPr>
            <p:cNvPr id="142" name="グラフィックス 141" descr="コメント: ハート 単色塗りつぶし">
              <a:extLst>
                <a:ext uri="{FF2B5EF4-FFF2-40B4-BE49-F238E27FC236}">
                  <a16:creationId xmlns:a16="http://schemas.microsoft.com/office/drawing/2014/main" id="{59090B78-A23D-F199-5C34-E36973E44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3735337" y="3313465"/>
              <a:ext cx="610835" cy="610835"/>
            </a:xfrm>
            <a:prstGeom prst="rect">
              <a:avLst/>
            </a:prstGeom>
          </p:spPr>
        </p:pic>
        <p:pic>
          <p:nvPicPr>
            <p:cNvPr id="145" name="グラフィックス 144" descr="クリップ 単色塗りつぶし">
              <a:extLst>
                <a:ext uri="{FF2B5EF4-FFF2-40B4-BE49-F238E27FC236}">
                  <a16:creationId xmlns:a16="http://schemas.microsoft.com/office/drawing/2014/main" id="{D594FF29-17A2-0317-3BC0-E7349055C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3746915" y="3790100"/>
              <a:ext cx="591400" cy="591400"/>
            </a:xfrm>
            <a:prstGeom prst="rect">
              <a:avLst/>
            </a:prstGeom>
          </p:spPr>
        </p:pic>
        <p:pic>
          <p:nvPicPr>
            <p:cNvPr id="52" name="グラフィックス 51" descr="アドレス帳 単色塗りつぶし">
              <a:extLst>
                <a:ext uri="{FF2B5EF4-FFF2-40B4-BE49-F238E27FC236}">
                  <a16:creationId xmlns:a16="http://schemas.microsoft.com/office/drawing/2014/main" id="{F2584802-E253-112B-F09B-452BE3F6BF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rcRect/>
            <a:stretch/>
          </p:blipFill>
          <p:spPr>
            <a:xfrm>
              <a:off x="13709214" y="2702049"/>
              <a:ext cx="689254" cy="689254"/>
            </a:xfrm>
            <a:prstGeom prst="rect">
              <a:avLst/>
            </a:prstGeom>
          </p:spPr>
        </p:pic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3E519E46-DC0C-2661-6EB3-BCB93C8CB9BF}"/>
              </a:ext>
            </a:extLst>
          </p:cNvPr>
          <p:cNvCxnSpPr>
            <a:cxnSpLocks/>
          </p:cNvCxnSpPr>
          <p:nvPr/>
        </p:nvCxnSpPr>
        <p:spPr>
          <a:xfrm flipV="1">
            <a:off x="10508942" y="7642562"/>
            <a:ext cx="0" cy="6096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F8127752-690E-CE4C-4043-8C1212A0956B}"/>
              </a:ext>
            </a:extLst>
          </p:cNvPr>
          <p:cNvCxnSpPr>
            <a:cxnSpLocks/>
          </p:cNvCxnSpPr>
          <p:nvPr/>
        </p:nvCxnSpPr>
        <p:spPr>
          <a:xfrm>
            <a:off x="3579546" y="8231256"/>
            <a:ext cx="6915365" cy="845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BB24FFE4-414D-F16B-FCA9-20913FA04BF0}"/>
              </a:ext>
            </a:extLst>
          </p:cNvPr>
          <p:cNvCxnSpPr>
            <a:cxnSpLocks/>
            <a:endCxn id="100" idx="2"/>
          </p:cNvCxnSpPr>
          <p:nvPr/>
        </p:nvCxnSpPr>
        <p:spPr>
          <a:xfrm flipV="1">
            <a:off x="3599297" y="7736240"/>
            <a:ext cx="1" cy="50347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グラフィックス 67" descr="アドレス帳 単色塗りつぶし">
            <a:extLst>
              <a:ext uri="{FF2B5EF4-FFF2-40B4-BE49-F238E27FC236}">
                <a16:creationId xmlns:a16="http://schemas.microsoft.com/office/drawing/2014/main" id="{85FC96DD-68F1-8027-077F-90D0F91CA72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6499318" y="7796687"/>
            <a:ext cx="821125" cy="821125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D1C879E5-5EB4-C5A4-6171-B6424ADC1EB8}"/>
              </a:ext>
            </a:extLst>
          </p:cNvPr>
          <p:cNvCxnSpPr>
            <a:cxnSpLocks/>
          </p:cNvCxnSpPr>
          <p:nvPr/>
        </p:nvCxnSpPr>
        <p:spPr>
          <a:xfrm>
            <a:off x="3697647" y="3984468"/>
            <a:ext cx="0" cy="19411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C68C08D0-04A1-8B75-86C9-3645B594535E}"/>
              </a:ext>
            </a:extLst>
          </p:cNvPr>
          <p:cNvCxnSpPr>
            <a:cxnSpLocks/>
          </p:cNvCxnSpPr>
          <p:nvPr/>
        </p:nvCxnSpPr>
        <p:spPr>
          <a:xfrm>
            <a:off x="3697647" y="4000500"/>
            <a:ext cx="1959034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グラフィックス 96" descr="レシート 単色塗りつぶし">
            <a:extLst>
              <a:ext uri="{FF2B5EF4-FFF2-40B4-BE49-F238E27FC236}">
                <a16:creationId xmlns:a16="http://schemas.microsoft.com/office/drawing/2014/main" id="{A7D50072-8D0D-195B-5995-DC90FA915F4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48339" y="4754339"/>
            <a:ext cx="654366" cy="654366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201AC9B-10CA-E39A-7DA7-079DD844C505}"/>
              </a:ext>
            </a:extLst>
          </p:cNvPr>
          <p:cNvSpPr txBox="1"/>
          <p:nvPr/>
        </p:nvSpPr>
        <p:spPr>
          <a:xfrm>
            <a:off x="7852620" y="190005"/>
            <a:ext cx="25827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200" b="1" u="sng">
                <a:solidFill>
                  <a:schemeClr val="accent6">
                    <a:lumMod val="75000"/>
                  </a:schemeClr>
                </a:solidFill>
              </a:rPr>
              <a:t>サービス全体</a:t>
            </a:r>
          </a:p>
        </p:txBody>
      </p:sp>
    </p:spTree>
    <p:extLst>
      <p:ext uri="{BB962C8B-B14F-4D97-AF65-F5344CB8AC3E}">
        <p14:creationId xmlns:p14="http://schemas.microsoft.com/office/powerpoint/2010/main" val="2704687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F3E6B-1752-7295-61E0-0A15D878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C97A41C-2711-DA42-9872-6E0C527CAA1A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2650559-3C96-4211-D9D1-D51ED4194025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C1CF6882-B980-6C2A-4461-FF1DFD3ACA1C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5C579079-CE1F-7F84-64D3-EE719B63F7D8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C152D41-B2DB-9F7F-57A7-9E90C833C14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3054A466-42E6-1665-EFC5-4E191F1317E3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193253B5-0D3F-214C-95C1-83C5C6ED4D4A}"/>
              </a:ext>
            </a:extLst>
          </p:cNvPr>
          <p:cNvSpPr txBox="1"/>
          <p:nvPr/>
        </p:nvSpPr>
        <p:spPr>
          <a:xfrm>
            <a:off x="2949343" y="1371153"/>
            <a:ext cx="1430995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ローカル環境でのサービスに必要な技術要素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3865451E-C0BF-8FDB-54BE-3DB87AE7C453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01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607CE263-638C-CC35-02B4-FB0A5F3577B6}"/>
              </a:ext>
            </a:extLst>
          </p:cNvPr>
          <p:cNvGrpSpPr/>
          <p:nvPr/>
        </p:nvGrpSpPr>
        <p:grpSpPr>
          <a:xfrm>
            <a:off x="4897196" y="2683594"/>
            <a:ext cx="1855186" cy="2078502"/>
            <a:chOff x="7213805" y="3006543"/>
            <a:chExt cx="1855186" cy="2078502"/>
          </a:xfrm>
        </p:grpSpPr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694B75FC-A730-FBE2-591D-61251CB55A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3805" y="3006543"/>
              <a:ext cx="1855186" cy="1498063"/>
            </a:xfrm>
            <a:custGeom>
              <a:avLst/>
              <a:gdLst/>
              <a:ahLst/>
              <a:cxnLst/>
              <a:rect l="l" t="t" r="r" b="b"/>
              <a:pathLst>
                <a:path w="1855186" h="1498063">
                  <a:moveTo>
                    <a:pt x="0" y="0"/>
                  </a:moveTo>
                  <a:lnTo>
                    <a:pt x="1855187" y="0"/>
                  </a:lnTo>
                  <a:lnTo>
                    <a:pt x="1855187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ACB0C9B5-7851-67EB-CFA7-00576CCE5156}"/>
                </a:ext>
              </a:extLst>
            </p:cNvPr>
            <p:cNvSpPr txBox="1"/>
            <p:nvPr/>
          </p:nvSpPr>
          <p:spPr>
            <a:xfrm>
              <a:off x="7723275" y="4623380"/>
              <a:ext cx="8451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GCS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6D7701FE-37BE-6BB4-362A-4E091A5841EE}"/>
              </a:ext>
            </a:extLst>
          </p:cNvPr>
          <p:cNvGrpSpPr/>
          <p:nvPr/>
        </p:nvGrpSpPr>
        <p:grpSpPr>
          <a:xfrm>
            <a:off x="9003837" y="2706732"/>
            <a:ext cx="2529860" cy="2055363"/>
            <a:chOff x="11486205" y="3006543"/>
            <a:chExt cx="2529860" cy="2055363"/>
          </a:xfrm>
        </p:grpSpPr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355DEF15-3580-5689-1EE7-B3DBF0F95E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90296" y="3006543"/>
              <a:ext cx="1521679" cy="1480179"/>
            </a:xfrm>
            <a:custGeom>
              <a:avLst/>
              <a:gdLst/>
              <a:ahLst/>
              <a:cxnLst/>
              <a:rect l="l" t="t" r="r" b="b"/>
              <a:pathLst>
                <a:path w="1521679" h="1480179">
                  <a:moveTo>
                    <a:pt x="0" y="0"/>
                  </a:moveTo>
                  <a:lnTo>
                    <a:pt x="1521679" y="0"/>
                  </a:lnTo>
                  <a:lnTo>
                    <a:pt x="1521679" y="1480179"/>
                  </a:lnTo>
                  <a:lnTo>
                    <a:pt x="0" y="1480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AD829664-1A3F-5860-D416-715EFA4670F4}"/>
                </a:ext>
              </a:extLst>
            </p:cNvPr>
            <p:cNvSpPr txBox="1"/>
            <p:nvPr/>
          </p:nvSpPr>
          <p:spPr>
            <a:xfrm>
              <a:off x="11486205" y="4600241"/>
              <a:ext cx="25298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Speech-to-Text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39EDB0A-7932-EF3C-242A-4B9CDC4D056D}"/>
              </a:ext>
            </a:extLst>
          </p:cNvPr>
          <p:cNvGrpSpPr/>
          <p:nvPr/>
        </p:nvGrpSpPr>
        <p:grpSpPr>
          <a:xfrm>
            <a:off x="13260890" y="5960771"/>
            <a:ext cx="1339002" cy="1775469"/>
            <a:chOff x="2256509" y="6734974"/>
            <a:chExt cx="1339002" cy="1775469"/>
          </a:xfrm>
        </p:grpSpPr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BBC59C3F-B852-EEC1-2029-BE04012DCF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56509" y="6734974"/>
              <a:ext cx="1219860" cy="1247938"/>
            </a:xfrm>
            <a:custGeom>
              <a:avLst/>
              <a:gdLst/>
              <a:ahLst/>
              <a:cxnLst/>
              <a:rect l="l" t="t" r="r" b="b"/>
              <a:pathLst>
                <a:path w="1341162" h="1372032">
                  <a:moveTo>
                    <a:pt x="0" y="0"/>
                  </a:moveTo>
                  <a:lnTo>
                    <a:pt x="1341162" y="0"/>
                  </a:lnTo>
                  <a:lnTo>
                    <a:pt x="1341162" y="1372032"/>
                  </a:lnTo>
                  <a:lnTo>
                    <a:pt x="0" y="13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460540FA-4262-21B9-4F49-E1816DD03D52}"/>
                </a:ext>
              </a:extLst>
            </p:cNvPr>
            <p:cNvSpPr txBox="1"/>
            <p:nvPr/>
          </p:nvSpPr>
          <p:spPr>
            <a:xfrm>
              <a:off x="2344848" y="8048778"/>
              <a:ext cx="12506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Django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0D217F37-EAC5-BBE8-0223-6623E0298CA4}"/>
              </a:ext>
            </a:extLst>
          </p:cNvPr>
          <p:cNvGrpSpPr/>
          <p:nvPr/>
        </p:nvGrpSpPr>
        <p:grpSpPr>
          <a:xfrm>
            <a:off x="9747002" y="5826457"/>
            <a:ext cx="1426106" cy="1909783"/>
            <a:chOff x="7173083" y="6753785"/>
            <a:chExt cx="1426106" cy="1909783"/>
          </a:xfrm>
        </p:grpSpPr>
        <p:pic>
          <p:nvPicPr>
            <p:cNvPr id="21" name="グラフィックス 20" descr="データベース 枠線">
              <a:extLst>
                <a:ext uri="{FF2B5EF4-FFF2-40B4-BE49-F238E27FC236}">
                  <a16:creationId xmlns:a16="http://schemas.microsoft.com/office/drawing/2014/main" id="{8AC93F50-8961-8120-26AB-FFE7087B5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36945909-1DA5-0444-247C-A7F02C29A114}"/>
                </a:ext>
              </a:extLst>
            </p:cNvPr>
            <p:cNvSpPr txBox="1"/>
            <p:nvPr/>
          </p:nvSpPr>
          <p:spPr>
            <a:xfrm>
              <a:off x="7284849" y="8201903"/>
              <a:ext cx="12025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CA82160A-03E4-64FE-26B8-91D528F26D4B}"/>
              </a:ext>
            </a:extLst>
          </p:cNvPr>
          <p:cNvCxnSpPr>
            <a:cxnSpLocks/>
          </p:cNvCxnSpPr>
          <p:nvPr/>
        </p:nvCxnSpPr>
        <p:spPr>
          <a:xfrm>
            <a:off x="2898749" y="3722418"/>
            <a:ext cx="16764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グラフィックス 48" descr="音符 単色塗りつぶし">
            <a:extLst>
              <a:ext uri="{FF2B5EF4-FFF2-40B4-BE49-F238E27FC236}">
                <a16:creationId xmlns:a16="http://schemas.microsoft.com/office/drawing/2014/main" id="{2276834D-121F-5159-C495-F91E904DFA9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92136" y="3304383"/>
            <a:ext cx="634281" cy="634281"/>
          </a:xfrm>
          <a:prstGeom prst="rect">
            <a:avLst/>
          </a:prstGeom>
        </p:spPr>
      </p:pic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27CAC2F2-E815-34A3-E307-706626DDBE11}"/>
              </a:ext>
            </a:extLst>
          </p:cNvPr>
          <p:cNvCxnSpPr>
            <a:cxnSpLocks/>
          </p:cNvCxnSpPr>
          <p:nvPr/>
        </p:nvCxnSpPr>
        <p:spPr>
          <a:xfrm>
            <a:off x="7277690" y="3480156"/>
            <a:ext cx="16764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グラフィックス 54" descr="音符 単色塗りつぶし">
            <a:extLst>
              <a:ext uri="{FF2B5EF4-FFF2-40B4-BE49-F238E27FC236}">
                <a16:creationId xmlns:a16="http://schemas.microsoft.com/office/drawing/2014/main" id="{359DC753-A8A1-1727-65AA-644041A4A75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71077" y="3062121"/>
            <a:ext cx="634281" cy="634281"/>
          </a:xfrm>
          <a:prstGeom prst="rect">
            <a:avLst/>
          </a:prstGeom>
        </p:spPr>
      </p:pic>
      <p:cxnSp>
        <p:nvCxnSpPr>
          <p:cNvPr id="70" name="カギ線コネクタ 69">
            <a:extLst>
              <a:ext uri="{FF2B5EF4-FFF2-40B4-BE49-F238E27FC236}">
                <a16:creationId xmlns:a16="http://schemas.microsoft.com/office/drawing/2014/main" id="{90CE65D2-1CDF-C5BF-AA14-B87C9BA8B0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029607" y="3282988"/>
            <a:ext cx="941426" cy="712664"/>
          </a:xfrm>
          <a:prstGeom prst="bentConnector3">
            <a:avLst>
              <a:gd name="adj1" fmla="val 12"/>
            </a:avLst>
          </a:prstGeom>
          <a:ln w="57150">
            <a:solidFill>
              <a:schemeClr val="bg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949F46AB-55B9-C78A-2E05-2E274D3E2963}"/>
              </a:ext>
            </a:extLst>
          </p:cNvPr>
          <p:cNvCxnSpPr>
            <a:cxnSpLocks/>
          </p:cNvCxnSpPr>
          <p:nvPr/>
        </p:nvCxnSpPr>
        <p:spPr>
          <a:xfrm>
            <a:off x="11151209" y="3282987"/>
            <a:ext cx="8382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グラフィックス 80" descr="レシート 単色塗りつぶし">
            <a:extLst>
              <a:ext uri="{FF2B5EF4-FFF2-40B4-BE49-F238E27FC236}">
                <a16:creationId xmlns:a16="http://schemas.microsoft.com/office/drawing/2014/main" id="{D7906DE8-65CA-DC7C-7532-5875338794D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971033" y="3062121"/>
            <a:ext cx="1005403" cy="1005403"/>
          </a:xfrm>
          <a:prstGeom prst="rect">
            <a:avLst/>
          </a:prstGeom>
        </p:spPr>
      </p:pic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34ACD628-D378-79E8-5CB8-2F58EB0FA61B}"/>
              </a:ext>
            </a:extLst>
          </p:cNvPr>
          <p:cNvGrpSpPr/>
          <p:nvPr/>
        </p:nvGrpSpPr>
        <p:grpSpPr>
          <a:xfrm>
            <a:off x="1371600" y="2676668"/>
            <a:ext cx="1565399" cy="2088047"/>
            <a:chOff x="2175483" y="3006543"/>
            <a:chExt cx="1565399" cy="2088047"/>
          </a:xfrm>
        </p:grpSpPr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488BA2E7-60A4-A452-6E6F-2B0CE720FA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5483" y="3006543"/>
              <a:ext cx="1565399" cy="1525552"/>
            </a:xfrm>
            <a:custGeom>
              <a:avLst/>
              <a:gdLst/>
              <a:ahLst/>
              <a:cxnLst/>
              <a:rect l="l" t="t" r="r" b="b"/>
              <a:pathLst>
                <a:path w="1565399" h="1525552">
                  <a:moveTo>
                    <a:pt x="0" y="0"/>
                  </a:moveTo>
                  <a:lnTo>
                    <a:pt x="1565399" y="0"/>
                  </a:lnTo>
                  <a:lnTo>
                    <a:pt x="1565399" y="1525552"/>
                  </a:lnTo>
                  <a:lnTo>
                    <a:pt x="0" y="152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B5B3901C-1A07-5D6F-E117-11808EDAAB69}"/>
                </a:ext>
              </a:extLst>
            </p:cNvPr>
            <p:cNvSpPr txBox="1"/>
            <p:nvPr/>
          </p:nvSpPr>
          <p:spPr>
            <a:xfrm>
              <a:off x="2274341" y="4632925"/>
              <a:ext cx="13676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 err="1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pyaudio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18486881-168D-6ACA-F8C9-39FDE6AFC9BE}"/>
              </a:ext>
            </a:extLst>
          </p:cNvPr>
          <p:cNvGrpSpPr/>
          <p:nvPr/>
        </p:nvGrpSpPr>
        <p:grpSpPr>
          <a:xfrm>
            <a:off x="2451387" y="5716017"/>
            <a:ext cx="2295821" cy="2020223"/>
            <a:chOff x="2637565" y="6122140"/>
            <a:chExt cx="2295821" cy="2020223"/>
          </a:xfrm>
        </p:grpSpPr>
        <p:sp>
          <p:nvSpPr>
            <p:cNvPr id="99" name="Freeform 7">
              <a:extLst>
                <a:ext uri="{FF2B5EF4-FFF2-40B4-BE49-F238E27FC236}">
                  <a16:creationId xmlns:a16="http://schemas.microsoft.com/office/drawing/2014/main" id="{FC47B5B6-AD52-612A-0489-3F5C283FC0A1}"/>
                </a:ext>
              </a:extLst>
            </p:cNvPr>
            <p:cNvSpPr/>
            <p:nvPr/>
          </p:nvSpPr>
          <p:spPr>
            <a:xfrm>
              <a:off x="2874802" y="6122140"/>
              <a:ext cx="1821353" cy="1498063"/>
            </a:xfrm>
            <a:custGeom>
              <a:avLst/>
              <a:gdLst/>
              <a:ahLst/>
              <a:cxnLst/>
              <a:rect l="l" t="t" r="r" b="b"/>
              <a:pathLst>
                <a:path w="1821353" h="1498063">
                  <a:moveTo>
                    <a:pt x="0" y="0"/>
                  </a:moveTo>
                  <a:lnTo>
                    <a:pt x="1821353" y="0"/>
                  </a:lnTo>
                  <a:lnTo>
                    <a:pt x="1821353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DA1917F0-0199-94D6-8905-47AAB7AF5D87}"/>
                </a:ext>
              </a:extLst>
            </p:cNvPr>
            <p:cNvSpPr txBox="1"/>
            <p:nvPr/>
          </p:nvSpPr>
          <p:spPr>
            <a:xfrm>
              <a:off x="2637565" y="7773031"/>
              <a:ext cx="22958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Zero-shot-learning</a:t>
              </a:r>
            </a:p>
          </p:txBody>
        </p:sp>
      </p:grp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872326B5-4A93-3D4B-FFCD-642F43D696F0}"/>
              </a:ext>
            </a:extLst>
          </p:cNvPr>
          <p:cNvCxnSpPr>
            <a:cxnSpLocks/>
          </p:cNvCxnSpPr>
          <p:nvPr/>
        </p:nvCxnSpPr>
        <p:spPr>
          <a:xfrm>
            <a:off x="8043199" y="6349731"/>
            <a:ext cx="1815569" cy="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" name="グラフィックス 106" descr="コメント: ハート 単色塗りつぶし">
            <a:extLst>
              <a:ext uri="{FF2B5EF4-FFF2-40B4-BE49-F238E27FC236}">
                <a16:creationId xmlns:a16="http://schemas.microsoft.com/office/drawing/2014/main" id="{6F4A2ED8-6626-1738-E73E-74995FEF28A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540999" y="5829300"/>
            <a:ext cx="821125" cy="821125"/>
          </a:xfrm>
          <a:prstGeom prst="rect">
            <a:avLst/>
          </a:prstGeom>
        </p:spPr>
      </p:pic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CF124466-3981-0697-0712-4C0DBBCE1272}"/>
              </a:ext>
            </a:extLst>
          </p:cNvPr>
          <p:cNvGrpSpPr/>
          <p:nvPr/>
        </p:nvGrpSpPr>
        <p:grpSpPr>
          <a:xfrm>
            <a:off x="16611621" y="5841969"/>
            <a:ext cx="1676379" cy="1894271"/>
            <a:chOff x="14518479" y="5789880"/>
            <a:chExt cx="1676379" cy="1894271"/>
          </a:xfrm>
        </p:grpSpPr>
        <p:pic>
          <p:nvPicPr>
            <p:cNvPr id="110" name="グラフィックス 109" descr="男性のプロフィール 枠線">
              <a:extLst>
                <a:ext uri="{FF2B5EF4-FFF2-40B4-BE49-F238E27FC236}">
                  <a16:creationId xmlns:a16="http://schemas.microsoft.com/office/drawing/2014/main" id="{264EF05C-7A41-1D6D-4695-D3FE4A8A5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14518479" y="5789880"/>
              <a:ext cx="1676379" cy="1676379"/>
            </a:xfrm>
            <a:prstGeom prst="rect">
              <a:avLst/>
            </a:prstGeom>
          </p:spPr>
        </p:pic>
        <p:sp>
          <p:nvSpPr>
            <p:cNvPr id="111" name="テキスト ボックス 110">
              <a:extLst>
                <a:ext uri="{FF2B5EF4-FFF2-40B4-BE49-F238E27FC236}">
                  <a16:creationId xmlns:a16="http://schemas.microsoft.com/office/drawing/2014/main" id="{D41863EC-1D28-2D82-8499-3C46BE14A700}"/>
                </a:ext>
              </a:extLst>
            </p:cNvPr>
            <p:cNvSpPr txBox="1"/>
            <p:nvPr/>
          </p:nvSpPr>
          <p:spPr>
            <a:xfrm>
              <a:off x="14648782" y="7222486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ユーザー</a:t>
              </a:r>
            </a:p>
          </p:txBody>
        </p:sp>
      </p:grp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51B0E911-596D-7B10-ECFD-54F529C1453A}"/>
              </a:ext>
            </a:extLst>
          </p:cNvPr>
          <p:cNvCxnSpPr>
            <a:cxnSpLocks/>
          </p:cNvCxnSpPr>
          <p:nvPr/>
        </p:nvCxnSpPr>
        <p:spPr>
          <a:xfrm>
            <a:off x="11264042" y="6368616"/>
            <a:ext cx="1554798" cy="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矢印コネクタ 114">
            <a:extLst>
              <a:ext uri="{FF2B5EF4-FFF2-40B4-BE49-F238E27FC236}">
                <a16:creationId xmlns:a16="http://schemas.microsoft.com/office/drawing/2014/main" id="{840A8B15-256A-B735-C51B-DE57CB52BD7C}"/>
              </a:ext>
            </a:extLst>
          </p:cNvPr>
          <p:cNvCxnSpPr>
            <a:cxnSpLocks/>
          </p:cNvCxnSpPr>
          <p:nvPr/>
        </p:nvCxnSpPr>
        <p:spPr>
          <a:xfrm>
            <a:off x="14765669" y="6852919"/>
            <a:ext cx="1554798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3053CC80-221C-5E4E-C75E-1BF6E13A6728}"/>
              </a:ext>
            </a:extLst>
          </p:cNvPr>
          <p:cNvCxnSpPr>
            <a:cxnSpLocks/>
          </p:cNvCxnSpPr>
          <p:nvPr/>
        </p:nvCxnSpPr>
        <p:spPr>
          <a:xfrm>
            <a:off x="11264042" y="6915230"/>
            <a:ext cx="1554798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A488C6FC-3B22-6D52-8783-B7C2CAE5C5C0}"/>
              </a:ext>
            </a:extLst>
          </p:cNvPr>
          <p:cNvCxnSpPr>
            <a:cxnSpLocks/>
          </p:cNvCxnSpPr>
          <p:nvPr/>
        </p:nvCxnSpPr>
        <p:spPr>
          <a:xfrm>
            <a:off x="14828357" y="6342396"/>
            <a:ext cx="1554798" cy="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グラフィックス 126" descr="コメント: ハート 単色塗りつぶし">
            <a:extLst>
              <a:ext uri="{FF2B5EF4-FFF2-40B4-BE49-F238E27FC236}">
                <a16:creationId xmlns:a16="http://schemas.microsoft.com/office/drawing/2014/main" id="{EE858361-1D5D-9A0E-9532-9381C5D3D3F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654253" y="5848371"/>
            <a:ext cx="821125" cy="821125"/>
          </a:xfrm>
          <a:prstGeom prst="rect">
            <a:avLst/>
          </a:prstGeom>
        </p:spPr>
      </p:pic>
      <p:pic>
        <p:nvPicPr>
          <p:cNvPr id="128" name="グラフィックス 127" descr="コメント: ハート 単色塗りつぶし">
            <a:extLst>
              <a:ext uri="{FF2B5EF4-FFF2-40B4-BE49-F238E27FC236}">
                <a16:creationId xmlns:a16="http://schemas.microsoft.com/office/drawing/2014/main" id="{D185BBD2-1600-B0D3-98C9-DCCBCF79208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5172987" y="5846375"/>
            <a:ext cx="821125" cy="821125"/>
          </a:xfrm>
          <a:prstGeom prst="rect">
            <a:avLst/>
          </a:prstGeom>
        </p:spPr>
      </p:pic>
      <p:cxnSp>
        <p:nvCxnSpPr>
          <p:cNvPr id="129" name="直線矢印コネクタ 128">
            <a:extLst>
              <a:ext uri="{FF2B5EF4-FFF2-40B4-BE49-F238E27FC236}">
                <a16:creationId xmlns:a16="http://schemas.microsoft.com/office/drawing/2014/main" id="{18BA8E81-3CF3-383C-60F8-8F34409991AD}"/>
              </a:ext>
            </a:extLst>
          </p:cNvPr>
          <p:cNvCxnSpPr>
            <a:cxnSpLocks/>
            <a:endCxn id="85" idx="2"/>
          </p:cNvCxnSpPr>
          <p:nvPr/>
        </p:nvCxnSpPr>
        <p:spPr>
          <a:xfrm flipV="1">
            <a:off x="2154299" y="4764715"/>
            <a:ext cx="0" cy="441466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矢印コネクタ 131">
            <a:extLst>
              <a:ext uri="{FF2B5EF4-FFF2-40B4-BE49-F238E27FC236}">
                <a16:creationId xmlns:a16="http://schemas.microsoft.com/office/drawing/2014/main" id="{A65F6F21-DF58-F979-B018-F3D92DAAC3EC}"/>
              </a:ext>
            </a:extLst>
          </p:cNvPr>
          <p:cNvCxnSpPr>
            <a:cxnSpLocks/>
          </p:cNvCxnSpPr>
          <p:nvPr/>
        </p:nvCxnSpPr>
        <p:spPr>
          <a:xfrm flipV="1">
            <a:off x="2133600" y="9179375"/>
            <a:ext cx="15316210" cy="2725"/>
          </a:xfrm>
          <a:prstGeom prst="straightConnector1">
            <a:avLst/>
          </a:prstGeom>
          <a:ln w="57150">
            <a:solidFill>
              <a:srgbClr val="BFBFB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255CF375-BD8B-33DE-3745-B25775B5FF5B}"/>
              </a:ext>
            </a:extLst>
          </p:cNvPr>
          <p:cNvCxnSpPr>
            <a:cxnSpLocks/>
          </p:cNvCxnSpPr>
          <p:nvPr/>
        </p:nvCxnSpPr>
        <p:spPr>
          <a:xfrm flipH="1">
            <a:off x="17429111" y="7749801"/>
            <a:ext cx="20699" cy="1443135"/>
          </a:xfrm>
          <a:prstGeom prst="straightConnector1">
            <a:avLst/>
          </a:prstGeom>
          <a:ln w="57150">
            <a:solidFill>
              <a:srgbClr val="BFBFB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AAEBCCF1-526E-CF91-51C4-AF981E77C422}"/>
              </a:ext>
            </a:extLst>
          </p:cNvPr>
          <p:cNvSpPr/>
          <p:nvPr/>
        </p:nvSpPr>
        <p:spPr>
          <a:xfrm>
            <a:off x="443701" y="5483029"/>
            <a:ext cx="918672" cy="3546669"/>
          </a:xfrm>
          <a:prstGeom prst="roundRect">
            <a:avLst/>
          </a:prstGeom>
          <a:solidFill>
            <a:srgbClr val="FFE8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データ分析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表示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A1755934-EA97-69DE-F6D6-448FF7E5FB9E}"/>
              </a:ext>
            </a:extLst>
          </p:cNvPr>
          <p:cNvGrpSpPr/>
          <p:nvPr/>
        </p:nvGrpSpPr>
        <p:grpSpPr>
          <a:xfrm>
            <a:off x="5736610" y="5665364"/>
            <a:ext cx="2492990" cy="2068936"/>
            <a:chOff x="5071589" y="5451656"/>
            <a:chExt cx="2492990" cy="2068936"/>
          </a:xfrm>
        </p:grpSpPr>
        <p:pic>
          <p:nvPicPr>
            <p:cNvPr id="14" name="グラフィックス 13" descr="ダンス 枠線">
              <a:extLst>
                <a:ext uri="{FF2B5EF4-FFF2-40B4-BE49-F238E27FC236}">
                  <a16:creationId xmlns:a16="http://schemas.microsoft.com/office/drawing/2014/main" id="{F962D41F-48DF-ABB3-E855-A4C09BF13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5366987" y="5451656"/>
              <a:ext cx="1859384" cy="1859384"/>
            </a:xfrm>
            <a:prstGeom prst="rect">
              <a:avLst/>
            </a:prstGeom>
          </p:spPr>
        </p:pic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85B3E01C-01E7-FAFE-C3D2-4EECD659063A}"/>
                </a:ext>
              </a:extLst>
            </p:cNvPr>
            <p:cNvSpPr txBox="1"/>
            <p:nvPr/>
          </p:nvSpPr>
          <p:spPr>
            <a:xfrm>
              <a:off x="5071589" y="7120482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マッチングシステム</a:t>
              </a:r>
            </a:p>
          </p:txBody>
        </p:sp>
      </p:grp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10032C6-4C70-666C-53D5-CB569FDF0A02}"/>
              </a:ext>
            </a:extLst>
          </p:cNvPr>
          <p:cNvCxnSpPr>
            <a:cxnSpLocks/>
          </p:cNvCxnSpPr>
          <p:nvPr/>
        </p:nvCxnSpPr>
        <p:spPr>
          <a:xfrm>
            <a:off x="4541094" y="6349731"/>
            <a:ext cx="1250357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グラフィックス 49" descr="アドレス帳 単色塗りつぶし">
            <a:extLst>
              <a:ext uri="{FF2B5EF4-FFF2-40B4-BE49-F238E27FC236}">
                <a16:creationId xmlns:a16="http://schemas.microsoft.com/office/drawing/2014/main" id="{4C766515-A16B-0EA6-3FC4-AE839F2E085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4723203" y="5945274"/>
            <a:ext cx="821125" cy="821125"/>
          </a:xfrm>
          <a:prstGeom prst="rect">
            <a:avLst/>
          </a:prstGeom>
        </p:spPr>
      </p:pic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A1F1EE88-1A01-E225-31A9-85E6B1FBDF47}"/>
              </a:ext>
            </a:extLst>
          </p:cNvPr>
          <p:cNvGrpSpPr/>
          <p:nvPr/>
        </p:nvGrpSpPr>
        <p:grpSpPr>
          <a:xfrm>
            <a:off x="13401661" y="1988751"/>
            <a:ext cx="4552419" cy="2812676"/>
            <a:chOff x="13447104" y="1589979"/>
            <a:chExt cx="4552419" cy="2812676"/>
          </a:xfrm>
        </p:grpSpPr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602F1535-6448-966E-1BEE-6C07F5E37510}"/>
                </a:ext>
              </a:extLst>
            </p:cNvPr>
            <p:cNvSpPr/>
            <p:nvPr/>
          </p:nvSpPr>
          <p:spPr>
            <a:xfrm>
              <a:off x="13447104" y="1589979"/>
              <a:ext cx="4552419" cy="281267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テキスト ボックス 86">
              <a:extLst>
                <a:ext uri="{FF2B5EF4-FFF2-40B4-BE49-F238E27FC236}">
                  <a16:creationId xmlns:a16="http://schemas.microsoft.com/office/drawing/2014/main" id="{0AB255DF-A165-3E52-644B-6304B621AB59}"/>
                </a:ext>
              </a:extLst>
            </p:cNvPr>
            <p:cNvSpPr txBox="1"/>
            <p:nvPr/>
          </p:nvSpPr>
          <p:spPr>
            <a:xfrm>
              <a:off x="14413095" y="1748998"/>
              <a:ext cx="2031325" cy="2585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：音声データ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：文字データ</a:t>
              </a: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：ラベル</a:t>
              </a:r>
              <a:r>
                <a:rPr kumimoji="1" lang="en-US" altLang="ja-JP" b="1" dirty="0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/</a:t>
              </a:r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スコア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：マッチング結果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：プロフィール</a:t>
              </a:r>
            </a:p>
          </p:txBody>
        </p:sp>
        <p:pic>
          <p:nvPicPr>
            <p:cNvPr id="139" name="グラフィックス 138" descr="音符 単色塗りつぶし">
              <a:extLst>
                <a:ext uri="{FF2B5EF4-FFF2-40B4-BE49-F238E27FC236}">
                  <a16:creationId xmlns:a16="http://schemas.microsoft.com/office/drawing/2014/main" id="{E7B82316-CD8F-8AFC-67B9-33C75D643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3782048" y="1639283"/>
              <a:ext cx="532417" cy="532417"/>
            </a:xfrm>
            <a:prstGeom prst="rect">
              <a:avLst/>
            </a:prstGeom>
          </p:spPr>
        </p:pic>
        <p:pic>
          <p:nvPicPr>
            <p:cNvPr id="141" name="グラフィックス 140" descr="レシート 単色塗りつぶし">
              <a:extLst>
                <a:ext uri="{FF2B5EF4-FFF2-40B4-BE49-F238E27FC236}">
                  <a16:creationId xmlns:a16="http://schemas.microsoft.com/office/drawing/2014/main" id="{CBD7077D-0D94-3C5A-4683-4699970553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3782048" y="2171700"/>
              <a:ext cx="532416" cy="532416"/>
            </a:xfrm>
            <a:prstGeom prst="rect">
              <a:avLst/>
            </a:prstGeom>
          </p:spPr>
        </p:pic>
        <p:pic>
          <p:nvPicPr>
            <p:cNvPr id="142" name="グラフィックス 141" descr="コメント: ハート 単色塗りつぶし">
              <a:extLst>
                <a:ext uri="{FF2B5EF4-FFF2-40B4-BE49-F238E27FC236}">
                  <a16:creationId xmlns:a16="http://schemas.microsoft.com/office/drawing/2014/main" id="{A6ABEA0C-1813-C610-D163-DE8813896D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3735337" y="3313465"/>
              <a:ext cx="610835" cy="610835"/>
            </a:xfrm>
            <a:prstGeom prst="rect">
              <a:avLst/>
            </a:prstGeom>
          </p:spPr>
        </p:pic>
        <p:pic>
          <p:nvPicPr>
            <p:cNvPr id="145" name="グラフィックス 144" descr="クリップ 単色塗りつぶし">
              <a:extLst>
                <a:ext uri="{FF2B5EF4-FFF2-40B4-BE49-F238E27FC236}">
                  <a16:creationId xmlns:a16="http://schemas.microsoft.com/office/drawing/2014/main" id="{2272A3EC-97BC-4B3E-E83A-B41DA7A0C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13746915" y="3790100"/>
              <a:ext cx="591400" cy="591400"/>
            </a:xfrm>
            <a:prstGeom prst="rect">
              <a:avLst/>
            </a:prstGeom>
          </p:spPr>
        </p:pic>
        <p:pic>
          <p:nvPicPr>
            <p:cNvPr id="52" name="グラフィックス 51" descr="アドレス帳 単色塗りつぶし">
              <a:extLst>
                <a:ext uri="{FF2B5EF4-FFF2-40B4-BE49-F238E27FC236}">
                  <a16:creationId xmlns:a16="http://schemas.microsoft.com/office/drawing/2014/main" id="{DD117508-FD4E-0EC6-ACD7-9CE2CED00F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rcRect/>
            <a:stretch/>
          </p:blipFill>
          <p:spPr>
            <a:xfrm>
              <a:off x="13709214" y="2702049"/>
              <a:ext cx="689254" cy="689254"/>
            </a:xfrm>
            <a:prstGeom prst="rect">
              <a:avLst/>
            </a:prstGeom>
          </p:spPr>
        </p:pic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0D867C28-DC94-FC24-C87D-7E42D62B2F71}"/>
              </a:ext>
            </a:extLst>
          </p:cNvPr>
          <p:cNvCxnSpPr>
            <a:cxnSpLocks/>
          </p:cNvCxnSpPr>
          <p:nvPr/>
        </p:nvCxnSpPr>
        <p:spPr>
          <a:xfrm flipV="1">
            <a:off x="10508942" y="7658100"/>
            <a:ext cx="0" cy="60960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F384EF2F-9591-270E-6EBA-970AB4178E59}"/>
              </a:ext>
            </a:extLst>
          </p:cNvPr>
          <p:cNvCxnSpPr>
            <a:cxnSpLocks/>
          </p:cNvCxnSpPr>
          <p:nvPr/>
        </p:nvCxnSpPr>
        <p:spPr>
          <a:xfrm>
            <a:off x="3599297" y="8237021"/>
            <a:ext cx="6909645" cy="2689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23742939-658E-1E2F-6F0B-F9B02DE17206}"/>
              </a:ext>
            </a:extLst>
          </p:cNvPr>
          <p:cNvCxnSpPr>
            <a:cxnSpLocks/>
          </p:cNvCxnSpPr>
          <p:nvPr/>
        </p:nvCxnSpPr>
        <p:spPr>
          <a:xfrm flipV="1">
            <a:off x="3609384" y="7764413"/>
            <a:ext cx="1" cy="50347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グラフィックス 67" descr="アドレス帳 単色塗りつぶし">
            <a:extLst>
              <a:ext uri="{FF2B5EF4-FFF2-40B4-BE49-F238E27FC236}">
                <a16:creationId xmlns:a16="http://schemas.microsoft.com/office/drawing/2014/main" id="{CAD7E6A5-51FC-B4D7-713F-0722136961A1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6499318" y="7796687"/>
            <a:ext cx="821125" cy="821125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41A87B56-1560-50E8-7ECA-081EA2E87C05}"/>
              </a:ext>
            </a:extLst>
          </p:cNvPr>
          <p:cNvCxnSpPr>
            <a:cxnSpLocks/>
          </p:cNvCxnSpPr>
          <p:nvPr/>
        </p:nvCxnSpPr>
        <p:spPr>
          <a:xfrm>
            <a:off x="3697647" y="3984468"/>
            <a:ext cx="0" cy="1941109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6EFBA151-6273-5847-64DC-67918D848595}"/>
              </a:ext>
            </a:extLst>
          </p:cNvPr>
          <p:cNvCxnSpPr>
            <a:cxnSpLocks/>
          </p:cNvCxnSpPr>
          <p:nvPr/>
        </p:nvCxnSpPr>
        <p:spPr>
          <a:xfrm>
            <a:off x="3697647" y="4000500"/>
            <a:ext cx="1959034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グラフィックス 96" descr="レシート 単色塗りつぶし">
            <a:extLst>
              <a:ext uri="{FF2B5EF4-FFF2-40B4-BE49-F238E27FC236}">
                <a16:creationId xmlns:a16="http://schemas.microsoft.com/office/drawing/2014/main" id="{B79342F6-91AE-E01A-01BD-6E5128BAE75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3348339" y="4754339"/>
            <a:ext cx="654366" cy="654366"/>
          </a:xfrm>
          <a:prstGeom prst="rect">
            <a:avLst/>
          </a:prstGeom>
        </p:spPr>
      </p:pic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100FFBB0-812E-33F7-ABC9-B0C2EE196606}"/>
              </a:ext>
            </a:extLst>
          </p:cNvPr>
          <p:cNvSpPr/>
          <p:nvPr/>
        </p:nvSpPr>
        <p:spPr>
          <a:xfrm>
            <a:off x="393598" y="2420830"/>
            <a:ext cx="918672" cy="2722668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bg1">
                    <a:lumMod val="85000"/>
                  </a:schemeClr>
                </a:solidFill>
              </a:rPr>
              <a:t>音声</a:t>
            </a:r>
            <a:endParaRPr kumimoji="1" lang="en-US" altLang="ja-JP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bg1">
                    <a:lumMod val="85000"/>
                  </a:schemeClr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bg1">
                    <a:lumMod val="85000"/>
                  </a:schemeClr>
                </a:solidFill>
              </a:rPr>
              <a:t>文字起こし</a:t>
            </a:r>
          </a:p>
        </p:txBody>
      </p:sp>
      <p:pic>
        <p:nvPicPr>
          <p:cNvPr id="10" name="グラフィックス 9" descr="クリップ 単色塗りつぶし">
            <a:extLst>
              <a:ext uri="{FF2B5EF4-FFF2-40B4-BE49-F238E27FC236}">
                <a16:creationId xmlns:a16="http://schemas.microsoft.com/office/drawing/2014/main" id="{F9CD5B05-750A-4F70-E372-83F53B0D40EC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5302474" y="6571589"/>
            <a:ext cx="624053" cy="624053"/>
          </a:xfrm>
          <a:prstGeom prst="rect">
            <a:avLst/>
          </a:prstGeom>
        </p:spPr>
      </p:pic>
      <p:pic>
        <p:nvPicPr>
          <p:cNvPr id="15" name="グラフィックス 14" descr="クリップ 単色塗りつぶし">
            <a:extLst>
              <a:ext uri="{FF2B5EF4-FFF2-40B4-BE49-F238E27FC236}">
                <a16:creationId xmlns:a16="http://schemas.microsoft.com/office/drawing/2014/main" id="{355F4082-B7FE-78B1-E684-7801FDF80B28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1814750" y="6665934"/>
            <a:ext cx="624053" cy="624053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8A8AE7D-C684-6B34-C90E-14AF3040D004}"/>
              </a:ext>
            </a:extLst>
          </p:cNvPr>
          <p:cNvSpPr txBox="1"/>
          <p:nvPr/>
        </p:nvSpPr>
        <p:spPr>
          <a:xfrm>
            <a:off x="5300353" y="5333048"/>
            <a:ext cx="37802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highlight>
                  <a:srgbClr val="FFF3B9"/>
                </a:highlight>
              </a:rPr>
              <a:t>マッチングシステムの仕組み理解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A1E47BC6-4C17-0680-70FA-11C2A27272BA}"/>
              </a:ext>
            </a:extLst>
          </p:cNvPr>
          <p:cNvCxnSpPr>
            <a:cxnSpLocks/>
          </p:cNvCxnSpPr>
          <p:nvPr/>
        </p:nvCxnSpPr>
        <p:spPr>
          <a:xfrm flipH="1">
            <a:off x="7277690" y="3984468"/>
            <a:ext cx="1676400" cy="5755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グラフィックス 34" descr="レシート 単色塗りつぶし">
            <a:extLst>
              <a:ext uri="{FF2B5EF4-FFF2-40B4-BE49-F238E27FC236}">
                <a16:creationId xmlns:a16="http://schemas.microsoft.com/office/drawing/2014/main" id="{15AFC007-CAE0-70CA-555C-EE14DCC60E7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7716016" y="3704938"/>
            <a:ext cx="654366" cy="654366"/>
          </a:xfrm>
          <a:prstGeom prst="rect">
            <a:avLst/>
          </a:prstGeom>
        </p:spPr>
      </p:pic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74031A15-52F4-AF19-6F63-BE48E9D14603}"/>
              </a:ext>
            </a:extLst>
          </p:cNvPr>
          <p:cNvSpPr txBox="1"/>
          <p:nvPr/>
        </p:nvSpPr>
        <p:spPr>
          <a:xfrm>
            <a:off x="2574673" y="8508162"/>
            <a:ext cx="3089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highlight>
                  <a:srgbClr val="FFF3B9"/>
                </a:highlight>
              </a:rPr>
              <a:t>スコアが低すぎる原因解明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22E2832-B3B3-5421-E650-8772A914842C}"/>
              </a:ext>
            </a:extLst>
          </p:cNvPr>
          <p:cNvSpPr txBox="1"/>
          <p:nvPr/>
        </p:nvSpPr>
        <p:spPr>
          <a:xfrm>
            <a:off x="7087994" y="190005"/>
            <a:ext cx="41120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200" b="1" u="sng">
                <a:solidFill>
                  <a:schemeClr val="accent6">
                    <a:lumMod val="75000"/>
                  </a:schemeClr>
                </a:solidFill>
              </a:rPr>
              <a:t>今週取り組んできた所</a:t>
            </a:r>
          </a:p>
        </p:txBody>
      </p:sp>
    </p:spTree>
    <p:extLst>
      <p:ext uri="{BB962C8B-B14F-4D97-AF65-F5344CB8AC3E}">
        <p14:creationId xmlns:p14="http://schemas.microsoft.com/office/powerpoint/2010/main" val="373662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23327-0902-37DC-48D0-F1C75B281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1884A6C-D8F0-3DE4-001C-96698BEF634D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296319C-7E62-CB3B-3FF9-2BBEBDA48871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7F0E8804-5925-474D-E727-0F73679DFFC0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4E520975-8DC7-39B9-E3CA-BD4D1A2EE094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B63AE808-3524-6BFF-29BA-93FAB427D481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3ECD0E5F-3958-CDD6-9045-B41CEECA9E61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0FF5659-6597-5EE0-B36F-05571B68924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6FFE7FBC-F94E-190B-1F0B-DDD4AE9BB284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7FFF9524-5852-CE08-F7F5-7A35F0CE1019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altLang="ja-JP" sz="3500" b="1" spc="175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zero-shot learning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のスコア低すぎ問題の解決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9C4ACE0-86E0-FEDB-FB35-1892C498735A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02</a:t>
            </a:r>
          </a:p>
        </p:txBody>
      </p:sp>
      <p:pic>
        <p:nvPicPr>
          <p:cNvPr id="14" name="図 13" descr="グラフィカル ユーザー インターフェイス, 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FEF2C4A3-1CE8-30CC-2E64-2CA7F5F6CB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065" y="2600307"/>
            <a:ext cx="6934200" cy="62269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0E177DD-B64F-B3FD-5110-646840DE075F}"/>
              </a:ext>
            </a:extLst>
          </p:cNvPr>
          <p:cNvSpPr txBox="1"/>
          <p:nvPr/>
        </p:nvSpPr>
        <p:spPr>
          <a:xfrm>
            <a:off x="2496086" y="3907796"/>
            <a:ext cx="723948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solidFill>
                  <a:srgbClr val="C00000"/>
                </a:solidFill>
              </a:rPr>
              <a:t>英語用のモデルに日本語を入力していた</a:t>
            </a:r>
            <a:endParaRPr kumimoji="1" lang="en-US" altLang="ja-JP" sz="3200" dirty="0"/>
          </a:p>
          <a:p>
            <a:endParaRPr kumimoji="1" lang="en-US" altLang="ja-JP" sz="3200" dirty="0"/>
          </a:p>
          <a:p>
            <a:endParaRPr kumimoji="1" lang="en-US" altLang="ja-JP" sz="3200" dirty="0"/>
          </a:p>
          <a:p>
            <a:r>
              <a:rPr kumimoji="1" lang="ja-JP" altLang="en-US" sz="3200"/>
              <a:t>日本語に対応したモデルに変更後は</a:t>
            </a:r>
            <a:endParaRPr kumimoji="1" lang="en-US" altLang="ja-JP" sz="3200" dirty="0"/>
          </a:p>
          <a:p>
            <a:r>
              <a:rPr kumimoji="1" lang="ja-JP" altLang="en-US" sz="3200"/>
              <a:t>問題なくスコアを計算できた！！！</a:t>
            </a:r>
            <a:endParaRPr kumimoji="1"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2098540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6916D-D6B2-BF55-63EC-2479FBBA0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01C45BE-9E30-7B91-B378-0CCF4C12758F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C2D5DF0-C64F-5F3E-0C0A-2F44BC5844FE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225DA87-32B9-06DA-2071-A1F08403CB76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4F9A0BC7-9BD6-B2E6-D792-786EB3FAFC91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95362EA-79B4-FF78-618E-54C9A2C1ACF3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7BC5F0F2-4C59-4FF7-6CFF-77D419248D2F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EDCC788-D962-4B72-B753-1C943C37C1C8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1B815BD7-2F30-E573-46B5-D3146DC3FDEF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632D3770-2A0D-F337-8102-94FABDEC5403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マッチングシステムの仕組み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1FFBD72-2EC3-6939-01B5-6CAC9C01B440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03</a:t>
            </a: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E10A907A-AED5-A0A0-4BEE-7BB0B91A3A1D}"/>
              </a:ext>
            </a:extLst>
          </p:cNvPr>
          <p:cNvGrpSpPr/>
          <p:nvPr/>
        </p:nvGrpSpPr>
        <p:grpSpPr>
          <a:xfrm>
            <a:off x="1903296" y="2751573"/>
            <a:ext cx="14481366" cy="5897127"/>
            <a:chOff x="2892234" y="2923257"/>
            <a:chExt cx="14481366" cy="5897127"/>
          </a:xfrm>
        </p:grpSpPr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5CE1C6B3-5D70-5965-829D-796BC591F135}"/>
                </a:ext>
              </a:extLst>
            </p:cNvPr>
            <p:cNvSpPr/>
            <p:nvPr/>
          </p:nvSpPr>
          <p:spPr>
            <a:xfrm>
              <a:off x="7467600" y="3924300"/>
              <a:ext cx="2743200" cy="6858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C5029986-38F6-41CD-4FA2-482E51098B36}"/>
                </a:ext>
              </a:extLst>
            </p:cNvPr>
            <p:cNvSpPr/>
            <p:nvPr/>
          </p:nvSpPr>
          <p:spPr>
            <a:xfrm>
              <a:off x="10668000" y="3924300"/>
              <a:ext cx="3048000" cy="685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6CCAF0C-9AE1-8C8D-4B8D-C549AE34D068}"/>
                    </a:ext>
                  </a:extLst>
                </p:cNvPr>
                <p:cNvSpPr txBox="1"/>
                <p:nvPr/>
              </p:nvSpPr>
              <p:spPr>
                <a:xfrm>
                  <a:off x="2892234" y="2923257"/>
                  <a:ext cx="14481366" cy="58971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kumimoji="1" lang="en-US" altLang="ja-JP" sz="3200" b="1" dirty="0">
                    <a:solidFill>
                      <a:srgbClr val="C00000"/>
                    </a:solidFill>
                    <a:latin typeface="+mn-ea"/>
                  </a:endParaRPr>
                </a:p>
                <a:p>
                  <a:endParaRPr kumimoji="1" lang="en-US" altLang="ja-JP" sz="3200" b="1" dirty="0">
                    <a:solidFill>
                      <a:srgbClr val="C00000"/>
                    </a:solidFill>
                    <a:latin typeface="+mn-ea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kumimoji="1" lang="en-US" altLang="ja-JP" sz="3600" i="1" smtClean="0">
                                <a:latin typeface="+mn-ea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kumimoji="1" lang="en-US" altLang="ja-JP" sz="3600" i="1" smtClean="0">
                                    <a:latin typeface="+mn-ea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kumimoji="1" lang="en-US" altLang="ja-JP" sz="3600" i="0" smtClean="0">
                                    <a:latin typeface="+mn-ea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kumimoji="1" lang="en-US" altLang="ja-JP" sz="3600" b="0" i="1" smtClean="0">
                                    <a:latin typeface="+mn-ea"/>
                                  </a:rPr>
                                  <m:t>𝑖</m:t>
                                </m:r>
                                <m:r>
                                  <a:rPr kumimoji="1" lang="en-US" altLang="ja-JP" sz="3600" b="0" i="1" smtClean="0">
                                    <a:latin typeface="+mn-ea"/>
                                  </a:rPr>
                                  <m:t>,</m:t>
                                </m:r>
                                <m:r>
                                  <a:rPr kumimoji="1" lang="en-US" altLang="ja-JP" sz="3600" b="0" i="1" smtClean="0">
                                    <a:latin typeface="+mn-ea"/>
                                  </a:rPr>
                                  <m:t>𝑗</m:t>
                                </m:r>
                              </m:lim>
                            </m:limLow>
                          </m:fName>
                          <m:e>
                            <m:sSub>
                              <m:sSub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b="0" i="1" smtClean="0">
                                    <a:latin typeface="+mn-ea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kumimoji="1" lang="el-GR" altLang="ja-JP" sz="3600" i="1">
                                    <a:latin typeface="+mn-ea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𝑖</m:t>
                                </m:r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,</m:t>
                                </m:r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kumimoji="1" lang="en-US" altLang="ja-JP" sz="3600" i="1">
                                    <a:latin typeface="+mn-ea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𝑙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𝑖𝑗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𝑖𝑙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𝑗𝑙</m:t>
                                </m:r>
                              </m:sub>
                            </m:sSub>
                            <m:r>
                              <a:rPr kumimoji="1" lang="en-US" altLang="ja-JP" sz="3600">
                                <a:latin typeface="+mn-ea"/>
                              </a:rPr>
                              <m:t>−</m:t>
                            </m:r>
                            <m:r>
                              <a:rPr kumimoji="1" lang="en-US" altLang="ja-JP" sz="3600" i="1">
                                <a:latin typeface="+mn-ea"/>
                              </a:rPr>
                              <m:t>𝜆</m:t>
                            </m:r>
                            <m:sSub>
                              <m:sSub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kumimoji="1" lang="el-GR" altLang="ja-JP" sz="3600" i="1">
                                    <a:latin typeface="+mn-ea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𝑖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kumimoji="1" lang="en-US" altLang="ja-JP" sz="3600" i="1">
                                    <a:latin typeface="+mn-ea"/>
                                  </a:rPr>
                                </m:ctrlPr>
                              </m:sSupPr>
                              <m:e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kumimoji="1" lang="en-US" altLang="ja-JP" sz="3600" i="1">
                                        <a:latin typeface="+mn-ea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1" lang="el-GR" altLang="ja-JP" sz="3600" i="1">
                                        <a:latin typeface="+mn-ea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a:rPr kumimoji="1" lang="en-US" altLang="ja-JP" sz="3600" i="1">
                                        <a:latin typeface="+mn-ea"/>
                                      </a:rPr>
                                      <m:t>𝑙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kumimoji="1" lang="en-US" altLang="ja-JP" sz="3600" i="1">
                                        <a:latin typeface="+mn-ea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600" i="1">
                                        <a:latin typeface="+mn-ea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3600" i="1">
                                        <a:latin typeface="+mn-ea"/>
                                      </a:rPr>
                                      <m:t>𝑖𝑙</m:t>
                                    </m:r>
                                  </m:sub>
                                </m:sSub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−1)</m:t>
                                </m:r>
                              </m:e>
                              <m:sup>
                                <m:r>
                                  <a:rPr kumimoji="1" lang="en-US" altLang="ja-JP" sz="3600" i="1">
                                    <a:latin typeface="+mn-ea"/>
                                  </a:rPr>
                                  <m:t>2</m:t>
                                </m:r>
                              </m:sup>
                            </m:sSup>
                          </m:e>
                        </m:func>
                      </m:oMath>
                    </m:oMathPara>
                  </a14:m>
                  <a:endParaRPr kumimoji="1" lang="en-US" altLang="ja-JP" sz="3600" b="1" dirty="0">
                    <a:solidFill>
                      <a:srgbClr val="C00000"/>
                    </a:solidFill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endParaRPr kumimoji="1" lang="en-US" altLang="ja-JP" sz="3200" dirty="0"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32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+mn-ea"/>
                            </a:rPr>
                            <m:t>𝑄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𝑖𝑗</m:t>
                          </m:r>
                        </m:sub>
                      </m:sSub>
                      <m:r>
                        <a:rPr kumimoji="1" lang="en-US" altLang="ja-JP" sz="2800" b="0" i="1" smtClean="0">
                          <a:latin typeface="+mn-ea"/>
                        </a:rPr>
                        <m:t>=</m:t>
                      </m:r>
                      <m:sSub>
                        <m:sSubPr>
                          <m:ctrlPr>
                            <a:rPr kumimoji="1" lang="el-GR" altLang="ja-JP" sz="2800" b="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sz="2800" i="1">
                              <a:latin typeface="+mn-ea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kumimoji="1" lang="el-GR" altLang="ja-JP" sz="2800" b="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+mn-ea"/>
                            </a:rPr>
                            <m:t>𝑍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𝑖𝑘</m:t>
                          </m:r>
                        </m:sub>
                      </m:sSub>
                      <m:sSub>
                        <m:sSubPr>
                          <m:ctrlPr>
                            <a:rPr kumimoji="1" lang="el-GR" altLang="ja-JP" sz="2800" b="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+mn-ea"/>
                            </a:rPr>
                            <m:t>𝑍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𝑗𝑘</m:t>
                          </m:r>
                        </m:sub>
                      </m:sSub>
                    </m:oMath>
                  </a14:m>
                  <a:r>
                    <a:rPr kumimoji="1" lang="en-US" altLang="ja-JP" sz="2800" dirty="0">
                      <a:latin typeface="+mn-ea"/>
                    </a:rPr>
                    <a:t>	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0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ja-JP" sz="2000" i="1">
                              <a:latin typeface="+mn-ea"/>
                            </a:rPr>
                            <m:t>Z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+mn-ea"/>
                            </a:rPr>
                            <m:t>∗</m:t>
                          </m:r>
                          <m:r>
                            <a:rPr kumimoji="1" lang="en-US" altLang="ja-JP" sz="2000" b="0" i="1" smtClean="0">
                              <a:latin typeface="+mn-ea"/>
                            </a:rPr>
                            <m:t>𝑘</m:t>
                          </m:r>
                        </m:sub>
                      </m:sSub>
                    </m:oMath>
                  </a14:m>
                  <a:r>
                    <a:rPr kumimoji="1" lang="en-US" altLang="ja-JP" sz="2000" dirty="0">
                      <a:latin typeface="+mn-ea"/>
                    </a:rPr>
                    <a:t>:</a:t>
                  </a:r>
                  <a:r>
                    <a:rPr kumimoji="1" lang="ja-JP" altLang="en-US" sz="2000">
                      <a:latin typeface="+mn-ea"/>
                    </a:rPr>
                    <a:t>ユーザー＊のトピック</a:t>
                  </a:r>
                  <a:r>
                    <a:rPr kumimoji="1" lang="en-US" altLang="ja-JP" sz="2000" dirty="0">
                      <a:latin typeface="+mn-ea"/>
                    </a:rPr>
                    <a:t>k</a:t>
                  </a:r>
                  <a:r>
                    <a:rPr kumimoji="1" lang="ja-JP" altLang="en-US" sz="2000">
                      <a:latin typeface="+mn-ea"/>
                    </a:rPr>
                    <a:t>に対する関心度合い</a:t>
                  </a:r>
                  <a:endParaRPr kumimoji="1" lang="en-US" altLang="ja-JP" sz="2800" dirty="0"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28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ja-JP" sz="2800" i="1">
                              <a:latin typeface="+mn-ea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+mn-ea"/>
                            </a:rPr>
                            <m:t>𝑄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+mn-ea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𝑖𝑙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+mn-ea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𝑗𝑙</m:t>
                          </m:r>
                        </m:sub>
                      </m:sSub>
                    </m:oMath>
                  </a14:m>
                  <a:r>
                    <a:rPr kumimoji="1" lang="ja-JP" altLang="en-US" sz="2800" dirty="0">
                      <a:latin typeface="+mn-ea"/>
                    </a:rPr>
                    <a:t>　</a:t>
                  </a:r>
                  <a:r>
                    <a:rPr kumimoji="1" lang="en-US" altLang="ja-JP" sz="2800" dirty="0">
                      <a:latin typeface="+mn-ea"/>
                    </a:rPr>
                    <a:t>		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0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000" b="0" i="1" smtClean="0">
                              <a:latin typeface="+mn-ea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+mn-ea"/>
                            </a:rPr>
                            <m:t>∗</m:t>
                          </m:r>
                          <m:r>
                            <a:rPr kumimoji="1" lang="en-US" altLang="ja-JP" sz="2000" b="0" i="1" smtClean="0">
                              <a:latin typeface="+mn-ea"/>
                            </a:rPr>
                            <m:t>𝑙</m:t>
                          </m:r>
                        </m:sub>
                      </m:sSub>
                      <m:r>
                        <a:rPr kumimoji="1" lang="en-US" altLang="ja-JP" sz="2000" b="0" i="0" smtClean="0">
                          <a:latin typeface="+mn-ea"/>
                        </a:rPr>
                        <m:t>:</m:t>
                      </m:r>
                    </m:oMath>
                  </a14:m>
                  <a:r>
                    <a:rPr kumimoji="1" lang="ja-JP" altLang="en-US" sz="2000">
                      <a:latin typeface="+mn-ea"/>
                    </a:rPr>
                    <a:t>ユーザー＊がクラス</a:t>
                  </a:r>
                  <a14:m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+mn-ea"/>
                        </a:rPr>
                        <m:t>𝑙</m:t>
                      </m:r>
                    </m:oMath>
                  </a14:m>
                  <a:r>
                    <a:rPr kumimoji="1" lang="ja-JP" altLang="en-US" sz="2000">
                      <a:latin typeface="+mn-ea"/>
                    </a:rPr>
                    <a:t>に属する時は</a:t>
                  </a:r>
                  <a:r>
                    <a:rPr kumimoji="1" lang="en-US" altLang="ja-JP" sz="2000" dirty="0">
                      <a:latin typeface="+mn-ea"/>
                    </a:rPr>
                    <a:t>1,</a:t>
                  </a:r>
                  <a:r>
                    <a:rPr kumimoji="1" lang="ja-JP" altLang="en-US" sz="2000">
                      <a:latin typeface="+mn-ea"/>
                    </a:rPr>
                    <a:t>属さない時は</a:t>
                  </a:r>
                  <a:r>
                    <a:rPr kumimoji="1" lang="en-US" altLang="ja-JP" sz="2000" dirty="0">
                      <a:latin typeface="+mn-ea"/>
                    </a:rPr>
                    <a:t>0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28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sz="2800" i="1" smtClean="0">
                              <a:latin typeface="+mn-ea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𝑖</m:t>
                          </m:r>
                          <m:r>
                            <a:rPr kumimoji="1" lang="en-US" altLang="ja-JP" sz="2800" b="0" i="1" smtClean="0">
                              <a:latin typeface="+mn-ea"/>
                            </a:rPr>
                            <m:t>,</m:t>
                          </m:r>
                          <m:r>
                            <a:rPr kumimoji="1" lang="en-US" altLang="ja-JP" sz="2800" b="0" i="1" smtClean="0">
                              <a:latin typeface="+mn-ea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ja-JP" sz="2800" i="1">
                              <a:latin typeface="+mn-ea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i="1">
                              <a:latin typeface="+mn-ea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i="1">
                              <a:latin typeface="+mn-ea"/>
                            </a:rPr>
                            <m:t>𝑄</m:t>
                          </m:r>
                        </m:e>
                        <m:sub>
                          <m:r>
                            <a:rPr kumimoji="1" lang="en-US" altLang="ja-JP" sz="2800" i="1">
                              <a:latin typeface="+mn-ea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i="1">
                              <a:latin typeface="+mn-ea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i="1">
                              <a:latin typeface="+mn-ea"/>
                            </a:rPr>
                            <m:t>𝑖𝑙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+mn-ea"/>
                            </a:rPr>
                          </m:ctrlPr>
                        </m:sSubPr>
                        <m:e>
                          <m:r>
                            <a:rPr kumimoji="1" lang="en-US" altLang="ja-JP" sz="2800" i="1">
                              <a:latin typeface="+mn-ea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i="1">
                              <a:latin typeface="+mn-ea"/>
                            </a:rPr>
                            <m:t>𝑗𝑙</m:t>
                          </m:r>
                        </m:sub>
                      </m:sSub>
                    </m:oMath>
                  </a14:m>
                  <a:r>
                    <a:rPr kumimoji="1" lang="ja-JP" altLang="en-US" sz="2800" dirty="0">
                      <a:latin typeface="+mn-ea"/>
                    </a:rPr>
                    <a:t>　</a:t>
                  </a:r>
                  <a:r>
                    <a:rPr kumimoji="1" lang="en-US" altLang="ja-JP" sz="2800" dirty="0">
                      <a:latin typeface="+mn-ea"/>
                    </a:rPr>
                    <a:t>			</a:t>
                  </a:r>
                  <a:r>
                    <a:rPr kumimoji="1" lang="ja-JP" altLang="en-US" sz="2000">
                      <a:latin typeface="+mn-ea"/>
                    </a:rPr>
                    <a:t>和が最大を取るよう</a:t>
                  </a:r>
                  <a14:m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+mn-ea"/>
                        </a:rPr>
                        <m:t>𝑖</m:t>
                      </m:r>
                      <m:r>
                        <a:rPr kumimoji="1" lang="en-US" altLang="ja-JP" sz="2000" b="0" i="1" smtClean="0">
                          <a:latin typeface="+mn-ea"/>
                        </a:rPr>
                        <m:t>,</m:t>
                      </m:r>
                      <m:r>
                        <a:rPr kumimoji="1" lang="en-US" altLang="ja-JP" sz="2000" b="0" i="1" smtClean="0">
                          <a:latin typeface="+mn-ea"/>
                        </a:rPr>
                        <m:t>𝑗</m:t>
                      </m:r>
                    </m:oMath>
                  </a14:m>
                  <a:r>
                    <a:rPr kumimoji="1" lang="ja-JP" altLang="en-US" sz="2000" dirty="0">
                      <a:latin typeface="+mn-ea"/>
                    </a:rPr>
                    <a:t>を</a:t>
                  </a:r>
                  <a14:m>
                    <m:oMath xmlns:m="http://schemas.openxmlformats.org/officeDocument/2006/math">
                      <m:r>
                        <a:rPr kumimoji="1" lang="en-US" altLang="ja-JP" sz="2000" b="0" i="1" dirty="0" smtClean="0">
                          <a:latin typeface="+mn-ea"/>
                        </a:rPr>
                        <m:t>𝑙</m:t>
                      </m:r>
                    </m:oMath>
                  </a14:m>
                  <a:r>
                    <a:rPr kumimoji="1" lang="ja-JP" altLang="en-US" sz="2000">
                      <a:latin typeface="+mn-ea"/>
                    </a:rPr>
                    <a:t>に割り当てる</a:t>
                  </a:r>
                  <a:endParaRPr kumimoji="1" lang="en-US" altLang="ja-JP" sz="2800" dirty="0"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28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r>
                        <a:rPr kumimoji="1" lang="en-US" altLang="ja-JP" sz="2800" i="1" smtClean="0">
                          <a:latin typeface="+mn-ea"/>
                        </a:rPr>
                        <m:t>𝜆</m:t>
                      </m:r>
                      <m:sSub>
                        <m:sSub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sz="2800" i="1" smtClean="0">
                              <a:latin typeface="+mn-ea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+mn-ea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kumimoji="1" lang="en-US" altLang="ja-JP" sz="2800" i="1" smtClean="0">
                              <a:latin typeface="+mn-ea"/>
                            </a:rPr>
                          </m:ctrlPr>
                        </m:sSupPr>
                        <m:e>
                          <m:r>
                            <a:rPr kumimoji="1" lang="en-US" altLang="ja-JP" sz="2800" i="1">
                              <a:latin typeface="+mn-ea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ja-JP" sz="2800" i="1">
                                  <a:latin typeface="+mn-ea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1" lang="el-GR" altLang="ja-JP" sz="2800" i="1">
                                  <a:latin typeface="+mn-ea"/>
                                </a:rPr>
                                <m:t>Σ</m:t>
                              </m:r>
                            </m:e>
                            <m:sub>
                              <m:r>
                                <a:rPr kumimoji="1" lang="en-US" altLang="ja-JP" sz="2800" i="1">
                                  <a:latin typeface="+mn-ea"/>
                                </a:rPr>
                                <m:t>𝑙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ja-JP" sz="2800" i="1">
                                  <a:latin typeface="+mn-ea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2800" i="1">
                                  <a:latin typeface="+mn-ea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ja-JP" sz="2800" i="1">
                                  <a:latin typeface="+mn-ea"/>
                                </a:rPr>
                                <m:t>𝑖𝑙</m:t>
                              </m:r>
                            </m:sub>
                          </m:sSub>
                          <m:r>
                            <a:rPr kumimoji="1" lang="en-US" altLang="ja-JP" sz="2800" i="1">
                              <a:latin typeface="+mn-ea"/>
                            </a:rPr>
                            <m:t>−1)</m:t>
                          </m:r>
                        </m:e>
                        <m:sup>
                          <m:r>
                            <a:rPr kumimoji="1" lang="en-US" altLang="ja-JP" sz="2800" b="0" i="1" smtClean="0">
                              <a:latin typeface="+mn-ea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kumimoji="1" lang="en-US" altLang="ja-JP" sz="2800" dirty="0">
                      <a:latin typeface="+mn-ea"/>
                    </a:rPr>
                    <a:t>			</a:t>
                  </a:r>
                  <a:r>
                    <a:rPr kumimoji="1" lang="ja-JP" altLang="en-US" sz="2000">
                      <a:latin typeface="+mn-ea"/>
                    </a:rPr>
                    <a:t>制約条件</a:t>
                  </a:r>
                  <a:r>
                    <a:rPr kumimoji="1" lang="en-US" altLang="ja-JP" sz="2000" dirty="0">
                      <a:latin typeface="+mn-ea"/>
                    </a:rPr>
                    <a:t> </a:t>
                  </a:r>
                  <a:r>
                    <a:rPr kumimoji="1" lang="ja-JP" altLang="en-US" sz="2000">
                      <a:latin typeface="+mn-ea"/>
                    </a:rPr>
                    <a:t>全ユーザーがどこかのグループに</a:t>
                  </a:r>
                  <a:r>
                    <a:rPr kumimoji="1" lang="en-US" altLang="ja-JP" sz="2000" dirty="0">
                      <a:latin typeface="+mn-ea"/>
                    </a:rPr>
                    <a:t>1</a:t>
                  </a:r>
                  <a:r>
                    <a:rPr kumimoji="1" lang="ja-JP" altLang="en-US" sz="2000">
                      <a:latin typeface="+mn-ea"/>
                    </a:rPr>
                    <a:t>回属す</a:t>
                  </a:r>
                  <a:r>
                    <a:rPr kumimoji="1" lang="en-US" altLang="ja-JP" sz="2000" dirty="0">
                      <a:latin typeface="+mn-ea"/>
                    </a:rPr>
                    <a:t>(</a:t>
                  </a:r>
                  <a:r>
                    <a:rPr kumimoji="1" lang="ja-JP" altLang="en-US" sz="2000">
                      <a:latin typeface="+mn-ea"/>
                    </a:rPr>
                    <a:t>可能な限り</a:t>
                  </a:r>
                  <a:r>
                    <a:rPr kumimoji="1" lang="en-US" altLang="ja-JP" sz="2000" dirty="0">
                      <a:latin typeface="+mn-ea"/>
                    </a:rPr>
                    <a:t>)</a:t>
                  </a:r>
                </a:p>
                <a:p>
                  <a:pPr algn="ctr">
                    <a:lnSpc>
                      <a:spcPct val="150000"/>
                    </a:lnSpc>
                  </a:pPr>
                  <a:r>
                    <a:rPr kumimoji="1" lang="en-US" altLang="ja-JP" sz="2400" dirty="0">
                      <a:latin typeface="+mn-ea"/>
                    </a:rPr>
                    <a:t>	</a:t>
                  </a:r>
                </a:p>
              </p:txBody>
            </p:sp>
          </mc:Choice>
          <mc:Fallback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6CCAF0C-9AE1-8C8D-4B8D-C549AE34D0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2234" y="2923257"/>
                  <a:ext cx="14481366" cy="589712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DF66EA36-D877-AE03-ADF7-84E65AED80B5}"/>
                </a:ext>
              </a:extLst>
            </p:cNvPr>
            <p:cNvSpPr txBox="1"/>
            <p:nvPr/>
          </p:nvSpPr>
          <p:spPr>
            <a:xfrm>
              <a:off x="8066392" y="470249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/>
                <a:t>値をより大きく</a:t>
              </a: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45CF545-678C-73DC-3BF1-025879D17343}"/>
                </a:ext>
              </a:extLst>
            </p:cNvPr>
            <p:cNvSpPr txBox="1"/>
            <p:nvPr/>
          </p:nvSpPr>
          <p:spPr>
            <a:xfrm>
              <a:off x="11428810" y="4702496"/>
              <a:ext cx="15263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/>
                <a:t>値をより小さく</a:t>
              </a:r>
            </a:p>
          </p:txBody>
        </p:sp>
      </p:grp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2DEACBBE-0F6C-632D-712E-6413062410A1}"/>
              </a:ext>
            </a:extLst>
          </p:cNvPr>
          <p:cNvSpPr txBox="1"/>
          <p:nvPr/>
        </p:nvSpPr>
        <p:spPr>
          <a:xfrm>
            <a:off x="2949343" y="2491549"/>
            <a:ext cx="11353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800" b="1" dirty="0">
                <a:solidFill>
                  <a:srgbClr val="C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QUBO</a:t>
            </a:r>
            <a:r>
              <a:rPr kumimoji="1" lang="en-US" altLang="ja-JP" sz="1800" b="1" dirty="0">
                <a:solidFill>
                  <a:srgbClr val="C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(=Quadratic Unconstrained Binary Optimization)</a:t>
            </a:r>
            <a:r>
              <a:rPr kumimoji="1" lang="ja-JP" altLang="en-US" sz="2800" b="1">
                <a:solidFill>
                  <a:srgbClr val="C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で組み合わせ最適化</a:t>
            </a:r>
            <a:endParaRPr kumimoji="1" lang="en-US" altLang="ja-JP" sz="2800" b="1" dirty="0">
              <a:solidFill>
                <a:srgbClr val="C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94071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891FF-5866-6299-6DDD-D72021664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D6C82D5-8C5C-20A4-6DE0-2BFE8EC7643C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7452E47-124A-D5F0-CE1C-0366DD0D5EA0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BE931CFB-B526-B416-6C43-8A9D95FEE0BC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137934B2-67B4-2D33-DB69-1E7DE3EB3159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56F18E94-4A95-1434-5FD9-91C9244C99C5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FA1F6B92-0446-59D0-CF7B-26E7C664BB01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895D817-783A-134A-FF98-2414D9C20E69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BA81D070-1858-B24C-F7DC-4D675B0E4FDA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B1824D78-0DD3-2CFA-FF91-AFC0713ED34C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ユーザーアクション</a:t>
            </a:r>
            <a:r>
              <a:rPr lang="en-US" altLang="ja-JP" sz="3500" b="1" spc="175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 – 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アカウント作成・ログイン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0AF47E0-22D5-F1D7-AE25-77F145284C4F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04</a:t>
            </a:r>
          </a:p>
        </p:txBody>
      </p:sp>
      <p:sp>
        <p:nvSpPr>
          <p:cNvPr id="47" name="右矢印 46">
            <a:extLst>
              <a:ext uri="{FF2B5EF4-FFF2-40B4-BE49-F238E27FC236}">
                <a16:creationId xmlns:a16="http://schemas.microsoft.com/office/drawing/2014/main" id="{331266CA-75C3-4838-C9DD-CBCE2F48091E}"/>
              </a:ext>
            </a:extLst>
          </p:cNvPr>
          <p:cNvSpPr/>
          <p:nvPr/>
        </p:nvSpPr>
        <p:spPr>
          <a:xfrm>
            <a:off x="6687436" y="4013338"/>
            <a:ext cx="6237398" cy="1393104"/>
          </a:xfrm>
          <a:prstGeom prst="rightArrow">
            <a:avLst>
              <a:gd name="adj1" fmla="val 50000"/>
              <a:gd name="adj2" fmla="val 44620"/>
            </a:avLst>
          </a:prstGeom>
          <a:solidFill>
            <a:srgbClr val="C0D8C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図 20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CA6F439-C5BB-F39A-2F47-FD70234E1C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95" t="5613" r="26095" b="33250"/>
          <a:stretch>
            <a:fillRect/>
          </a:stretch>
        </p:blipFill>
        <p:spPr>
          <a:xfrm>
            <a:off x="7657952" y="2559105"/>
            <a:ext cx="3747600" cy="28575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3" name="図 22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7DF70B79-6AD4-C642-4F78-35D09A076C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82" r="26866" b="35953"/>
          <a:stretch>
            <a:fillRect/>
          </a:stretch>
        </p:blipFill>
        <p:spPr>
          <a:xfrm>
            <a:off x="12954000" y="4013338"/>
            <a:ext cx="4296366" cy="32762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図 24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94834A43-9E96-B395-B381-893BB8E651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4" r="25228" b="45325"/>
          <a:stretch>
            <a:fillRect/>
          </a:stretch>
        </p:blipFill>
        <p:spPr>
          <a:xfrm>
            <a:off x="1579892" y="4013338"/>
            <a:ext cx="5107544" cy="327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9" name="右矢印 48">
            <a:extLst>
              <a:ext uri="{FF2B5EF4-FFF2-40B4-BE49-F238E27FC236}">
                <a16:creationId xmlns:a16="http://schemas.microsoft.com/office/drawing/2014/main" id="{46149983-3E69-8699-AB25-0A2B28E25A81}"/>
              </a:ext>
            </a:extLst>
          </p:cNvPr>
          <p:cNvSpPr/>
          <p:nvPr/>
        </p:nvSpPr>
        <p:spPr>
          <a:xfrm>
            <a:off x="6687436" y="6039578"/>
            <a:ext cx="6237398" cy="1393104"/>
          </a:xfrm>
          <a:prstGeom prst="rightArrow">
            <a:avLst>
              <a:gd name="adj1" fmla="val 50000"/>
              <a:gd name="adj2" fmla="val 44620"/>
            </a:avLst>
          </a:prstGeom>
          <a:solidFill>
            <a:srgbClr val="AFC5D9"/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8" name="図 47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D1B97C1D-68D4-F239-DBFE-D1327F9970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92" r="24875" b="25072"/>
          <a:stretch>
            <a:fillRect/>
          </a:stretch>
        </p:blipFill>
        <p:spPr>
          <a:xfrm>
            <a:off x="7657148" y="5933043"/>
            <a:ext cx="3748404" cy="31205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49EF1D6B-ABD7-2545-1533-5CA8A920FDC2}"/>
              </a:ext>
            </a:extLst>
          </p:cNvPr>
          <p:cNvSpPr txBox="1"/>
          <p:nvPr/>
        </p:nvSpPr>
        <p:spPr>
          <a:xfrm>
            <a:off x="5029200" y="3380202"/>
            <a:ext cx="2563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highlight>
                  <a:srgbClr val="C0D8C3"/>
                </a:highlight>
              </a:rPr>
              <a:t>初回：新規登録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40C625FA-C726-A94B-65DE-F4C0A88BBF2F}"/>
              </a:ext>
            </a:extLst>
          </p:cNvPr>
          <p:cNvSpPr txBox="1"/>
          <p:nvPr/>
        </p:nvSpPr>
        <p:spPr>
          <a:xfrm>
            <a:off x="4521047" y="7489191"/>
            <a:ext cx="30540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highlight>
                  <a:srgbClr val="AFC5D9"/>
                </a:highlight>
              </a:rPr>
              <a:t>初回以降：ログイン</a:t>
            </a:r>
          </a:p>
        </p:txBody>
      </p:sp>
    </p:spTree>
    <p:extLst>
      <p:ext uri="{BB962C8B-B14F-4D97-AF65-F5344CB8AC3E}">
        <p14:creationId xmlns:p14="http://schemas.microsoft.com/office/powerpoint/2010/main" val="2560638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19E2-88C4-32A9-482B-C29DAD82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9FCE7B6-268C-18B5-50E8-86A5D8AF9280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263E431-678B-3638-BB4C-653E574C88C4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238F061B-C69A-1D3F-F2BF-701304CADBB6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E93A3A6-5C30-A162-449D-B5531DE51C26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62FB3F49-7888-6954-4EF1-F43D6EB60595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15E2B92C-4DAD-EC22-A6DD-3A42E30B3A90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1999DAA-71A0-FC2C-816B-4BCE629BA608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B3E55F59-B376-E70D-5CC7-39BE8EA5E96A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A45B9969-583A-7B5C-2C0E-4E3CD6DE3651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ユーザーアクション</a:t>
            </a:r>
            <a:r>
              <a:rPr lang="en-US" altLang="ja-JP" sz="3500" b="1" spc="175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 – 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録音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6F1DA9D-8846-D312-1ECE-8AFDAD080582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04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8DA5290-255B-FA72-C661-A63C5A3F8CC0}"/>
              </a:ext>
            </a:extLst>
          </p:cNvPr>
          <p:cNvSpPr txBox="1"/>
          <p:nvPr/>
        </p:nvSpPr>
        <p:spPr>
          <a:xfrm>
            <a:off x="6698887" y="4931267"/>
            <a:ext cx="341632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6000">
                <a:highlight>
                  <a:srgbClr val="FFFF00"/>
                </a:highlight>
              </a:rPr>
              <a:t>あとでかく</a:t>
            </a:r>
          </a:p>
        </p:txBody>
      </p:sp>
    </p:spTree>
    <p:extLst>
      <p:ext uri="{BB962C8B-B14F-4D97-AF65-F5344CB8AC3E}">
        <p14:creationId xmlns:p14="http://schemas.microsoft.com/office/powerpoint/2010/main" val="1476022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648CB-8C07-088B-F856-7C552C64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1798DF8-A7D8-D37C-6BC4-6FC541F7E6B3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D09E11A-B2C5-B7F0-7CF5-D9BCBC7B4758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856B690-EEEF-B48A-B5A0-34E8CBC93F19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DD06C8D9-B1BC-0926-D7B3-682389007FB2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38BD1D2-FB05-CC02-B8FC-7F69ECA0FD79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B6D54C10-4133-CE15-0D6B-48DF3A199B18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2C59789-4807-9FF0-89D3-0C1ADD1E2830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95775310-D832-2E09-24CD-6AEB005C885A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6A4C04EF-4C53-AAE8-C4BE-8AB35F619B14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ユーザーアクション</a:t>
            </a:r>
            <a:r>
              <a:rPr lang="en-US" altLang="ja-JP" sz="3500" b="1" spc="175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 – 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マッチング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5D53381-3C5C-441A-E0DF-0277C4974B01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04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41F76B9-2DD7-C940-7C40-75CA5C27DF7E}"/>
              </a:ext>
            </a:extLst>
          </p:cNvPr>
          <p:cNvSpPr txBox="1"/>
          <p:nvPr/>
        </p:nvSpPr>
        <p:spPr>
          <a:xfrm>
            <a:off x="6698887" y="4931267"/>
            <a:ext cx="341632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6000">
                <a:highlight>
                  <a:srgbClr val="FFFF00"/>
                </a:highlight>
              </a:rPr>
              <a:t>あとでかく</a:t>
            </a:r>
          </a:p>
        </p:txBody>
      </p:sp>
    </p:spTree>
    <p:extLst>
      <p:ext uri="{BB962C8B-B14F-4D97-AF65-F5344CB8AC3E}">
        <p14:creationId xmlns:p14="http://schemas.microsoft.com/office/powerpoint/2010/main" val="2574859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7945</TotalTime>
  <Words>308</Words>
  <Application>Microsoft Macintosh PowerPoint</Application>
  <PresentationFormat>ユーザー設定</PresentationFormat>
  <Paragraphs>98</Paragraphs>
  <Slides>8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Calibri</vt:lpstr>
      <vt:lpstr>游ゴシック</vt:lpstr>
      <vt:lpstr>Arial</vt:lpstr>
      <vt:lpstr>游ゴシック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白　シンプル　年次報告書　プレゼンテーション</dc:title>
  <cp:lastModifiedBy>Momoko SHIRAKAWA</cp:lastModifiedBy>
  <cp:revision>42</cp:revision>
  <dcterms:created xsi:type="dcterms:W3CDTF">2006-08-16T00:00:00Z</dcterms:created>
  <dcterms:modified xsi:type="dcterms:W3CDTF">2025-07-22T04:15:07Z</dcterms:modified>
  <dc:identifier>DAGn9M6bQfc</dc:identifier>
</cp:coreProperties>
</file>