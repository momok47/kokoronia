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93" r:id="rId3"/>
    <p:sldId id="302" r:id="rId4"/>
    <p:sldId id="303" r:id="rId5"/>
    <p:sldId id="288" r:id="rId6"/>
  </p:sldIdLst>
  <p:sldSz cx="18288000" cy="10287000"/>
  <p:notesSz cx="6858000" cy="9144000"/>
  <p:embeddedFontLst>
    <p:embeddedFont>
      <p:font typeface="游ゴシック" panose="020B0400000000000000" pitchFamily="34" charset="-128"/>
      <p:regular r:id="rId8"/>
      <p:bold r:id="rId9"/>
    </p:embeddedFont>
    <p:embeddedFont>
      <p:font typeface="游ゴシック" panose="020B0400000000000000" pitchFamily="34" charset="-128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B9"/>
    <a:srgbClr val="EDF4BF"/>
    <a:srgbClr val="FFE8E1"/>
    <a:srgbClr val="F7E7AF"/>
    <a:srgbClr val="F4E7CC"/>
    <a:srgbClr val="ECECEC"/>
    <a:srgbClr val="BFBFBF"/>
    <a:srgbClr val="F4D6E9"/>
    <a:srgbClr val="CFE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2" autoAdjust="0"/>
    <p:restoredTop sz="95521" autoAdjust="0"/>
  </p:normalViewPr>
  <p:slideViewPr>
    <p:cSldViewPr>
      <p:cViewPr varScale="1">
        <p:scale>
          <a:sx n="83" d="100"/>
          <a:sy n="83" d="100"/>
        </p:scale>
        <p:origin x="4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D7B3-D8F9-DB42-9752-C640A49B89F2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E85BE-9FAD-764D-B84A-7C70829A20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95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0528-F736-36EF-97B7-A9EDEBC1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FF8D68-25AD-D7B0-437C-3D5B62B59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DC6F48-CBE3-05AB-D506-97EA278B1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ユーザーのアクションでどこまで流れるのかを明記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CDFCE0-D4C3-5EC8-8EF5-964963675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8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EB85-0420-06C3-67FC-CD5C24FB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D6D15C-C657-462C-FC3B-A3E26BDDC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7E0B01A-60F2-B6D5-B41E-FE5D0ED4A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452A1D-35CA-4AD3-551A-163E05824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60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5880-4982-8CDA-DE6D-9F45A6AC6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922B172-B6B8-01DB-F702-F85982541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D6B5EC7-6EF9-C1D0-1E20-8EC85D7DB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1" dirty="0">
              <a:effectLst/>
            </a:endParaRPr>
          </a:p>
          <a:p>
            <a:r>
              <a:rPr lang="ja-JP" altLang="en-US" b="1">
                <a:effectLst/>
              </a:rPr>
              <a:t>＝＝＝＝＝</a:t>
            </a:r>
            <a:br>
              <a:rPr lang="en-US" altLang="ja-JP" b="1" dirty="0">
                <a:effectLst/>
              </a:rPr>
            </a:br>
            <a:r>
              <a:rPr lang="ja-JP" altLang="en-US" b="1">
                <a:effectLst/>
              </a:rPr>
              <a:t>🎯 グループ権限（</a:t>
            </a:r>
            <a:r>
              <a:rPr lang="en-US" altLang="ja-JP" b="1" dirty="0" err="1">
                <a:effectLst/>
              </a:rPr>
              <a:t>accounts_user_groups</a:t>
            </a:r>
            <a:r>
              <a:rPr lang="ja-JP" altLang="en-US" b="1">
                <a:effectLst/>
              </a:rPr>
              <a:t>）</a:t>
            </a:r>
          </a:p>
          <a:p>
            <a:r>
              <a:rPr lang="ja-JP" altLang="en-US" b="1">
                <a:effectLst/>
              </a:rPr>
              <a:t>役職・立場ベース</a:t>
            </a:r>
            <a:r>
              <a:rPr lang="ja-JP" altLang="en-US">
                <a:effectLst/>
              </a:rPr>
              <a:t>の権限</a:t>
            </a:r>
          </a:p>
          <a:p>
            <a:r>
              <a:rPr lang="ja-JP" altLang="en-US">
                <a:effectLst/>
              </a:rPr>
              <a:t>複数人が同じ権限セットを持つ場合</a:t>
            </a:r>
          </a:p>
          <a:p>
            <a:r>
              <a:rPr lang="ja-JP" altLang="en-US">
                <a:effectLst/>
              </a:rPr>
              <a:t>権限変更時は</a:t>
            </a:r>
            <a:r>
              <a:rPr lang="ja-JP" altLang="en-US" b="1">
                <a:effectLst/>
              </a:rPr>
              <a:t>グループを修正するだけ</a:t>
            </a:r>
            <a:r>
              <a:rPr lang="ja-JP" altLang="en-US">
                <a:effectLst/>
              </a:rPr>
              <a:t>で全員に反映</a:t>
            </a:r>
          </a:p>
          <a:p>
            <a:r>
              <a:rPr lang="ja-JP" altLang="en-US" b="1">
                <a:effectLst/>
              </a:rPr>
              <a:t>例：</a:t>
            </a:r>
            <a:r>
              <a:rPr lang="ja-JP" altLang="en-US">
                <a:effectLst/>
              </a:rPr>
              <a:t>管理者グループ </a:t>
            </a:r>
            <a:r>
              <a:rPr lang="en-US" altLang="ja-JP" dirty="0">
                <a:effectLst/>
              </a:rPr>
              <a:t>- </a:t>
            </a:r>
            <a:r>
              <a:rPr lang="ja-JP" altLang="en-US">
                <a:effectLst/>
              </a:rPr>
              <a:t>システム全体の管理</a:t>
            </a:r>
          </a:p>
          <a:p>
            <a:r>
              <a:rPr lang="ja-JP" altLang="en-US">
                <a:effectLst/>
              </a:rPr>
              <a:t>分析者グループ </a:t>
            </a:r>
            <a:r>
              <a:rPr lang="en-US" altLang="ja-JP" dirty="0">
                <a:effectLst/>
              </a:rPr>
              <a:t>- </a:t>
            </a:r>
            <a:r>
              <a:rPr lang="ja-JP" altLang="en-US">
                <a:effectLst/>
              </a:rPr>
              <a:t>データ分析機能のみ</a:t>
            </a:r>
          </a:p>
          <a:p>
            <a:r>
              <a:rPr lang="ja-JP" altLang="en-US">
                <a:effectLst/>
              </a:rPr>
              <a:t>一般ユーザーグループ </a:t>
            </a:r>
            <a:r>
              <a:rPr lang="en-US" altLang="ja-JP" dirty="0">
                <a:effectLst/>
              </a:rPr>
              <a:t>- </a:t>
            </a:r>
            <a:r>
              <a:rPr lang="ja-JP" altLang="en-US">
                <a:effectLst/>
              </a:rPr>
              <a:t>基本機能のみ</a:t>
            </a:r>
            <a:endParaRPr lang="en-US" altLang="ja-JP" dirty="0">
              <a:effectLst/>
            </a:endParaRPr>
          </a:p>
          <a:p>
            <a:endParaRPr lang="ja-JP" altLang="en-US">
              <a:effectLst/>
            </a:endParaRPr>
          </a:p>
          <a:p>
            <a:r>
              <a:rPr lang="ja-JP" altLang="en-US" b="1">
                <a:effectLst/>
              </a:rPr>
              <a:t>🎯 個人権限（</a:t>
            </a:r>
            <a:r>
              <a:rPr lang="en-US" altLang="ja-JP" b="1" dirty="0" err="1">
                <a:effectLst/>
              </a:rPr>
              <a:t>accounts_user_user_permissions</a:t>
            </a:r>
            <a:r>
              <a:rPr lang="ja-JP" altLang="en-US" b="1">
                <a:effectLst/>
              </a:rPr>
              <a:t>）</a:t>
            </a:r>
          </a:p>
          <a:p>
            <a:r>
              <a:rPr lang="ja-JP" altLang="en-US" b="1">
                <a:effectLst/>
              </a:rPr>
              <a:t>例外的・特別な権限</a:t>
            </a:r>
            <a:endParaRPr lang="ja-JP" altLang="en-US">
              <a:effectLst/>
            </a:endParaRPr>
          </a:p>
          <a:p>
            <a:r>
              <a:rPr lang="ja-JP" altLang="en-US">
                <a:effectLst/>
              </a:rPr>
              <a:t>その人だけに特別に付与したい場合</a:t>
            </a:r>
          </a:p>
          <a:p>
            <a:r>
              <a:rPr lang="ja-JP" altLang="en-US">
                <a:effectLst/>
              </a:rPr>
              <a:t>一時的な権限付与</a:t>
            </a:r>
          </a:p>
          <a:p>
            <a:r>
              <a:rPr lang="ja-JP" altLang="en-US" b="1">
                <a:effectLst/>
              </a:rPr>
              <a:t>例：</a:t>
            </a:r>
            <a:r>
              <a:rPr lang="ja-JP" altLang="en-US">
                <a:effectLst/>
              </a:rPr>
              <a:t>テストユーザーのみ「ベータ機能使用権限」</a:t>
            </a:r>
          </a:p>
          <a:p>
            <a:r>
              <a:rPr lang="ja-JP" altLang="en-US">
                <a:effectLst/>
              </a:rPr>
              <a:t>特定の研究者のみ「生データエクスポート権限」</a:t>
            </a:r>
          </a:p>
          <a:p>
            <a:r>
              <a:rPr lang="ja-JP" altLang="en-US">
                <a:effectLst/>
              </a:rPr>
              <a:t>期間限定で「外部連携</a:t>
            </a:r>
            <a:r>
              <a:rPr lang="en-US" altLang="ja-JP" dirty="0">
                <a:effectLst/>
              </a:rPr>
              <a:t>API</a:t>
            </a:r>
            <a:r>
              <a:rPr lang="ja-JP" altLang="en-US">
                <a:effectLst/>
              </a:rPr>
              <a:t>使用権限」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2FC1C1-9E7A-B1A9-9BD3-7617CFBAA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4709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テーブル　個人情報，興味関心の</a:t>
            </a:r>
            <a:r>
              <a:rPr kumimoji="1" lang="en-US" altLang="ja-JP" dirty="0"/>
              <a:t>2</a:t>
            </a:r>
            <a:r>
              <a:rPr kumimoji="1" lang="ja-JP" altLang="en-US"/>
              <a:t>つ</a:t>
            </a:r>
            <a:endParaRPr kumimoji="1" lang="en-US" altLang="ja-JP" dirty="0"/>
          </a:p>
          <a:p>
            <a:r>
              <a:rPr kumimoji="1" lang="ja-JP" altLang="en-US"/>
              <a:t>マッチングの仕方を考える，ユーザーを作ってみる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78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31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Relationship Id="rId30" Type="http://schemas.openxmlformats.org/officeDocument/2006/relationships/image" Target="../media/image30.svg"/><Relationship Id="rId8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19.svg"/><Relationship Id="rId26" Type="http://schemas.openxmlformats.org/officeDocument/2006/relationships/image" Target="../media/image47.svg"/><Relationship Id="rId39" Type="http://schemas.openxmlformats.org/officeDocument/2006/relationships/image" Target="../media/image51.png"/><Relationship Id="rId21" Type="http://schemas.openxmlformats.org/officeDocument/2006/relationships/image" Target="../media/image44.png"/><Relationship Id="rId34" Type="http://schemas.openxmlformats.org/officeDocument/2006/relationships/image" Target="../media/image28.png"/><Relationship Id="rId7" Type="http://schemas.openxmlformats.org/officeDocument/2006/relationships/image" Target="../media/image7.png"/><Relationship Id="rId12" Type="http://schemas.openxmlformats.org/officeDocument/2006/relationships/image" Target="../media/image39.svg"/><Relationship Id="rId17" Type="http://schemas.openxmlformats.org/officeDocument/2006/relationships/image" Target="../media/image18.png"/><Relationship Id="rId25" Type="http://schemas.openxmlformats.org/officeDocument/2006/relationships/image" Target="../media/image46.png"/><Relationship Id="rId33" Type="http://schemas.openxmlformats.org/officeDocument/2006/relationships/image" Target="../media/image33.svg"/><Relationship Id="rId38" Type="http://schemas.openxmlformats.org/officeDocument/2006/relationships/image" Target="../media/image5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svg"/><Relationship Id="rId20" Type="http://schemas.openxmlformats.org/officeDocument/2006/relationships/image" Target="../media/image21.svg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38.png"/><Relationship Id="rId24" Type="http://schemas.openxmlformats.org/officeDocument/2006/relationships/image" Target="../media/image27.svg"/><Relationship Id="rId32" Type="http://schemas.openxmlformats.org/officeDocument/2006/relationships/image" Target="../media/image32.png"/><Relationship Id="rId37" Type="http://schemas.openxmlformats.org/officeDocument/2006/relationships/image" Target="../media/image49.png"/><Relationship Id="rId40" Type="http://schemas.openxmlformats.org/officeDocument/2006/relationships/image" Target="../media/image52.svg"/><Relationship Id="rId5" Type="http://schemas.openxmlformats.org/officeDocument/2006/relationships/image" Target="../media/image36.png"/><Relationship Id="rId15" Type="http://schemas.openxmlformats.org/officeDocument/2006/relationships/image" Target="../media/image42.png"/><Relationship Id="rId23" Type="http://schemas.openxmlformats.org/officeDocument/2006/relationships/image" Target="../media/image26.png"/><Relationship Id="rId28" Type="http://schemas.openxmlformats.org/officeDocument/2006/relationships/image" Target="../media/image12.svg"/><Relationship Id="rId36" Type="http://schemas.openxmlformats.org/officeDocument/2006/relationships/image" Target="../media/image48.svg"/><Relationship Id="rId10" Type="http://schemas.openxmlformats.org/officeDocument/2006/relationships/image" Target="../media/image10.svg"/><Relationship Id="rId19" Type="http://schemas.openxmlformats.org/officeDocument/2006/relationships/image" Target="../media/image20.png"/><Relationship Id="rId31" Type="http://schemas.openxmlformats.org/officeDocument/2006/relationships/image" Target="../media/image31.svg"/><Relationship Id="rId4" Type="http://schemas.openxmlformats.org/officeDocument/2006/relationships/image" Target="../media/image35.svg"/><Relationship Id="rId9" Type="http://schemas.openxmlformats.org/officeDocument/2006/relationships/image" Target="../media/image9.png"/><Relationship Id="rId14" Type="http://schemas.openxmlformats.org/officeDocument/2006/relationships/image" Target="../media/image41.svg"/><Relationship Id="rId22" Type="http://schemas.openxmlformats.org/officeDocument/2006/relationships/image" Target="../media/image45.svg"/><Relationship Id="rId27" Type="http://schemas.openxmlformats.org/officeDocument/2006/relationships/image" Target="../media/image11.png"/><Relationship Id="rId30" Type="http://schemas.openxmlformats.org/officeDocument/2006/relationships/image" Target="../media/image30.svg"/><Relationship Id="rId35" Type="http://schemas.openxmlformats.org/officeDocument/2006/relationships/image" Target="../media/image29.svg"/><Relationship Id="rId8" Type="http://schemas.openxmlformats.org/officeDocument/2006/relationships/image" Target="../media/image8.svg"/><Relationship Id="rId3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53.sv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13374676" y="1505082"/>
            <a:ext cx="5352794" cy="6277264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57250" y="7025641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91463" y="3612504"/>
            <a:ext cx="11049000" cy="2656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99"/>
              </a:lnSpc>
            </a:pPr>
            <a:r>
              <a:rPr lang="en-US" sz="72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2025/07/11進捗報告</a:t>
            </a:r>
          </a:p>
          <a:p>
            <a:pPr>
              <a:lnSpc>
                <a:spcPts val="11199"/>
              </a:lnSpc>
            </a:pP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- タスクを言語化するのが1番難しい -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66BA20F-ACCC-3614-9C86-45BD6A5FA5CC}"/>
              </a:ext>
            </a:extLst>
          </p:cNvPr>
          <p:cNvGrpSpPr/>
          <p:nvPr/>
        </p:nvGrpSpPr>
        <p:grpSpPr>
          <a:xfrm>
            <a:off x="1080279" y="2704922"/>
            <a:ext cx="6234921" cy="866942"/>
            <a:chOff x="1403336" y="1324305"/>
            <a:chExt cx="6234921" cy="866942"/>
          </a:xfrm>
        </p:grpSpPr>
        <p:grpSp>
          <p:nvGrpSpPr>
            <p:cNvPr id="10" name="Group 10"/>
            <p:cNvGrpSpPr/>
            <p:nvPr/>
          </p:nvGrpSpPr>
          <p:grpSpPr>
            <a:xfrm>
              <a:off x="1722038" y="1324305"/>
              <a:ext cx="5687621" cy="866942"/>
              <a:chOff x="0" y="-47625"/>
              <a:chExt cx="1154506" cy="2283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54506" cy="180706"/>
              </a:xfrm>
              <a:custGeom>
                <a:avLst/>
                <a:gdLst/>
                <a:ahLst/>
                <a:cxnLst/>
                <a:rect l="l" t="t" r="r" b="b"/>
                <a:pathLst>
                  <a:path w="906552" h="180706">
                    <a:moveTo>
                      <a:pt x="0" y="0"/>
                    </a:moveTo>
                    <a:lnTo>
                      <a:pt x="906552" y="0"/>
                    </a:lnTo>
                    <a:lnTo>
                      <a:pt x="906552" y="180706"/>
                    </a:lnTo>
                    <a:lnTo>
                      <a:pt x="0" y="180706"/>
                    </a:lnTo>
                    <a:close/>
                  </a:path>
                </a:pathLst>
              </a:custGeom>
              <a:solidFill>
                <a:srgbClr val="1B1B1B"/>
              </a:solidFill>
            </p:spPr>
            <p:txBody>
              <a:bodyPr/>
              <a:lstStyle/>
              <a:p>
                <a:endParaRPr lang="ja-JP" alt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906552" cy="2283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403336" y="1592638"/>
              <a:ext cx="6234921" cy="5111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ja-JP" altLang="en-US" sz="2999" b="1" spc="149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マッチングシステム作成</a:t>
              </a:r>
              <a:endParaRPr lang="en-US" sz="2999" b="1" spc="149" dirty="0">
                <a:solidFill>
                  <a:srgbClr val="F6F6F6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Bold"/>
                <a:sym typeface="Noto Sans JP 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00200" y="7371895"/>
            <a:ext cx="4471529" cy="52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b="1" spc="124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ML/DS</a:t>
            </a:r>
            <a:r>
              <a:rPr lang="ja-JP" altLang="en-US" sz="2499" b="1" spc="124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白川桃子</a:t>
            </a:r>
            <a:endParaRPr lang="en-US" sz="2499" b="1" spc="124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BFA9-2BBF-C3F8-C160-8F146634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730D5134-B865-BC45-E4AD-24F0DA1673DA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B4AAA26-0844-6898-D926-BBE7696ED5DF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5A4DB73-398F-E0C9-97EF-6491BA51E90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DFF8F19-8F6D-2359-2C27-7DE4BD711C02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5509D03-402A-1077-5D2D-43589FEA3F52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E1F7F37-A779-9E98-5B59-54C058C24037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6BBD031-66B8-BD6E-F436-D5AE3BD961C8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0DFC3AC-6EDF-69B9-FB3B-49D50E6DAA08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8DC6797-66C2-6FC1-DD63-5A52ECEF7E4E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29E2FE1-D563-0372-D735-61E09345E468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E4CA4440-32C2-1FD3-7FBC-5FD7ADD214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64D4C33-F9BD-A628-538A-85119DBC01D8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858FD3E-E23F-9596-7AF6-5F4E86F4BD93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ABCFBB6B-5FA0-70EB-A9F8-DB04593BC8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0F26FB2A-2700-6B17-8ED6-84AE192BE367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16CEACC-3541-4F23-C1FB-2C4B7311EC4B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18AB0B9-3C56-C558-452E-A0E109A481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2D32BB0-4820-FD0E-2380-17C9A1DBFB05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200D84F-F4C8-C305-44AD-37FB3FE2D1E0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9EE8FBAC-6F6D-29A3-64A6-F392FAD41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C752708-A40F-4929-6CED-32A0D10D0A6F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0E314FD-B0F0-03D2-1B34-9041E973ACA1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036D2202-9C43-93A3-E5E8-98B3514896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46FB1BBC-36FD-EA2D-8F39-BF0767A8FD6E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7219F052-7CD2-5F3C-85AC-27442968CB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84D76FFD-5C4A-7B69-B4DF-52AAB4618DBF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D3536E5A-6BC4-F39D-6212-C3567BCDBC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0217C13F-8BBD-0A4B-D352-76F18A7AEE18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31A3780D-F3C8-F087-B5F6-CCD4651DF3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E1C44753-B12A-9F7B-F857-6DD9DFD89B15}"/>
              </a:ext>
            </a:extLst>
          </p:cNvPr>
          <p:cNvGrpSpPr/>
          <p:nvPr/>
        </p:nvGrpSpPr>
        <p:grpSpPr>
          <a:xfrm>
            <a:off x="13716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F0E471F0-15BC-D393-99EF-9DFAB20519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35AB532-6CFB-F5FC-A5EB-30A00CCE9318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3DDB1DF0-16E5-807C-9C88-C4B5BA17E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6A5FA647-1A5B-488E-C666-F9ACCD57D204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F1B38502-67D3-90B5-2EEB-D2B7833112BE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E3A4D875-D6C3-8C72-F96D-9B7E2F031D5D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814EFAEE-1A90-3189-7661-39B9BFDED86E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5D9F454B-A186-5E6D-9FA0-5BDB763A4C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286DEAEC-6855-38C0-E126-38922C349D69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9EB7FD93-38B2-415F-6292-75F7A9ACE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FECB0108-7782-A526-A9F5-882FB7EAE2DE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1EFAB432-0EAC-6A92-7303-A96BC00B0679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FA6EE4C0-4C24-2A8A-1F22-0E7B7F3FD176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8D16AACD-D027-F886-3F15-1517E712B59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919A9735-2C25-9C9B-DE6B-077217B99BC3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E4D6B706-B2C4-3BC5-1A29-B811A5560EE5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8766CA23-A024-E27E-5DF7-177685384DF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15906DB7-B281-B083-B171-51F885A82ED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E867FAF8-C1CA-6E72-01AC-3E81273A1F91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1542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1742A8C9-9A3E-6FD3-1A96-0D9848E83615}"/>
              </a:ext>
            </a:extLst>
          </p:cNvPr>
          <p:cNvCxnSpPr>
            <a:cxnSpLocks/>
          </p:cNvCxnSpPr>
          <p:nvPr/>
        </p:nvCxnSpPr>
        <p:spPr>
          <a:xfrm flipV="1">
            <a:off x="2133600" y="9179375"/>
            <a:ext cx="15316210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482ADA5C-028C-C80E-BEE8-630D0926567B}"/>
              </a:ext>
            </a:extLst>
          </p:cNvPr>
          <p:cNvCxnSpPr>
            <a:cxnSpLocks/>
          </p:cNvCxnSpPr>
          <p:nvPr/>
        </p:nvCxnSpPr>
        <p:spPr>
          <a:xfrm flipH="1">
            <a:off x="17429111" y="7749801"/>
            <a:ext cx="20699" cy="144313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468D9143-F508-A29A-58A7-8E35FDDCFDD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3C0963C3-BF8F-6863-5EAB-C347A81FC345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1F0A999-D676-F98A-0F2E-DB31802B23DD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5337A111-EADE-09AD-5F6A-ABB0A52DA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E9D8035-E70D-F131-A76A-E393B6504B5B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A44E382E-FB19-69DF-CA12-800455406E3E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33873C44-15C1-6698-10A2-E24E2A9AE14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DDAE9171-9EBD-BEB5-9AC6-F084E6188E73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ED9187B3-D2E5-B3A8-2BB1-263DDA6CB94C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8B37BCC3-E2AA-7B23-B805-3352D7138DC4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E063E242-DAE0-A90D-3849-306A68862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B2CE6384-A4A7-7424-2BA9-7DC661C5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59090B78-A23D-F199-5C34-E36973E44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D594FF29-17A2-0317-3BC0-E7349055C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F2584802-E253-112B-F09B-452BE3F6B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3E519E46-DC0C-2661-6EB3-BCB93C8CB9BF}"/>
              </a:ext>
            </a:extLst>
          </p:cNvPr>
          <p:cNvCxnSpPr>
            <a:cxnSpLocks/>
          </p:cNvCxnSpPr>
          <p:nvPr/>
        </p:nvCxnSpPr>
        <p:spPr>
          <a:xfrm flipV="1">
            <a:off x="10508942" y="7642562"/>
            <a:ext cx="0" cy="609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F8127752-690E-CE4C-4043-8C1212A0956B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B24FFE4-414D-F16B-FCA9-20913FA04BF0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85FC96DD-68F1-8027-077F-90D0F91CA72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1C879E5-5EB4-C5A4-6171-B6424ADC1EB8}"/>
              </a:ext>
            </a:extLst>
          </p:cNvPr>
          <p:cNvCxnSpPr>
            <a:cxnSpLocks/>
          </p:cNvCxnSpPr>
          <p:nvPr/>
        </p:nvCxnSpPr>
        <p:spPr>
          <a:xfrm>
            <a:off x="3697647" y="3984468"/>
            <a:ext cx="0" cy="19411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C68C08D0-04A1-8B75-86C9-3645B594535E}"/>
              </a:ext>
            </a:extLst>
          </p:cNvPr>
          <p:cNvCxnSpPr>
            <a:cxnSpLocks/>
          </p:cNvCxnSpPr>
          <p:nvPr/>
        </p:nvCxnSpPr>
        <p:spPr>
          <a:xfrm>
            <a:off x="3697647" y="4000500"/>
            <a:ext cx="1959034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A7D50072-8D0D-195B-5995-DC90FA915F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201AC9B-10CA-E39A-7DA7-079DD844C505}"/>
              </a:ext>
            </a:extLst>
          </p:cNvPr>
          <p:cNvSpPr txBox="1"/>
          <p:nvPr/>
        </p:nvSpPr>
        <p:spPr>
          <a:xfrm>
            <a:off x="7852620" y="190005"/>
            <a:ext cx="2582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 b="1" u="sng">
                <a:solidFill>
                  <a:schemeClr val="accent6">
                    <a:lumMod val="75000"/>
                  </a:schemeClr>
                </a:solidFill>
              </a:rPr>
              <a:t>サービス全体</a:t>
            </a:r>
          </a:p>
        </p:txBody>
      </p:sp>
    </p:spTree>
    <p:extLst>
      <p:ext uri="{BB962C8B-B14F-4D97-AF65-F5344CB8AC3E}">
        <p14:creationId xmlns:p14="http://schemas.microsoft.com/office/powerpoint/2010/main" val="270468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3E6B-1752-7295-61E0-0A15D878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C97A41C-2711-DA42-9872-6E0C527CAA1A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2650559-3C96-4211-D9D1-D51ED4194025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1CF6882-B980-6C2A-4461-FF1DFD3ACA1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C579079-CE1F-7F84-64D3-EE719B63F7D8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C152D41-B2DB-9F7F-57A7-9E90C833C147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054A466-42E6-1665-EFC5-4E191F1317E3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93253B5-0D3F-214C-95C1-83C5C6ED4D4A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865451E-C0BF-8FDB-54BE-3DB87AE7C453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07CE263-638C-CC35-02B4-FB0A5F3577B6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694B75FC-A730-FBE2-591D-61251CB55A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solidFill>
                  <a:schemeClr val="bg1">
                    <a:lumMod val="8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ACB0C9B5-7851-67EB-CFA7-00576CCE5156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bg1">
                      <a:lumMod val="8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bg1">
                    <a:lumMod val="8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6D7701FE-37BE-6BB4-362A-4E091A5841EE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355DEF15-3580-5689-1EE7-B3DBF0F95E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solidFill>
                  <a:schemeClr val="bg1">
                    <a:lumMod val="8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D829664-1A3F-5860-D416-715EFA4670F4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bg1">
                      <a:lumMod val="8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bg1">
                    <a:lumMod val="8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39EDB0A-7932-EF3C-242A-4B9CDC4D056D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BBC59C3F-B852-EEC1-2029-BE04012DCF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60540FA-4262-21B9-4F49-E1816DD03D52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D217F37-EAC5-BBE8-0223-6623E0298CA4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8AC93F50-8961-8120-26AB-FFE7087B5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36945909-1DA5-0444-247C-A7F02C29A114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A82160A-03E4-64FE-26B8-91D528F26D4B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2276834D-121F-5159-C495-F91E904DFA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27CAC2F2-E815-34A3-E307-706626DDBE11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359DC753-A8A1-1727-65AA-644041A4A7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90CE65D2-1CDF-C5BF-AA14-B87C9BA8B0A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49F46AB-55B9-C78A-2E05-2E274D3E2963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D7906DE8-65CA-DC7C-7532-5875338794D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34ACD628-D378-79E8-5CB8-2F58EB0FA61B}"/>
              </a:ext>
            </a:extLst>
          </p:cNvPr>
          <p:cNvGrpSpPr/>
          <p:nvPr/>
        </p:nvGrpSpPr>
        <p:grpSpPr>
          <a:xfrm>
            <a:off x="13716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488BA2E7-60A4-A452-6E6F-2B0CE720FA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solidFill>
                  <a:schemeClr val="bg1">
                    <a:lumMod val="8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B5B3901C-1A07-5D6F-E117-11808EDAAB69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bg1">
                      <a:lumMod val="8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bg1">
                    <a:lumMod val="8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18486881-168D-6ACA-F8C9-39FDE6AFC9BE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FC47B5B6-AD52-612A-0489-3F5C283FC0A1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DA1917F0-0199-94D6-8905-47AAB7AF5D87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872326B5-4A93-3D4B-FFCD-642F43D696F0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6F4A2ED8-6626-1738-E73E-74995FEF28A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CF124466-3981-0697-0712-4C0DBBCE1272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264EF05C-7A41-1D6D-4695-D3FE4A8A5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D41863EC-1D28-2D82-8499-3C46BE14A700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51B0E911-596D-7B10-ECFD-54F529C1453A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840A8B15-256A-B735-C51B-DE57CB52BD7C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3053CC80-221C-5E4E-C75E-1BF6E13A6728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A488C6FC-3B22-6D52-8783-B7C2CAE5C5C0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EE858361-1D5D-9A0E-9532-9381C5D3D3F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D185BBD2-1600-B0D3-98C9-DCCBCF7920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18BA8E81-3CF3-383C-60F8-8F34409991AD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1542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A65F6F21-DF58-F979-B018-F3D92DAAC3EC}"/>
              </a:ext>
            </a:extLst>
          </p:cNvPr>
          <p:cNvCxnSpPr>
            <a:cxnSpLocks/>
          </p:cNvCxnSpPr>
          <p:nvPr/>
        </p:nvCxnSpPr>
        <p:spPr>
          <a:xfrm flipV="1">
            <a:off x="2133600" y="9179375"/>
            <a:ext cx="15316210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255CF375-BD8B-33DE-3745-B25775B5FF5B}"/>
              </a:ext>
            </a:extLst>
          </p:cNvPr>
          <p:cNvCxnSpPr>
            <a:cxnSpLocks/>
          </p:cNvCxnSpPr>
          <p:nvPr/>
        </p:nvCxnSpPr>
        <p:spPr>
          <a:xfrm flipH="1">
            <a:off x="17429111" y="7749801"/>
            <a:ext cx="20699" cy="144313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AAEBCCF1-526E-CF91-51C4-AF981E77C422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1755934-EA97-69DE-F6D6-448FF7E5FB9E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F962D41F-48DF-ABB3-E855-A4C09BF13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5B3E01C-01E7-FAFE-C3D2-4EECD659063A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910032C6-4C70-666C-53D5-CB569FDF0A02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4C766515-A16B-0EA6-3FC4-AE839F2E085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A1F1EE88-1A01-E225-31A9-85E6B1FBDF47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602F1535-6448-966E-1BEE-6C07F5E37510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0AB255DF-A165-3E52-644B-6304B621AB59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E7B82316-CD8F-8AFC-67B9-33C75D643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CBD7077D-0D94-3C5A-4683-469997055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A6ABEA0C-1813-C610-D163-DE8813896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2272A3EC-97BC-4B3E-E83A-B41DA7A0C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DD117508-FD4E-0EC6-ACD7-9CE2CED00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0D867C28-DC94-FC24-C87D-7E42D62B2F71}"/>
              </a:ext>
            </a:extLst>
          </p:cNvPr>
          <p:cNvCxnSpPr>
            <a:cxnSpLocks/>
          </p:cNvCxnSpPr>
          <p:nvPr/>
        </p:nvCxnSpPr>
        <p:spPr>
          <a:xfrm flipV="1">
            <a:off x="10508942" y="7658100"/>
            <a:ext cx="0" cy="60960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F384EF2F-9591-270E-6EBA-970AB4178E59}"/>
              </a:ext>
            </a:extLst>
          </p:cNvPr>
          <p:cNvCxnSpPr>
            <a:cxnSpLocks/>
          </p:cNvCxnSpPr>
          <p:nvPr/>
        </p:nvCxnSpPr>
        <p:spPr>
          <a:xfrm>
            <a:off x="3599297" y="8237021"/>
            <a:ext cx="6909645" cy="2689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23742939-658E-1E2F-6F0B-F9B02DE17206}"/>
              </a:ext>
            </a:extLst>
          </p:cNvPr>
          <p:cNvCxnSpPr>
            <a:cxnSpLocks/>
          </p:cNvCxnSpPr>
          <p:nvPr/>
        </p:nvCxnSpPr>
        <p:spPr>
          <a:xfrm flipV="1">
            <a:off x="3609384" y="7764413"/>
            <a:ext cx="1" cy="50347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CAD7E6A5-51FC-B4D7-713F-0722136961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1A87B56-1560-50E8-7ECA-081EA2E87C05}"/>
              </a:ext>
            </a:extLst>
          </p:cNvPr>
          <p:cNvCxnSpPr>
            <a:cxnSpLocks/>
          </p:cNvCxnSpPr>
          <p:nvPr/>
        </p:nvCxnSpPr>
        <p:spPr>
          <a:xfrm>
            <a:off x="3697647" y="3984468"/>
            <a:ext cx="0" cy="1941109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EFBA151-6273-5847-64DC-67918D848595}"/>
              </a:ext>
            </a:extLst>
          </p:cNvPr>
          <p:cNvCxnSpPr>
            <a:cxnSpLocks/>
          </p:cNvCxnSpPr>
          <p:nvPr/>
        </p:nvCxnSpPr>
        <p:spPr>
          <a:xfrm>
            <a:off x="3697647" y="4000500"/>
            <a:ext cx="1959034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B79342F6-91AE-E01A-01BD-6E5128BAE7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100FFBB0-812E-33F7-ABC9-B0C2EE196606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bg1">
                    <a:lumMod val="85000"/>
                  </a:schemeClr>
                </a:solidFill>
              </a:rPr>
              <a:t>音声</a:t>
            </a:r>
            <a:endParaRPr kumimoji="1" lang="en-US" altLang="ja-JP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bg1">
                    <a:lumMod val="85000"/>
                  </a:schemeClr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bg1">
                    <a:lumMod val="85000"/>
                  </a:schemeClr>
                </a:solidFill>
              </a:rPr>
              <a:t>文字起こし</a:t>
            </a:r>
          </a:p>
        </p:txBody>
      </p:sp>
      <p:pic>
        <p:nvPicPr>
          <p:cNvPr id="10" name="グラフィックス 9" descr="クリップ 単色塗りつぶし">
            <a:extLst>
              <a:ext uri="{FF2B5EF4-FFF2-40B4-BE49-F238E27FC236}">
                <a16:creationId xmlns:a16="http://schemas.microsoft.com/office/drawing/2014/main" id="{F9CD5B05-750A-4F70-E372-83F53B0D40E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pic>
        <p:nvPicPr>
          <p:cNvPr id="15" name="グラフィックス 14" descr="クリップ 単色塗りつぶし">
            <a:extLst>
              <a:ext uri="{FF2B5EF4-FFF2-40B4-BE49-F238E27FC236}">
                <a16:creationId xmlns:a16="http://schemas.microsoft.com/office/drawing/2014/main" id="{355F4082-B7FE-78B1-E684-7801FDF80B2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8A8AE7D-C684-6B34-C90E-14AF3040D004}"/>
              </a:ext>
            </a:extLst>
          </p:cNvPr>
          <p:cNvSpPr txBox="1"/>
          <p:nvPr/>
        </p:nvSpPr>
        <p:spPr>
          <a:xfrm>
            <a:off x="5300353" y="5333048"/>
            <a:ext cx="3780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highlight>
                  <a:srgbClr val="FFF3B9"/>
                </a:highlight>
              </a:rPr>
              <a:t>マッチングシステムの仕組み理解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A1E47BC6-4C17-0680-70FA-11C2A27272BA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グラフィックス 34" descr="レシート 単色塗りつぶし">
            <a:extLst>
              <a:ext uri="{FF2B5EF4-FFF2-40B4-BE49-F238E27FC236}">
                <a16:creationId xmlns:a16="http://schemas.microsoft.com/office/drawing/2014/main" id="{15AFC007-CAE0-70CA-555C-EE14DCC60E74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4031A15-52F4-AF19-6F63-BE48E9D14603}"/>
              </a:ext>
            </a:extLst>
          </p:cNvPr>
          <p:cNvSpPr txBox="1"/>
          <p:nvPr/>
        </p:nvSpPr>
        <p:spPr>
          <a:xfrm>
            <a:off x="2574673" y="8508162"/>
            <a:ext cx="3089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highlight>
                  <a:srgbClr val="FFF3B9"/>
                </a:highlight>
              </a:rPr>
              <a:t>スコアが低すぎる原因解明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22E2832-B3B3-5421-E650-8772A914842C}"/>
              </a:ext>
            </a:extLst>
          </p:cNvPr>
          <p:cNvSpPr txBox="1"/>
          <p:nvPr/>
        </p:nvSpPr>
        <p:spPr>
          <a:xfrm>
            <a:off x="7587323" y="190005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 b="1" u="sng">
                <a:solidFill>
                  <a:schemeClr val="accent6">
                    <a:lumMod val="75000"/>
                  </a:schemeClr>
                </a:solidFill>
              </a:rPr>
              <a:t>現状未実装の所</a:t>
            </a:r>
          </a:p>
        </p:txBody>
      </p:sp>
    </p:spTree>
    <p:extLst>
      <p:ext uri="{BB962C8B-B14F-4D97-AF65-F5344CB8AC3E}">
        <p14:creationId xmlns:p14="http://schemas.microsoft.com/office/powerpoint/2010/main" val="37366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BFD8-A306-F231-7381-576F06C5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3F2BBB6-25B5-19D0-2948-1762EF91B7C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C17144-2875-CC27-C2BD-EB595F825EA0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5E3116E-1EB5-F489-C2D4-1C2923CC07F6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88E5015-31B2-A87C-F0DC-887FB7718AFE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82D1832-899B-02F2-E8F1-A143AC777205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0C1012D-1763-833F-A6D8-BCA19A6C8383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502A607-F9FB-CBA7-E23B-DB3CD2083067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3B2D0F0-CCDE-5903-B9A1-E235D0AFD011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DA70848-9E10-316A-E1BE-E6288D121467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データベースの構造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0BDF59-6BF5-ABB8-706D-B44598275D40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B2A1FE3-7DC1-679C-3866-74DF049A703C}"/>
              </a:ext>
            </a:extLst>
          </p:cNvPr>
          <p:cNvGrpSpPr>
            <a:grpSpLocks noChangeAspect="1"/>
          </p:cNvGrpSpPr>
          <p:nvPr/>
        </p:nvGrpSpPr>
        <p:grpSpPr>
          <a:xfrm>
            <a:off x="7239000" y="1104900"/>
            <a:ext cx="862736" cy="1189692"/>
            <a:chOff x="7152209" y="6753785"/>
            <a:chExt cx="1467851" cy="2024131"/>
          </a:xfrm>
        </p:grpSpPr>
        <p:pic>
          <p:nvPicPr>
            <p:cNvPr id="15" name="グラフィックス 14" descr="データベース 枠線">
              <a:extLst>
                <a:ext uri="{FF2B5EF4-FFF2-40B4-BE49-F238E27FC236}">
                  <a16:creationId xmlns:a16="http://schemas.microsoft.com/office/drawing/2014/main" id="{DE6DA289-C676-CCEB-7541-6855AEF53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699B4EB-B9A9-EC77-7FF9-B3226E82A2E1}"/>
                </a:ext>
              </a:extLst>
            </p:cNvPr>
            <p:cNvSpPr txBox="1"/>
            <p:nvPr/>
          </p:nvSpPr>
          <p:spPr>
            <a:xfrm>
              <a:off x="7152209" y="8201903"/>
              <a:ext cx="1467851" cy="576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16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4075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C3BDE5-03A8-6C95-D679-D2A538C1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9E2E48-AF92-216A-1002-DEA3E5A9E68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447D6A-BFDC-3745-CF2C-34904286CA5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4C651D9-1EE6-1C7D-2CC7-882C9FB9CCD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A204C76-E99B-5105-57AD-276FBC2E2BA9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E0B9951-ED97-3CC3-AB3F-A74BEF52AFF0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FA54D60-D1DF-C503-E758-A1725B7F1E9D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72C7E5-654D-DF39-59DB-24874AF2E09F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9194DF2-DB27-739C-6E37-96485FF3B90B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9381A37-1F11-39F9-EF48-75AAA5BA2057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データ管理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64EC89-5EA3-CF77-5FE7-3A3D5E46BF7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49E536C-E48E-DABD-3BE9-1BA026077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02065"/>
              </p:ext>
            </p:extLst>
          </p:nvPr>
        </p:nvGraphicFramePr>
        <p:xfrm>
          <a:off x="7772400" y="2694232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SQLite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en-US" altLang="ja-JP" sz="2800" b="0" kern="1200" dirty="0">
                        <a:solidFill>
                          <a:schemeClr val="dk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Django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と同様のデータベースに繋げる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(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)</a:t>
                      </a:r>
                      <a:endParaRPr kumimoji="1" lang="en-US" altLang="ja-JP" sz="11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2CD41FB1-EFD5-1397-77AA-B96564880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35547"/>
              </p:ext>
            </p:extLst>
          </p:nvPr>
        </p:nvGraphicFramePr>
        <p:xfrm>
          <a:off x="7772400" y="5976899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ユーザーに表示する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 err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Transcript.objects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を使えばすぐ実装可能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algn="r"/>
                      <a:r>
                        <a:rPr kumimoji="1" lang="ja-JP" altLang="en-US" sz="1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っぽいです</a:t>
                      </a:r>
                      <a:endParaRPr kumimoji="1" lang="en-US" altLang="ja-JP" sz="1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E267013-1DA3-68D7-4223-E1883A6C7627}"/>
              </a:ext>
            </a:extLst>
          </p:cNvPr>
          <p:cNvGrpSpPr/>
          <p:nvPr/>
        </p:nvGrpSpPr>
        <p:grpSpPr>
          <a:xfrm>
            <a:off x="5335892" y="3104658"/>
            <a:ext cx="1426106" cy="1909783"/>
            <a:chOff x="7173083" y="6753785"/>
            <a:chExt cx="1426106" cy="1909783"/>
          </a:xfrm>
        </p:grpSpPr>
        <p:pic>
          <p:nvPicPr>
            <p:cNvPr id="15" name="グラフィックス 14" descr="データベース 枠線">
              <a:extLst>
                <a:ext uri="{FF2B5EF4-FFF2-40B4-BE49-F238E27FC236}">
                  <a16:creationId xmlns:a16="http://schemas.microsoft.com/office/drawing/2014/main" id="{778D5D55-CE0E-F400-3189-B8508308B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BC8DBA3-11C2-1B62-EA18-F386D12076D1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7DA34DF-146F-C9A0-E9B7-8ED419B0DB69}"/>
              </a:ext>
            </a:extLst>
          </p:cNvPr>
          <p:cNvGrpSpPr/>
          <p:nvPr/>
        </p:nvGrpSpPr>
        <p:grpSpPr>
          <a:xfrm>
            <a:off x="1170950" y="2884197"/>
            <a:ext cx="2113079" cy="2604998"/>
            <a:chOff x="2728937" y="6122140"/>
            <a:chExt cx="2113079" cy="2604998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2215DF6-67D0-F733-98B0-99DF11F5726C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F4537C-5863-7DFA-7264-89E965F64122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D0785E0-C73D-AC0A-8E89-FDF39811FB1D}"/>
              </a:ext>
            </a:extLst>
          </p:cNvPr>
          <p:cNvCxnSpPr>
            <a:cxnSpLocks/>
          </p:cNvCxnSpPr>
          <p:nvPr/>
        </p:nvCxnSpPr>
        <p:spPr>
          <a:xfrm>
            <a:off x="3191965" y="3633228"/>
            <a:ext cx="225569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グラフィックス 21" descr="コメント: ハート 単色塗りつぶし">
            <a:extLst>
              <a:ext uri="{FF2B5EF4-FFF2-40B4-BE49-F238E27FC236}">
                <a16:creationId xmlns:a16="http://schemas.microsoft.com/office/drawing/2014/main" id="{B88F2DFF-E4E2-61DB-05E6-32C0F63C5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7774" y="3129872"/>
            <a:ext cx="821125" cy="82112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4EBCFBFC-6885-A848-172A-FD3F28BFB899}"/>
              </a:ext>
            </a:extLst>
          </p:cNvPr>
          <p:cNvGrpSpPr/>
          <p:nvPr/>
        </p:nvGrpSpPr>
        <p:grpSpPr>
          <a:xfrm>
            <a:off x="3157427" y="6447252"/>
            <a:ext cx="1162383" cy="1776969"/>
            <a:chOff x="2197288" y="6628760"/>
            <a:chExt cx="1278614" cy="1734867"/>
          </a:xfrm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C9067BB2-953E-C7DB-7BDC-3D2B695850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042" y="6628760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DCD1096-08D3-BB85-72AE-3DDFC9ADF815}"/>
                </a:ext>
              </a:extLst>
            </p:cNvPr>
            <p:cNvSpPr txBox="1"/>
            <p:nvPr/>
          </p:nvSpPr>
          <p:spPr>
            <a:xfrm>
              <a:off x="2197288" y="7901962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13099CA-D63C-1982-8136-953F0BAAA39C}"/>
              </a:ext>
            </a:extLst>
          </p:cNvPr>
          <p:cNvGrpSpPr/>
          <p:nvPr/>
        </p:nvGrpSpPr>
        <p:grpSpPr>
          <a:xfrm>
            <a:off x="383958" y="6283725"/>
            <a:ext cx="1296468" cy="1956129"/>
            <a:chOff x="7173083" y="6753785"/>
            <a:chExt cx="1426106" cy="1909783"/>
          </a:xfrm>
        </p:grpSpPr>
        <p:pic>
          <p:nvPicPr>
            <p:cNvPr id="30" name="グラフィックス 29" descr="データベース 枠線">
              <a:extLst>
                <a:ext uri="{FF2B5EF4-FFF2-40B4-BE49-F238E27FC236}">
                  <a16:creationId xmlns:a16="http://schemas.microsoft.com/office/drawing/2014/main" id="{C4E79F0B-3B02-099E-989F-0C9C609D3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A5C68BB-0E56-4751-4CCA-B60DA2295282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104F69F2-7D08-CA33-568A-FD6FD7C51B71}"/>
              </a:ext>
            </a:extLst>
          </p:cNvPr>
          <p:cNvGrpSpPr/>
          <p:nvPr/>
        </p:nvGrpSpPr>
        <p:grpSpPr>
          <a:xfrm>
            <a:off x="6150174" y="6299613"/>
            <a:ext cx="1523990" cy="1940241"/>
            <a:chOff x="14518479" y="5789880"/>
            <a:chExt cx="1676379" cy="1894271"/>
          </a:xfrm>
        </p:grpSpPr>
        <p:pic>
          <p:nvPicPr>
            <p:cNvPr id="34" name="グラフィックス 33" descr="男性のプロフィール 枠線">
              <a:extLst>
                <a:ext uri="{FF2B5EF4-FFF2-40B4-BE49-F238E27FC236}">
                  <a16:creationId xmlns:a16="http://schemas.microsoft.com/office/drawing/2014/main" id="{2B76B076-0064-B991-87A5-C9B9ED838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E245590-2FB6-2A12-72A2-10441819AB93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60EE49F-2CEF-1609-0E7C-E66B44AD6CD1}"/>
              </a:ext>
            </a:extLst>
          </p:cNvPr>
          <p:cNvCxnSpPr>
            <a:cxnSpLocks/>
          </p:cNvCxnSpPr>
          <p:nvPr/>
        </p:nvCxnSpPr>
        <p:spPr>
          <a:xfrm>
            <a:off x="1586631" y="7108125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グラフィックス 44" descr="コメント: ハート 単色塗りつぶし">
            <a:extLst>
              <a:ext uri="{FF2B5EF4-FFF2-40B4-BE49-F238E27FC236}">
                <a16:creationId xmlns:a16="http://schemas.microsoft.com/office/drawing/2014/main" id="{2DFAEF9F-6478-4B99-E154-6ACC2D1988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7181" y="6591300"/>
            <a:ext cx="841052" cy="841052"/>
          </a:xfrm>
          <a:prstGeom prst="rect">
            <a:avLst/>
          </a:prstGeom>
        </p:spPr>
      </p:pic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54170A-ABF0-3A56-CF2D-565007252B48}"/>
              </a:ext>
            </a:extLst>
          </p:cNvPr>
          <p:cNvCxnSpPr>
            <a:cxnSpLocks/>
          </p:cNvCxnSpPr>
          <p:nvPr/>
        </p:nvCxnSpPr>
        <p:spPr>
          <a:xfrm>
            <a:off x="4658301" y="7127077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コメント: ハート 単色塗りつぶし">
            <a:extLst>
              <a:ext uri="{FF2B5EF4-FFF2-40B4-BE49-F238E27FC236}">
                <a16:creationId xmlns:a16="http://schemas.microsoft.com/office/drawing/2014/main" id="{D37516AF-3AA1-3637-3457-E28F06791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98851" y="6591300"/>
            <a:ext cx="841052" cy="84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5448</TotalTime>
  <Words>332</Words>
  <Application>Microsoft Macintosh PowerPoint</Application>
  <PresentationFormat>ユーザー設定</PresentationFormat>
  <Paragraphs>105</Paragraphs>
  <Slides>5</Slides>
  <Notes>4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Calibri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　シンプル　年次報告書　プレゼンテーション</dc:title>
  <cp:lastModifiedBy>Momoko SHIRAKAWA</cp:lastModifiedBy>
  <cp:revision>28</cp:revision>
  <dcterms:created xsi:type="dcterms:W3CDTF">2006-08-16T00:00:00Z</dcterms:created>
  <dcterms:modified xsi:type="dcterms:W3CDTF">2025-07-14T04:04:29Z</dcterms:modified>
  <dc:identifier>DAGn9M6bQfc</dc:identifier>
</cp:coreProperties>
</file>