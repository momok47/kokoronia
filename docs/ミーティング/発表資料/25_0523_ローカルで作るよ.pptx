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87" r:id="rId3"/>
    <p:sldId id="290" r:id="rId4"/>
    <p:sldId id="291" r:id="rId5"/>
    <p:sldId id="292" r:id="rId6"/>
    <p:sldId id="284" r:id="rId7"/>
    <p:sldId id="288" r:id="rId8"/>
  </p:sldIdLst>
  <p:sldSz cx="18288000" cy="10287000"/>
  <p:notesSz cx="6858000" cy="9144000"/>
  <p:embeddedFontLst>
    <p:embeddedFont>
      <p:font typeface="游ゴシック" panose="020B0400000000000000" pitchFamily="34" charset="-128"/>
      <p:regular r:id="rId10"/>
      <p:bold r:id="rId11"/>
    </p:embeddedFont>
    <p:embeddedFont>
      <p:font typeface="游ゴシック" panose="020B0400000000000000" pitchFamily="34" charset="-128"/>
      <p:regular r:id="rId1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8E1"/>
    <a:srgbClr val="FFF3B9"/>
    <a:srgbClr val="F7E7AF"/>
    <a:srgbClr val="CFE7F0"/>
    <a:srgbClr val="F4D6E9"/>
    <a:srgbClr val="EDF4BF"/>
    <a:srgbClr val="F4E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淡色スタイル 1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中間スタイル 4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中間スタイル 4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44" autoAdjust="0"/>
    <p:restoredTop sz="91814" autoAdjust="0"/>
  </p:normalViewPr>
  <p:slideViewPr>
    <p:cSldViewPr>
      <p:cViewPr varScale="1">
        <p:scale>
          <a:sx n="97" d="100"/>
          <a:sy n="97" d="100"/>
        </p:scale>
        <p:origin x="1336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5D7B3-D8F9-DB42-9752-C640A49B89F2}" type="datetimeFigureOut">
              <a:rPr kumimoji="1" lang="ja-JP" altLang="en-US" smtClean="0"/>
              <a:t>2025/5/21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3E85BE-9FAD-764D-B84A-7C70829A20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1958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　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E85BE-9FAD-764D-B84A-7C70829A20A9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4918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21D24-9278-325B-1248-C9316A0DD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6553612-8B51-21D6-D171-4B353A5DC1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9118AED-42F3-235F-2531-8094F39AA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　</a:t>
            </a:r>
            <a:r>
              <a:rPr kumimoji="1" lang="en-US" altLang="ja-JP" dirty="0" err="1"/>
              <a:t>django</a:t>
            </a:r>
            <a:r>
              <a:rPr kumimoji="1" lang="ja-JP" altLang="en-US"/>
              <a:t>からリクエストを投げる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C545E76-755C-AD30-3617-E634D9B2B2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E85BE-9FAD-764D-B84A-7C70829A20A9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0154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59249-9173-F34E-B829-B7D5B2D15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F544242-C0FD-A332-929A-EB13E87D5D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DA3C391-C198-5661-2E13-915350F54A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　</a:t>
            </a:r>
            <a:r>
              <a:rPr kumimoji="1" lang="en-US" altLang="ja-JP" dirty="0" err="1"/>
              <a:t>django</a:t>
            </a:r>
            <a:r>
              <a:rPr kumimoji="1" lang="ja-JP" altLang="en-US"/>
              <a:t>からリクエストを投げる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AB182DD-4768-E849-D276-F2BCF1BFDE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E85BE-9FAD-764D-B84A-7C70829A20A9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3231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テーブル　個人情報，興味関心の</a:t>
            </a:r>
            <a:r>
              <a:rPr kumimoji="1" lang="en-US" altLang="ja-JP" dirty="0"/>
              <a:t>2</a:t>
            </a:r>
            <a:r>
              <a:rPr kumimoji="1" lang="ja-JP" altLang="en-US"/>
              <a:t>つ</a:t>
            </a:r>
            <a:endParaRPr kumimoji="1" lang="en-US" altLang="ja-JP" dirty="0"/>
          </a:p>
          <a:p>
            <a:r>
              <a:rPr kumimoji="1" lang="ja-JP" altLang="en-US"/>
              <a:t>マッチングの仕方を考える，ユーザーを作ってみる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E85BE-9FAD-764D-B84A-7C70829A20A9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6784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svg"/><Relationship Id="rId3" Type="http://schemas.openxmlformats.org/officeDocument/2006/relationships/image" Target="../media/image3.png"/><Relationship Id="rId21" Type="http://schemas.openxmlformats.org/officeDocument/2006/relationships/image" Target="../media/image21.sv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svg"/><Relationship Id="rId25" Type="http://schemas.openxmlformats.org/officeDocument/2006/relationships/image" Target="../media/image2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svg"/><Relationship Id="rId20" Type="http://schemas.openxmlformats.org/officeDocument/2006/relationships/image" Target="../media/image20.png"/><Relationship Id="rId29" Type="http://schemas.openxmlformats.org/officeDocument/2006/relationships/image" Target="../media/image2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svg"/><Relationship Id="rId28" Type="http://schemas.openxmlformats.org/officeDocument/2006/relationships/image" Target="../media/image28.png"/><Relationship Id="rId10" Type="http://schemas.openxmlformats.org/officeDocument/2006/relationships/image" Target="../media/image10.svg"/><Relationship Id="rId19" Type="http://schemas.openxmlformats.org/officeDocument/2006/relationships/image" Target="../media/image19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Relationship Id="rId22" Type="http://schemas.openxmlformats.org/officeDocument/2006/relationships/image" Target="../media/image22.png"/><Relationship Id="rId27" Type="http://schemas.openxmlformats.org/officeDocument/2006/relationships/image" Target="../media/image2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svg"/><Relationship Id="rId3" Type="http://schemas.openxmlformats.org/officeDocument/2006/relationships/image" Target="../media/image3.png"/><Relationship Id="rId21" Type="http://schemas.openxmlformats.org/officeDocument/2006/relationships/image" Target="../media/image21.sv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svg"/><Relationship Id="rId25" Type="http://schemas.openxmlformats.org/officeDocument/2006/relationships/image" Target="../media/image25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1.svg"/><Relationship Id="rId20" Type="http://schemas.openxmlformats.org/officeDocument/2006/relationships/image" Target="../media/image20.png"/><Relationship Id="rId29" Type="http://schemas.openxmlformats.org/officeDocument/2006/relationships/image" Target="../media/image2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30.png"/><Relationship Id="rId23" Type="http://schemas.openxmlformats.org/officeDocument/2006/relationships/image" Target="../media/image23.svg"/><Relationship Id="rId28" Type="http://schemas.openxmlformats.org/officeDocument/2006/relationships/image" Target="../media/image28.png"/><Relationship Id="rId10" Type="http://schemas.openxmlformats.org/officeDocument/2006/relationships/image" Target="../media/image10.svg"/><Relationship Id="rId19" Type="http://schemas.openxmlformats.org/officeDocument/2006/relationships/image" Target="../media/image19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Relationship Id="rId22" Type="http://schemas.openxmlformats.org/officeDocument/2006/relationships/image" Target="../media/image22.png"/><Relationship Id="rId27" Type="http://schemas.openxmlformats.org/officeDocument/2006/relationships/image" Target="../media/image2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2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svg"/><Relationship Id="rId3" Type="http://schemas.openxmlformats.org/officeDocument/2006/relationships/image" Target="../media/image3.png"/><Relationship Id="rId21" Type="http://schemas.openxmlformats.org/officeDocument/2006/relationships/image" Target="../media/image21.sv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svg"/><Relationship Id="rId25" Type="http://schemas.openxmlformats.org/officeDocument/2006/relationships/image" Target="../media/image25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3.svg"/><Relationship Id="rId20" Type="http://schemas.openxmlformats.org/officeDocument/2006/relationships/image" Target="../media/image20.png"/><Relationship Id="rId29" Type="http://schemas.openxmlformats.org/officeDocument/2006/relationships/image" Target="../media/image2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32.png"/><Relationship Id="rId23" Type="http://schemas.openxmlformats.org/officeDocument/2006/relationships/image" Target="../media/image23.svg"/><Relationship Id="rId28" Type="http://schemas.openxmlformats.org/officeDocument/2006/relationships/image" Target="../media/image28.png"/><Relationship Id="rId10" Type="http://schemas.openxmlformats.org/officeDocument/2006/relationships/image" Target="../media/image10.svg"/><Relationship Id="rId19" Type="http://schemas.openxmlformats.org/officeDocument/2006/relationships/image" Target="../media/image19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Relationship Id="rId22" Type="http://schemas.openxmlformats.org/officeDocument/2006/relationships/image" Target="../media/image22.png"/><Relationship Id="rId27" Type="http://schemas.openxmlformats.org/officeDocument/2006/relationships/image" Target="../media/image2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7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34.svg"/><Relationship Id="rId3" Type="http://schemas.openxmlformats.org/officeDocument/2006/relationships/image" Target="../media/image9.png"/><Relationship Id="rId7" Type="http://schemas.openxmlformats.org/officeDocument/2006/relationships/image" Target="../media/image20.png"/><Relationship Id="rId12" Type="http://schemas.openxmlformats.org/officeDocument/2006/relationships/image" Target="../media/image2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22.png"/><Relationship Id="rId5" Type="http://schemas.openxmlformats.org/officeDocument/2006/relationships/image" Target="../media/image18.png"/><Relationship Id="rId10" Type="http://schemas.openxmlformats.org/officeDocument/2006/relationships/image" Target="../media/image8.svg"/><Relationship Id="rId4" Type="http://schemas.openxmlformats.org/officeDocument/2006/relationships/image" Target="../media/image10.sv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57250" y="1047750"/>
            <a:ext cx="16573459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AutoShape 3"/>
          <p:cNvSpPr/>
          <p:nvPr/>
        </p:nvSpPr>
        <p:spPr>
          <a:xfrm flipV="1">
            <a:off x="856856" y="904405"/>
            <a:ext cx="16574288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57250" y="9382595"/>
            <a:ext cx="16573500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Freeform 5"/>
          <p:cNvSpPr/>
          <p:nvPr/>
        </p:nvSpPr>
        <p:spPr>
          <a:xfrm flipH="1">
            <a:off x="13374676" y="1505082"/>
            <a:ext cx="5352794" cy="6277264"/>
          </a:xfrm>
          <a:custGeom>
            <a:avLst/>
            <a:gdLst/>
            <a:ahLst/>
            <a:cxnLst/>
            <a:rect l="l" t="t" r="r" b="b"/>
            <a:pathLst>
              <a:path w="5352794" h="6277264">
                <a:moveTo>
                  <a:pt x="5352794" y="0"/>
                </a:moveTo>
                <a:lnTo>
                  <a:pt x="0" y="0"/>
                </a:lnTo>
                <a:lnTo>
                  <a:pt x="0" y="6277264"/>
                </a:lnTo>
                <a:lnTo>
                  <a:pt x="5352794" y="6277264"/>
                </a:lnTo>
                <a:lnTo>
                  <a:pt x="5352794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857250" y="7025641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57250" y="9239250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600200" y="2662210"/>
            <a:ext cx="11049000" cy="40927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1199"/>
              </a:lnSpc>
            </a:pPr>
            <a:r>
              <a:rPr lang="en-US" sz="7200" b="1" spc="399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ローカル環境で</a:t>
            </a:r>
            <a:endParaRPr lang="en-US" sz="7200" b="1" spc="399" dirty="0">
              <a:solidFill>
                <a:srgbClr val="1B1B1B"/>
              </a:solidFill>
              <a:latin typeface="Yu Gothic" panose="020B0400000000000000" pitchFamily="34" charset="-128"/>
              <a:ea typeface="Yu Gothic" panose="020B0400000000000000" pitchFamily="34" charset="-128"/>
              <a:cs typeface="Noto Sans JP Heavy"/>
              <a:sym typeface="Noto Sans JP Heavy"/>
            </a:endParaRPr>
          </a:p>
          <a:p>
            <a:pPr>
              <a:lnSpc>
                <a:spcPts val="11199"/>
              </a:lnSpc>
            </a:pPr>
            <a:r>
              <a:rPr lang="en-US" sz="7200" b="1" spc="399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サービスを実現したい</a:t>
            </a:r>
            <a:r>
              <a:rPr lang="en-US" sz="7200" b="1" spc="399" dirty="0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！</a:t>
            </a:r>
          </a:p>
          <a:p>
            <a:pPr>
              <a:lnSpc>
                <a:spcPts val="11199"/>
              </a:lnSpc>
            </a:pPr>
            <a:r>
              <a:rPr lang="en-US" sz="4000" b="1" spc="399" dirty="0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- </a:t>
            </a:r>
            <a:r>
              <a:rPr lang="en-US" sz="4000" b="1" spc="399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必要な技術要素と今後のタスク</a:t>
            </a:r>
            <a:r>
              <a:rPr lang="en-US" sz="4000" b="1" spc="399" dirty="0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 -</a:t>
            </a:r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A66BA20F-ACCC-3614-9C86-45BD6A5FA5CC}"/>
              </a:ext>
            </a:extLst>
          </p:cNvPr>
          <p:cNvGrpSpPr/>
          <p:nvPr/>
        </p:nvGrpSpPr>
        <p:grpSpPr>
          <a:xfrm>
            <a:off x="1600200" y="1545426"/>
            <a:ext cx="4884852" cy="1116784"/>
            <a:chOff x="1509934" y="1505131"/>
            <a:chExt cx="4884852" cy="1116784"/>
          </a:xfrm>
        </p:grpSpPr>
        <p:grpSp>
          <p:nvGrpSpPr>
            <p:cNvPr id="10" name="Group 10"/>
            <p:cNvGrpSpPr/>
            <p:nvPr/>
          </p:nvGrpSpPr>
          <p:grpSpPr>
            <a:xfrm>
              <a:off x="1722038" y="1505131"/>
              <a:ext cx="4466087" cy="686116"/>
              <a:chOff x="0" y="0"/>
              <a:chExt cx="906552" cy="18070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906552" cy="180706"/>
              </a:xfrm>
              <a:custGeom>
                <a:avLst/>
                <a:gdLst/>
                <a:ahLst/>
                <a:cxnLst/>
                <a:rect l="l" t="t" r="r" b="b"/>
                <a:pathLst>
                  <a:path w="906552" h="180706">
                    <a:moveTo>
                      <a:pt x="0" y="0"/>
                    </a:moveTo>
                    <a:lnTo>
                      <a:pt x="906552" y="0"/>
                    </a:lnTo>
                    <a:lnTo>
                      <a:pt x="906552" y="180706"/>
                    </a:lnTo>
                    <a:lnTo>
                      <a:pt x="0" y="180706"/>
                    </a:lnTo>
                    <a:close/>
                  </a:path>
                </a:pathLst>
              </a:custGeom>
              <a:solidFill>
                <a:srgbClr val="1B1B1B"/>
              </a:solidFill>
            </p:spPr>
            <p:txBody>
              <a:bodyPr/>
              <a:lstStyle/>
              <a:p>
                <a:endParaRPr lang="ja-JP" alt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906552" cy="2283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1509934" y="1580091"/>
              <a:ext cx="4884852" cy="10418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199"/>
                </a:lnSpc>
              </a:pPr>
              <a:r>
                <a:rPr lang="ja-JP" altLang="en-US" sz="2999" b="1" spc="149">
                  <a:solidFill>
                    <a:srgbClr val="F6F6F6"/>
                  </a:solidFill>
                  <a:latin typeface="Yu Gothic" panose="020B0400000000000000" pitchFamily="34" charset="-128"/>
                  <a:ea typeface="Yu Gothic" panose="020B0400000000000000" pitchFamily="34" charset="-128"/>
                  <a:cs typeface="Noto Sans JP Bold"/>
                  <a:sym typeface="Noto Sans JP Bold"/>
                </a:rPr>
                <a:t>発表日：</a:t>
              </a:r>
              <a:r>
                <a:rPr lang="en-US" altLang="ja-JP" sz="2999" b="1" spc="149" dirty="0">
                  <a:solidFill>
                    <a:srgbClr val="F6F6F6"/>
                  </a:solidFill>
                  <a:latin typeface="Yu Gothic" panose="020B0400000000000000" pitchFamily="34" charset="-128"/>
                  <a:ea typeface="Yu Gothic" panose="020B0400000000000000" pitchFamily="34" charset="-128"/>
                  <a:cs typeface="Noto Sans JP Bold"/>
                  <a:sym typeface="Noto Sans JP Bold"/>
                </a:rPr>
                <a:t>2025/05/23</a:t>
              </a:r>
            </a:p>
            <a:p>
              <a:pPr algn="ctr">
                <a:lnSpc>
                  <a:spcPts val="4199"/>
                </a:lnSpc>
              </a:pPr>
              <a:endParaRPr lang="en-US" sz="2999" b="1" spc="149" dirty="0">
                <a:solidFill>
                  <a:srgbClr val="F6F6F6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Bold"/>
                <a:sym typeface="Noto Sans JP Bold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600200" y="7371895"/>
            <a:ext cx="4471529" cy="522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499" b="1" spc="124" dirty="0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ML/DS</a:t>
            </a:r>
            <a:r>
              <a:rPr lang="ja-JP" altLang="en-US" sz="2499" b="1" spc="124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　白川桃子</a:t>
            </a:r>
            <a:endParaRPr lang="en-US" sz="2499" b="1" spc="124" dirty="0">
              <a:solidFill>
                <a:srgbClr val="1B1B1B"/>
              </a:solidFill>
              <a:latin typeface="Yu Gothic" panose="020B0400000000000000" pitchFamily="34" charset="-128"/>
              <a:ea typeface="Yu Gothic" panose="020B0400000000000000" pitchFamily="34" charset="-128"/>
              <a:cs typeface="Noto Sans JP Heavy"/>
              <a:sym typeface="Noto Sans JP Heav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E87F1-FD14-EC7B-D56D-EEEB306EB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AEBAD657-A47A-0346-23E7-56CF3B42F58C}"/>
              </a:ext>
            </a:extLst>
          </p:cNvPr>
          <p:cNvSpPr/>
          <p:nvPr/>
        </p:nvSpPr>
        <p:spPr>
          <a:xfrm>
            <a:off x="393598" y="2420830"/>
            <a:ext cx="918672" cy="2722668"/>
          </a:xfrm>
          <a:prstGeom prst="roundRect">
            <a:avLst/>
          </a:prstGeom>
          <a:solidFill>
            <a:srgbClr val="FFF3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音声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to</a:t>
            </a:r>
          </a:p>
          <a:p>
            <a:pPr algn="ctr"/>
            <a:r>
              <a:rPr kumimoji="1" lang="ja-JP" altLang="en-US">
                <a:solidFill>
                  <a:schemeClr val="tx1"/>
                </a:solidFill>
              </a:rPr>
              <a:t>文字起こし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B9AED69C-9C5C-13A7-1D84-B0C270FB5814}"/>
              </a:ext>
            </a:extLst>
          </p:cNvPr>
          <p:cNvSpPr/>
          <p:nvPr/>
        </p:nvSpPr>
        <p:spPr>
          <a:xfrm>
            <a:off x="857250" y="2361305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0BA38E1E-EA2A-3554-1657-5C685A5666C9}"/>
              </a:ext>
            </a:extLst>
          </p:cNvPr>
          <p:cNvSpPr/>
          <p:nvPr/>
        </p:nvSpPr>
        <p:spPr>
          <a:xfrm>
            <a:off x="857250" y="1047750"/>
            <a:ext cx="16573459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259EFD09-4533-CBFF-0411-21377E8FE492}"/>
              </a:ext>
            </a:extLst>
          </p:cNvPr>
          <p:cNvSpPr/>
          <p:nvPr/>
        </p:nvSpPr>
        <p:spPr>
          <a:xfrm flipV="1">
            <a:off x="856856" y="904405"/>
            <a:ext cx="16574288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CA29F58B-C3D6-AEA8-BA81-7BFB498DC88E}"/>
              </a:ext>
            </a:extLst>
          </p:cNvPr>
          <p:cNvSpPr/>
          <p:nvPr/>
        </p:nvSpPr>
        <p:spPr>
          <a:xfrm>
            <a:off x="857250" y="9382595"/>
            <a:ext cx="16573500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9E320ACE-07B2-106C-E492-C512470ED255}"/>
              </a:ext>
            </a:extLst>
          </p:cNvPr>
          <p:cNvSpPr/>
          <p:nvPr/>
        </p:nvSpPr>
        <p:spPr>
          <a:xfrm>
            <a:off x="857250" y="9239250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D1713880-ED22-ECF9-ECC1-143A9A6A761A}"/>
              </a:ext>
            </a:extLst>
          </p:cNvPr>
          <p:cNvGrpSpPr/>
          <p:nvPr/>
        </p:nvGrpSpPr>
        <p:grpSpPr>
          <a:xfrm>
            <a:off x="1282599" y="650625"/>
            <a:ext cx="1213487" cy="1720205"/>
            <a:chOff x="0" y="0"/>
            <a:chExt cx="319601" cy="45305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09B5832-39F6-FFB2-7083-D702095A824E}"/>
                </a:ext>
              </a:extLst>
            </p:cNvPr>
            <p:cNvSpPr/>
            <p:nvPr/>
          </p:nvSpPr>
          <p:spPr>
            <a:xfrm>
              <a:off x="0" y="0"/>
              <a:ext cx="319601" cy="453058"/>
            </a:xfrm>
            <a:custGeom>
              <a:avLst/>
              <a:gdLst/>
              <a:ahLst/>
              <a:cxnLst/>
              <a:rect l="l" t="t" r="r" b="b"/>
              <a:pathLst>
                <a:path w="319601" h="453058">
                  <a:moveTo>
                    <a:pt x="0" y="0"/>
                  </a:moveTo>
                  <a:lnTo>
                    <a:pt x="319601" y="0"/>
                  </a:lnTo>
                  <a:lnTo>
                    <a:pt x="319601" y="453058"/>
                  </a:lnTo>
                  <a:lnTo>
                    <a:pt x="0" y="453058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3275268-462E-CF6D-71CB-F2244641E34E}"/>
                </a:ext>
              </a:extLst>
            </p:cNvPr>
            <p:cNvSpPr txBox="1"/>
            <p:nvPr/>
          </p:nvSpPr>
          <p:spPr>
            <a:xfrm>
              <a:off x="0" y="-47625"/>
              <a:ext cx="319601" cy="500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60195FC8-8B47-6302-3482-E8BAD62C8055}"/>
              </a:ext>
            </a:extLst>
          </p:cNvPr>
          <p:cNvSpPr txBox="1"/>
          <p:nvPr/>
        </p:nvSpPr>
        <p:spPr>
          <a:xfrm>
            <a:off x="2949343" y="1371153"/>
            <a:ext cx="14309957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 spc="175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ローカル環境でのサービスに必要な技術要素</a:t>
            </a:r>
            <a:endParaRPr lang="en-US" sz="3500" b="1" spc="175" dirty="0">
              <a:solidFill>
                <a:srgbClr val="1B1B1B"/>
              </a:solidFill>
              <a:latin typeface="Yu Gothic" panose="020B0400000000000000" pitchFamily="34" charset="-128"/>
              <a:ea typeface="Yu Gothic" panose="020B0400000000000000" pitchFamily="34" charset="-128"/>
              <a:cs typeface="Noto Sans JP Heavy"/>
              <a:sym typeface="Noto Sans JP Heavy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5E6B5B4-EFC5-156F-66B8-08BE41CD57FF}"/>
              </a:ext>
            </a:extLst>
          </p:cNvPr>
          <p:cNvSpPr txBox="1"/>
          <p:nvPr/>
        </p:nvSpPr>
        <p:spPr>
          <a:xfrm>
            <a:off x="1461953" y="1228278"/>
            <a:ext cx="85477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3500" b="1" u="none" strike="noStrike">
                <a:solidFill>
                  <a:srgbClr val="FAFAFA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Open Sans Bold"/>
                <a:sym typeface="Open Sans Bold"/>
              </a:rPr>
              <a:t>01</a:t>
            </a: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9892E33D-ABFF-42D5-CA65-AEABFB5ACE3F}"/>
              </a:ext>
            </a:extLst>
          </p:cNvPr>
          <p:cNvGrpSpPr/>
          <p:nvPr/>
        </p:nvGrpSpPr>
        <p:grpSpPr>
          <a:xfrm>
            <a:off x="4897196" y="2683594"/>
            <a:ext cx="1855186" cy="2078502"/>
            <a:chOff x="7213805" y="3006543"/>
            <a:chExt cx="1855186" cy="2078502"/>
          </a:xfrm>
        </p:grpSpPr>
        <p:sp>
          <p:nvSpPr>
            <p:cNvPr id="17" name="Freeform 22">
              <a:extLst>
                <a:ext uri="{FF2B5EF4-FFF2-40B4-BE49-F238E27FC236}">
                  <a16:creationId xmlns:a16="http://schemas.microsoft.com/office/drawing/2014/main" id="{6A451030-3030-B0E2-81C7-9AB33C69B7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13805" y="3006543"/>
              <a:ext cx="1855186" cy="1498063"/>
            </a:xfrm>
            <a:custGeom>
              <a:avLst/>
              <a:gdLst/>
              <a:ahLst/>
              <a:cxnLst/>
              <a:rect l="l" t="t" r="r" b="b"/>
              <a:pathLst>
                <a:path w="1855186" h="1498063">
                  <a:moveTo>
                    <a:pt x="0" y="0"/>
                  </a:moveTo>
                  <a:lnTo>
                    <a:pt x="1855187" y="0"/>
                  </a:lnTo>
                  <a:lnTo>
                    <a:pt x="1855187" y="1498063"/>
                  </a:lnTo>
                  <a:lnTo>
                    <a:pt x="0" y="1498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613C9235-E276-F567-8D73-8E5B988930A1}"/>
                </a:ext>
              </a:extLst>
            </p:cNvPr>
            <p:cNvSpPr txBox="1"/>
            <p:nvPr/>
          </p:nvSpPr>
          <p:spPr>
            <a:xfrm>
              <a:off x="7723275" y="4623380"/>
              <a:ext cx="8451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GCS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AEEE6629-B067-CEF1-5958-5362B58CB281}"/>
              </a:ext>
            </a:extLst>
          </p:cNvPr>
          <p:cNvGrpSpPr/>
          <p:nvPr/>
        </p:nvGrpSpPr>
        <p:grpSpPr>
          <a:xfrm>
            <a:off x="9003837" y="2706732"/>
            <a:ext cx="2529860" cy="2055363"/>
            <a:chOff x="11486205" y="3006543"/>
            <a:chExt cx="2529860" cy="2055363"/>
          </a:xfrm>
        </p:grpSpPr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48941D7C-BE7B-710D-F11B-15756D05B3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990296" y="3006543"/>
              <a:ext cx="1521679" cy="1480179"/>
            </a:xfrm>
            <a:custGeom>
              <a:avLst/>
              <a:gdLst/>
              <a:ahLst/>
              <a:cxnLst/>
              <a:rect l="l" t="t" r="r" b="b"/>
              <a:pathLst>
                <a:path w="1521679" h="1480179">
                  <a:moveTo>
                    <a:pt x="0" y="0"/>
                  </a:moveTo>
                  <a:lnTo>
                    <a:pt x="1521679" y="0"/>
                  </a:lnTo>
                  <a:lnTo>
                    <a:pt x="1521679" y="1480179"/>
                  </a:lnTo>
                  <a:lnTo>
                    <a:pt x="0" y="1480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C77DB24D-CBBC-6505-8B5D-A19702939925}"/>
                </a:ext>
              </a:extLst>
            </p:cNvPr>
            <p:cNvSpPr txBox="1"/>
            <p:nvPr/>
          </p:nvSpPr>
          <p:spPr>
            <a:xfrm>
              <a:off x="11486205" y="4600241"/>
              <a:ext cx="25298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Speech-to-Text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821460D5-8B08-1179-FF78-685AF7FA7F85}"/>
              </a:ext>
            </a:extLst>
          </p:cNvPr>
          <p:cNvGrpSpPr/>
          <p:nvPr/>
        </p:nvGrpSpPr>
        <p:grpSpPr>
          <a:xfrm>
            <a:off x="11965490" y="5946787"/>
            <a:ext cx="1339002" cy="1775469"/>
            <a:chOff x="2256509" y="6734974"/>
            <a:chExt cx="1339002" cy="1775469"/>
          </a:xfrm>
        </p:grpSpPr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2AE4931F-F9BD-C1E8-8EA5-F168B91E56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56509" y="6734974"/>
              <a:ext cx="1219860" cy="1247938"/>
            </a:xfrm>
            <a:custGeom>
              <a:avLst/>
              <a:gdLst/>
              <a:ahLst/>
              <a:cxnLst/>
              <a:rect l="l" t="t" r="r" b="b"/>
              <a:pathLst>
                <a:path w="1341162" h="1372032">
                  <a:moveTo>
                    <a:pt x="0" y="0"/>
                  </a:moveTo>
                  <a:lnTo>
                    <a:pt x="1341162" y="0"/>
                  </a:lnTo>
                  <a:lnTo>
                    <a:pt x="1341162" y="1372032"/>
                  </a:lnTo>
                  <a:lnTo>
                    <a:pt x="0" y="1372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1EEEB8BE-D799-2664-8A54-B7C9BA1A9CB6}"/>
                </a:ext>
              </a:extLst>
            </p:cNvPr>
            <p:cNvSpPr txBox="1"/>
            <p:nvPr/>
          </p:nvSpPr>
          <p:spPr>
            <a:xfrm>
              <a:off x="2344848" y="8048778"/>
              <a:ext cx="12506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Django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CA6AF69F-2810-D605-4A65-0350C5BD979E}"/>
              </a:ext>
            </a:extLst>
          </p:cNvPr>
          <p:cNvGrpSpPr/>
          <p:nvPr/>
        </p:nvGrpSpPr>
        <p:grpSpPr>
          <a:xfrm>
            <a:off x="8451602" y="5821161"/>
            <a:ext cx="1426106" cy="1909783"/>
            <a:chOff x="7173083" y="6753785"/>
            <a:chExt cx="1426106" cy="1909783"/>
          </a:xfrm>
        </p:grpSpPr>
        <p:pic>
          <p:nvPicPr>
            <p:cNvPr id="21" name="グラフィックス 20" descr="データベース 枠線">
              <a:extLst>
                <a:ext uri="{FF2B5EF4-FFF2-40B4-BE49-F238E27FC236}">
                  <a16:creationId xmlns:a16="http://schemas.microsoft.com/office/drawing/2014/main" id="{3EC7E8D6-A9E9-9255-68E3-E10A0D81732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73083" y="6753785"/>
              <a:ext cx="1426106" cy="1426106"/>
            </a:xfrm>
            <a:prstGeom prst="rect">
              <a:avLst/>
            </a:prstGeom>
          </p:spPr>
        </p:pic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732C5503-91E9-6D07-2E53-B66F4ADE59A6}"/>
                </a:ext>
              </a:extLst>
            </p:cNvPr>
            <p:cNvSpPr txBox="1"/>
            <p:nvPr/>
          </p:nvSpPr>
          <p:spPr>
            <a:xfrm>
              <a:off x="7284849" y="8201903"/>
              <a:ext cx="12025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SQLite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7430B29A-86E5-92FD-85EB-B73F5ED88DB0}"/>
              </a:ext>
            </a:extLst>
          </p:cNvPr>
          <p:cNvCxnSpPr>
            <a:cxnSpLocks/>
          </p:cNvCxnSpPr>
          <p:nvPr/>
        </p:nvCxnSpPr>
        <p:spPr>
          <a:xfrm>
            <a:off x="2898749" y="3722418"/>
            <a:ext cx="16764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グラフィックス 48" descr="音符 単色塗りつぶし">
            <a:extLst>
              <a:ext uri="{FF2B5EF4-FFF2-40B4-BE49-F238E27FC236}">
                <a16:creationId xmlns:a16="http://schemas.microsoft.com/office/drawing/2014/main" id="{4CA2EFA8-D79E-6A62-6502-12BA51AEA64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92136" y="3304383"/>
            <a:ext cx="634281" cy="634281"/>
          </a:xfrm>
          <a:prstGeom prst="rect">
            <a:avLst/>
          </a:prstGeom>
        </p:spPr>
      </p:pic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5A77B9C6-AC22-4FD7-8621-BF8799ACF2D9}"/>
              </a:ext>
            </a:extLst>
          </p:cNvPr>
          <p:cNvCxnSpPr>
            <a:cxnSpLocks/>
          </p:cNvCxnSpPr>
          <p:nvPr/>
        </p:nvCxnSpPr>
        <p:spPr>
          <a:xfrm>
            <a:off x="7277690" y="3480156"/>
            <a:ext cx="16764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グラフィックス 54" descr="音符 単色塗りつぶし">
            <a:extLst>
              <a:ext uri="{FF2B5EF4-FFF2-40B4-BE49-F238E27FC236}">
                <a16:creationId xmlns:a16="http://schemas.microsoft.com/office/drawing/2014/main" id="{69877350-BA03-4146-1290-17FB7CDBFD4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71077" y="3062121"/>
            <a:ext cx="634281" cy="634281"/>
          </a:xfrm>
          <a:prstGeom prst="rect">
            <a:avLst/>
          </a:prstGeom>
        </p:spPr>
      </p:pic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FA95965F-9C24-9EF0-DC3E-795BCA13149A}"/>
              </a:ext>
            </a:extLst>
          </p:cNvPr>
          <p:cNvCxnSpPr>
            <a:cxnSpLocks/>
          </p:cNvCxnSpPr>
          <p:nvPr/>
        </p:nvCxnSpPr>
        <p:spPr>
          <a:xfrm flipH="1">
            <a:off x="7277690" y="3984468"/>
            <a:ext cx="1676400" cy="575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カギ線コネクタ 69">
            <a:extLst>
              <a:ext uri="{FF2B5EF4-FFF2-40B4-BE49-F238E27FC236}">
                <a16:creationId xmlns:a16="http://schemas.microsoft.com/office/drawing/2014/main" id="{76014496-8700-2CC9-6ECE-FCF7C59B7E4D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029607" y="3282988"/>
            <a:ext cx="941426" cy="712664"/>
          </a:xfrm>
          <a:prstGeom prst="bentConnector3">
            <a:avLst>
              <a:gd name="adj1" fmla="val 12"/>
            </a:avLst>
          </a:prstGeom>
          <a:ln w="571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FE429E25-F6B2-DB11-22AD-558A02B135A2}"/>
              </a:ext>
            </a:extLst>
          </p:cNvPr>
          <p:cNvCxnSpPr>
            <a:cxnSpLocks/>
          </p:cNvCxnSpPr>
          <p:nvPr/>
        </p:nvCxnSpPr>
        <p:spPr>
          <a:xfrm>
            <a:off x="11151209" y="3282987"/>
            <a:ext cx="83820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グラフィックス 80" descr="レシート 単色塗りつぶし">
            <a:extLst>
              <a:ext uri="{FF2B5EF4-FFF2-40B4-BE49-F238E27FC236}">
                <a16:creationId xmlns:a16="http://schemas.microsoft.com/office/drawing/2014/main" id="{9A786BC0-633C-89DD-76ED-D4ED29C1120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971033" y="3062121"/>
            <a:ext cx="1005403" cy="1005403"/>
          </a:xfrm>
          <a:prstGeom prst="rect">
            <a:avLst/>
          </a:prstGeom>
        </p:spPr>
      </p:pic>
      <p:grpSp>
        <p:nvGrpSpPr>
          <p:cNvPr id="83" name="グループ化 82">
            <a:extLst>
              <a:ext uri="{FF2B5EF4-FFF2-40B4-BE49-F238E27FC236}">
                <a16:creationId xmlns:a16="http://schemas.microsoft.com/office/drawing/2014/main" id="{05B8913E-569F-137C-2AD4-C7CB9100E1E9}"/>
              </a:ext>
            </a:extLst>
          </p:cNvPr>
          <p:cNvGrpSpPr/>
          <p:nvPr/>
        </p:nvGrpSpPr>
        <p:grpSpPr>
          <a:xfrm>
            <a:off x="1219200" y="2676668"/>
            <a:ext cx="1565399" cy="2088047"/>
            <a:chOff x="2175483" y="3006543"/>
            <a:chExt cx="1565399" cy="2088047"/>
          </a:xfrm>
        </p:grpSpPr>
        <p:sp>
          <p:nvSpPr>
            <p:cNvPr id="84" name="Freeform 9">
              <a:extLst>
                <a:ext uri="{FF2B5EF4-FFF2-40B4-BE49-F238E27FC236}">
                  <a16:creationId xmlns:a16="http://schemas.microsoft.com/office/drawing/2014/main" id="{B1EA753B-C0F1-C114-01AB-754C9CF057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5483" y="3006543"/>
              <a:ext cx="1565399" cy="1525552"/>
            </a:xfrm>
            <a:custGeom>
              <a:avLst/>
              <a:gdLst/>
              <a:ahLst/>
              <a:cxnLst/>
              <a:rect l="l" t="t" r="r" b="b"/>
              <a:pathLst>
                <a:path w="1565399" h="1525552">
                  <a:moveTo>
                    <a:pt x="0" y="0"/>
                  </a:moveTo>
                  <a:lnTo>
                    <a:pt x="1565399" y="0"/>
                  </a:lnTo>
                  <a:lnTo>
                    <a:pt x="1565399" y="1525552"/>
                  </a:lnTo>
                  <a:lnTo>
                    <a:pt x="0" y="152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85" name="テキスト ボックス 84">
              <a:extLst>
                <a:ext uri="{FF2B5EF4-FFF2-40B4-BE49-F238E27FC236}">
                  <a16:creationId xmlns:a16="http://schemas.microsoft.com/office/drawing/2014/main" id="{6AE4D37B-A477-D1C5-2E68-F0061A83CABB}"/>
                </a:ext>
              </a:extLst>
            </p:cNvPr>
            <p:cNvSpPr txBox="1"/>
            <p:nvPr/>
          </p:nvSpPr>
          <p:spPr>
            <a:xfrm>
              <a:off x="2274341" y="4632925"/>
              <a:ext cx="13676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 err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pyaudio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pic>
        <p:nvPicPr>
          <p:cNvPr id="90" name="グラフィックス 89" descr="レシート 単色塗りつぶし">
            <a:extLst>
              <a:ext uri="{FF2B5EF4-FFF2-40B4-BE49-F238E27FC236}">
                <a16:creationId xmlns:a16="http://schemas.microsoft.com/office/drawing/2014/main" id="{BAAA8BF6-4640-9274-98D9-E61AF8ED808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716016" y="3704938"/>
            <a:ext cx="654366" cy="654366"/>
          </a:xfrm>
          <a:prstGeom prst="rect">
            <a:avLst/>
          </a:prstGeom>
        </p:spPr>
      </p:pic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F758BC07-16F0-B2B7-E584-5278B340DE5F}"/>
              </a:ext>
            </a:extLst>
          </p:cNvPr>
          <p:cNvCxnSpPr>
            <a:cxnSpLocks/>
          </p:cNvCxnSpPr>
          <p:nvPr/>
        </p:nvCxnSpPr>
        <p:spPr>
          <a:xfrm>
            <a:off x="5257800" y="4533900"/>
            <a:ext cx="0" cy="1143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グラフィックス 96" descr="レシート 単色塗りつぶし">
            <a:extLst>
              <a:ext uri="{FF2B5EF4-FFF2-40B4-BE49-F238E27FC236}">
                <a16:creationId xmlns:a16="http://schemas.microsoft.com/office/drawing/2014/main" id="{72E15E6C-73A8-C704-F15A-992EFFB1BC4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908492" y="4641534"/>
            <a:ext cx="654366" cy="654366"/>
          </a:xfrm>
          <a:prstGeom prst="rect">
            <a:avLst/>
          </a:prstGeom>
        </p:spPr>
      </p:pic>
      <p:grpSp>
        <p:nvGrpSpPr>
          <p:cNvPr id="101" name="グループ化 100">
            <a:extLst>
              <a:ext uri="{FF2B5EF4-FFF2-40B4-BE49-F238E27FC236}">
                <a16:creationId xmlns:a16="http://schemas.microsoft.com/office/drawing/2014/main" id="{8A03EE21-7D1F-F2A3-B0EE-C5EAAD56CD9A}"/>
              </a:ext>
            </a:extLst>
          </p:cNvPr>
          <p:cNvGrpSpPr/>
          <p:nvPr/>
        </p:nvGrpSpPr>
        <p:grpSpPr>
          <a:xfrm>
            <a:off x="4286660" y="5600700"/>
            <a:ext cx="2113079" cy="2604998"/>
            <a:chOff x="2728937" y="6122140"/>
            <a:chExt cx="2113079" cy="2604998"/>
          </a:xfrm>
        </p:grpSpPr>
        <p:sp>
          <p:nvSpPr>
            <p:cNvPr id="99" name="Freeform 7">
              <a:extLst>
                <a:ext uri="{FF2B5EF4-FFF2-40B4-BE49-F238E27FC236}">
                  <a16:creationId xmlns:a16="http://schemas.microsoft.com/office/drawing/2014/main" id="{5DF6B8AA-D473-3649-388D-79671053C75D}"/>
                </a:ext>
              </a:extLst>
            </p:cNvPr>
            <p:cNvSpPr/>
            <p:nvPr/>
          </p:nvSpPr>
          <p:spPr>
            <a:xfrm>
              <a:off x="2874802" y="6122140"/>
              <a:ext cx="1821353" cy="1498063"/>
            </a:xfrm>
            <a:custGeom>
              <a:avLst/>
              <a:gdLst/>
              <a:ahLst/>
              <a:cxnLst/>
              <a:rect l="l" t="t" r="r" b="b"/>
              <a:pathLst>
                <a:path w="1821353" h="1498063">
                  <a:moveTo>
                    <a:pt x="0" y="0"/>
                  </a:moveTo>
                  <a:lnTo>
                    <a:pt x="1821353" y="0"/>
                  </a:lnTo>
                  <a:lnTo>
                    <a:pt x="1821353" y="1498063"/>
                  </a:lnTo>
                  <a:lnTo>
                    <a:pt x="0" y="1498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0" name="テキスト ボックス 99">
              <a:extLst>
                <a:ext uri="{FF2B5EF4-FFF2-40B4-BE49-F238E27FC236}">
                  <a16:creationId xmlns:a16="http://schemas.microsoft.com/office/drawing/2014/main" id="{6E6B7711-E43D-F9D3-812B-A1AD7A8AD80B}"/>
                </a:ext>
              </a:extLst>
            </p:cNvPr>
            <p:cNvSpPr txBox="1"/>
            <p:nvPr/>
          </p:nvSpPr>
          <p:spPr>
            <a:xfrm>
              <a:off x="2728937" y="7773031"/>
              <a:ext cx="2113079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4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分析</a:t>
              </a:r>
              <a:endParaRPr kumimoji="1" lang="en-US" altLang="ja-JP" sz="2400" b="1" dirty="0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pPr algn="ctr"/>
              <a:r>
                <a:rPr kumimoji="1" lang="en-US" altLang="ja-JP" sz="16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Zero-shot-learning</a:t>
              </a:r>
            </a:p>
            <a:p>
              <a:pPr algn="ctr"/>
              <a:r>
                <a:rPr kumimoji="1" lang="ja-JP" altLang="en-US" sz="16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マッチングシステム</a:t>
              </a:r>
            </a:p>
          </p:txBody>
        </p:sp>
      </p:grp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14D54574-1919-AF86-5D93-166353CAC04C}"/>
              </a:ext>
            </a:extLst>
          </p:cNvPr>
          <p:cNvCxnSpPr>
            <a:cxnSpLocks/>
          </p:cNvCxnSpPr>
          <p:nvPr/>
        </p:nvCxnSpPr>
        <p:spPr>
          <a:xfrm>
            <a:off x="6307675" y="6349731"/>
            <a:ext cx="225569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7" name="グラフィックス 106" descr="コメント: ハート 単色塗りつぶし">
            <a:extLst>
              <a:ext uri="{FF2B5EF4-FFF2-40B4-BE49-F238E27FC236}">
                <a16:creationId xmlns:a16="http://schemas.microsoft.com/office/drawing/2014/main" id="{0A414D82-115C-432B-4467-20249AB7282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013484" y="5846375"/>
            <a:ext cx="821125" cy="821125"/>
          </a:xfrm>
          <a:prstGeom prst="rect">
            <a:avLst/>
          </a:prstGeom>
        </p:spPr>
      </p:pic>
      <p:grpSp>
        <p:nvGrpSpPr>
          <p:cNvPr id="112" name="グループ化 111">
            <a:extLst>
              <a:ext uri="{FF2B5EF4-FFF2-40B4-BE49-F238E27FC236}">
                <a16:creationId xmlns:a16="http://schemas.microsoft.com/office/drawing/2014/main" id="{99E1AF6A-DBB9-5514-6578-BB8A929E0EBF}"/>
              </a:ext>
            </a:extLst>
          </p:cNvPr>
          <p:cNvGrpSpPr/>
          <p:nvPr/>
        </p:nvGrpSpPr>
        <p:grpSpPr>
          <a:xfrm>
            <a:off x="15316221" y="5816533"/>
            <a:ext cx="1676379" cy="1894271"/>
            <a:chOff x="14518479" y="5789880"/>
            <a:chExt cx="1676379" cy="1894271"/>
          </a:xfrm>
        </p:grpSpPr>
        <p:pic>
          <p:nvPicPr>
            <p:cNvPr id="110" name="グラフィックス 109" descr="男性のプロフィール 枠線">
              <a:extLst>
                <a:ext uri="{FF2B5EF4-FFF2-40B4-BE49-F238E27FC236}">
                  <a16:creationId xmlns:a16="http://schemas.microsoft.com/office/drawing/2014/main" id="{130C339F-4D05-40CD-BFE8-49F0DA7A10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4518479" y="5789880"/>
              <a:ext cx="1676379" cy="1676379"/>
            </a:xfrm>
            <a:prstGeom prst="rect">
              <a:avLst/>
            </a:prstGeom>
          </p:spPr>
        </p:pic>
        <p:sp>
          <p:nvSpPr>
            <p:cNvPr id="111" name="テキスト ボックス 110">
              <a:extLst>
                <a:ext uri="{FF2B5EF4-FFF2-40B4-BE49-F238E27FC236}">
                  <a16:creationId xmlns:a16="http://schemas.microsoft.com/office/drawing/2014/main" id="{864226C7-B22A-9576-07A4-A30319BA2099}"/>
                </a:ext>
              </a:extLst>
            </p:cNvPr>
            <p:cNvSpPr txBox="1"/>
            <p:nvPr/>
          </p:nvSpPr>
          <p:spPr>
            <a:xfrm>
              <a:off x="14648782" y="7222486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ユーザー</a:t>
              </a:r>
            </a:p>
          </p:txBody>
        </p:sp>
      </p:grp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7105FADE-456C-584E-4FEF-0C983B909172}"/>
              </a:ext>
            </a:extLst>
          </p:cNvPr>
          <p:cNvCxnSpPr>
            <a:cxnSpLocks/>
          </p:cNvCxnSpPr>
          <p:nvPr/>
        </p:nvCxnSpPr>
        <p:spPr>
          <a:xfrm>
            <a:off x="9968642" y="6368616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EEF3AD40-1C8D-FEB1-C7AB-E5CC12489332}"/>
              </a:ext>
            </a:extLst>
          </p:cNvPr>
          <p:cNvCxnSpPr>
            <a:cxnSpLocks/>
          </p:cNvCxnSpPr>
          <p:nvPr/>
        </p:nvCxnSpPr>
        <p:spPr>
          <a:xfrm>
            <a:off x="13470269" y="6852919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グラフィックス 118" descr="クリップ 単色塗りつぶし">
            <a:extLst>
              <a:ext uri="{FF2B5EF4-FFF2-40B4-BE49-F238E27FC236}">
                <a16:creationId xmlns:a16="http://schemas.microsoft.com/office/drawing/2014/main" id="{0A6A9963-420F-3D86-E7FA-9D83CFF44CDA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4007074" y="6571589"/>
            <a:ext cx="624053" cy="624053"/>
          </a:xfrm>
          <a:prstGeom prst="rect">
            <a:avLst/>
          </a:prstGeom>
        </p:spPr>
      </p:pic>
      <p:cxnSp>
        <p:nvCxnSpPr>
          <p:cNvPr id="121" name="直線矢印コネクタ 120">
            <a:extLst>
              <a:ext uri="{FF2B5EF4-FFF2-40B4-BE49-F238E27FC236}">
                <a16:creationId xmlns:a16="http://schemas.microsoft.com/office/drawing/2014/main" id="{FDD4FAF7-5A81-F822-57B9-9E1FC6BE4C05}"/>
              </a:ext>
            </a:extLst>
          </p:cNvPr>
          <p:cNvCxnSpPr>
            <a:cxnSpLocks/>
          </p:cNvCxnSpPr>
          <p:nvPr/>
        </p:nvCxnSpPr>
        <p:spPr>
          <a:xfrm>
            <a:off x="9968642" y="6915230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矢印コネクタ 122">
            <a:extLst>
              <a:ext uri="{FF2B5EF4-FFF2-40B4-BE49-F238E27FC236}">
                <a16:creationId xmlns:a16="http://schemas.microsoft.com/office/drawing/2014/main" id="{2E68D9E0-46F1-AA44-E81C-E60078D66E1F}"/>
              </a:ext>
            </a:extLst>
          </p:cNvPr>
          <p:cNvCxnSpPr>
            <a:cxnSpLocks/>
          </p:cNvCxnSpPr>
          <p:nvPr/>
        </p:nvCxnSpPr>
        <p:spPr>
          <a:xfrm>
            <a:off x="13532957" y="6342396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7" name="グラフィックス 126" descr="コメント: ハート 単色塗りつぶし">
            <a:extLst>
              <a:ext uri="{FF2B5EF4-FFF2-40B4-BE49-F238E27FC236}">
                <a16:creationId xmlns:a16="http://schemas.microsoft.com/office/drawing/2014/main" id="{6A017571-F41B-1F9A-2A02-94631B92700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358853" y="5848371"/>
            <a:ext cx="821125" cy="821125"/>
          </a:xfrm>
          <a:prstGeom prst="rect">
            <a:avLst/>
          </a:prstGeom>
        </p:spPr>
      </p:pic>
      <p:pic>
        <p:nvPicPr>
          <p:cNvPr id="128" name="グラフィックス 127" descr="コメント: ハート 単色塗りつぶし">
            <a:extLst>
              <a:ext uri="{FF2B5EF4-FFF2-40B4-BE49-F238E27FC236}">
                <a16:creationId xmlns:a16="http://schemas.microsoft.com/office/drawing/2014/main" id="{60DEF2E2-A270-5549-E67D-E5A0531976C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3877587" y="5846375"/>
            <a:ext cx="821125" cy="821125"/>
          </a:xfrm>
          <a:prstGeom prst="rect">
            <a:avLst/>
          </a:prstGeom>
        </p:spPr>
      </p:pic>
      <p:cxnSp>
        <p:nvCxnSpPr>
          <p:cNvPr id="129" name="直線矢印コネクタ 128">
            <a:extLst>
              <a:ext uri="{FF2B5EF4-FFF2-40B4-BE49-F238E27FC236}">
                <a16:creationId xmlns:a16="http://schemas.microsoft.com/office/drawing/2014/main" id="{76ECD483-8618-CDAB-9EA9-81DC25AF1D9C}"/>
              </a:ext>
            </a:extLst>
          </p:cNvPr>
          <p:cNvCxnSpPr>
            <a:cxnSpLocks/>
            <a:endCxn id="85" idx="2"/>
          </p:cNvCxnSpPr>
          <p:nvPr/>
        </p:nvCxnSpPr>
        <p:spPr>
          <a:xfrm flipV="1">
            <a:off x="2001899" y="4764715"/>
            <a:ext cx="0" cy="400336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9F68F546-0BFA-14F7-EF42-68548A7678ED}"/>
              </a:ext>
            </a:extLst>
          </p:cNvPr>
          <p:cNvCxnSpPr>
            <a:cxnSpLocks/>
          </p:cNvCxnSpPr>
          <p:nvPr/>
        </p:nvCxnSpPr>
        <p:spPr>
          <a:xfrm flipV="1">
            <a:off x="2001899" y="8741919"/>
            <a:ext cx="14152511" cy="8601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矢印コネクタ 135">
            <a:extLst>
              <a:ext uri="{FF2B5EF4-FFF2-40B4-BE49-F238E27FC236}">
                <a16:creationId xmlns:a16="http://schemas.microsoft.com/office/drawing/2014/main" id="{08344B42-7123-950E-7DCD-064503941709}"/>
              </a:ext>
            </a:extLst>
          </p:cNvPr>
          <p:cNvCxnSpPr>
            <a:cxnSpLocks/>
            <a:stCxn id="111" idx="2"/>
          </p:cNvCxnSpPr>
          <p:nvPr/>
        </p:nvCxnSpPr>
        <p:spPr>
          <a:xfrm>
            <a:off x="16154410" y="7710804"/>
            <a:ext cx="0" cy="105728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4" name="グラフィックス 143" descr="クリップ 単色塗りつぶし">
            <a:extLst>
              <a:ext uri="{FF2B5EF4-FFF2-40B4-BE49-F238E27FC236}">
                <a16:creationId xmlns:a16="http://schemas.microsoft.com/office/drawing/2014/main" id="{5B4FA168-9CAD-4E22-40BE-167953E2AB2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519350" y="6665934"/>
            <a:ext cx="624053" cy="624053"/>
          </a:xfrm>
          <a:prstGeom prst="rect">
            <a:avLst/>
          </a:prstGeom>
        </p:spPr>
      </p:pic>
      <p:grpSp>
        <p:nvGrpSpPr>
          <p:cNvPr id="148" name="グループ化 147">
            <a:extLst>
              <a:ext uri="{FF2B5EF4-FFF2-40B4-BE49-F238E27FC236}">
                <a16:creationId xmlns:a16="http://schemas.microsoft.com/office/drawing/2014/main" id="{493B3379-BFE6-5BCB-B8A6-5DF10C5A4993}"/>
              </a:ext>
            </a:extLst>
          </p:cNvPr>
          <p:cNvGrpSpPr/>
          <p:nvPr/>
        </p:nvGrpSpPr>
        <p:grpSpPr>
          <a:xfrm>
            <a:off x="13545657" y="2552260"/>
            <a:ext cx="4552419" cy="2812676"/>
            <a:chOff x="13639800" y="2361306"/>
            <a:chExt cx="4552419" cy="2812676"/>
          </a:xfrm>
        </p:grpSpPr>
        <p:sp>
          <p:nvSpPr>
            <p:cNvPr id="146" name="正方形/長方形 145">
              <a:extLst>
                <a:ext uri="{FF2B5EF4-FFF2-40B4-BE49-F238E27FC236}">
                  <a16:creationId xmlns:a16="http://schemas.microsoft.com/office/drawing/2014/main" id="{4CC0016B-501C-2E9A-355D-EFD4522585D6}"/>
                </a:ext>
              </a:extLst>
            </p:cNvPr>
            <p:cNvSpPr/>
            <p:nvPr/>
          </p:nvSpPr>
          <p:spPr>
            <a:xfrm>
              <a:off x="13639800" y="2361306"/>
              <a:ext cx="4552419" cy="281267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47" name="グループ化 146">
              <a:extLst>
                <a:ext uri="{FF2B5EF4-FFF2-40B4-BE49-F238E27FC236}">
                  <a16:creationId xmlns:a16="http://schemas.microsoft.com/office/drawing/2014/main" id="{EFBF1F7B-971C-CC9D-A15A-08D642499E79}"/>
                </a:ext>
              </a:extLst>
            </p:cNvPr>
            <p:cNvGrpSpPr/>
            <p:nvPr/>
          </p:nvGrpSpPr>
          <p:grpSpPr>
            <a:xfrm>
              <a:off x="13928033" y="2445931"/>
              <a:ext cx="4264186" cy="2615481"/>
              <a:chOff x="13928033" y="2445931"/>
              <a:chExt cx="4264186" cy="2615481"/>
            </a:xfrm>
          </p:grpSpPr>
          <p:sp>
            <p:nvSpPr>
              <p:cNvPr id="87" name="テキスト ボックス 86">
                <a:extLst>
                  <a:ext uri="{FF2B5EF4-FFF2-40B4-BE49-F238E27FC236}">
                    <a16:creationId xmlns:a16="http://schemas.microsoft.com/office/drawing/2014/main" id="{5196FE82-DAC5-FA97-E06A-58C9714AEA6F}"/>
                  </a:ext>
                </a:extLst>
              </p:cNvPr>
              <p:cNvSpPr txBox="1"/>
              <p:nvPr/>
            </p:nvSpPr>
            <p:spPr>
              <a:xfrm>
                <a:off x="14545067" y="2735113"/>
                <a:ext cx="3647152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b="1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：音声データ</a:t>
                </a:r>
                <a:endParaRPr kumimoji="1" lang="en-US" altLang="ja-JP" b="1" dirty="0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  <a:p>
                <a:endParaRPr kumimoji="1" lang="en-US" altLang="ja-JP" b="1" dirty="0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  <a:p>
                <a:r>
                  <a:rPr kumimoji="1" lang="ja-JP" altLang="en-US" b="1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：文字データ</a:t>
                </a:r>
              </a:p>
              <a:p>
                <a:endParaRPr kumimoji="1" lang="en-US" altLang="ja-JP" b="1" dirty="0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  <a:p>
                <a:r>
                  <a:rPr kumimoji="1" lang="ja-JP" altLang="en-US" b="1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：ラベル</a:t>
                </a:r>
                <a:r>
                  <a:rPr kumimoji="1" lang="en-US" altLang="ja-JP" b="1" dirty="0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/</a:t>
                </a:r>
                <a:r>
                  <a:rPr kumimoji="1" lang="ja-JP" altLang="en-US" b="1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スコア</a:t>
                </a:r>
                <a:r>
                  <a:rPr kumimoji="1" lang="en-US" altLang="ja-JP" b="1" dirty="0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/</a:t>
                </a:r>
                <a:r>
                  <a:rPr kumimoji="1" lang="ja-JP" altLang="en-US" b="1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マッチング結果</a:t>
                </a:r>
                <a:endParaRPr kumimoji="1" lang="en-US" altLang="ja-JP" b="1" dirty="0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  <a:p>
                <a:endParaRPr kumimoji="1" lang="en-US" altLang="ja-JP" b="1" dirty="0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  <a:p>
                <a:r>
                  <a:rPr kumimoji="1" lang="ja-JP" altLang="en-US" b="1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：プロフィール</a:t>
                </a:r>
              </a:p>
            </p:txBody>
          </p:sp>
          <p:pic>
            <p:nvPicPr>
              <p:cNvPr id="139" name="グラフィックス 138" descr="音符 単色塗りつぶし">
                <a:extLst>
                  <a:ext uri="{FF2B5EF4-FFF2-40B4-BE49-F238E27FC236}">
                    <a16:creationId xmlns:a16="http://schemas.microsoft.com/office/drawing/2014/main" id="{A9767C68-A5F3-BD83-3D5B-86B8C170BF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3974744" y="2445931"/>
                <a:ext cx="634281" cy="634281"/>
              </a:xfrm>
              <a:prstGeom prst="rect">
                <a:avLst/>
              </a:prstGeom>
            </p:spPr>
          </p:pic>
          <p:pic>
            <p:nvPicPr>
              <p:cNvPr id="141" name="グラフィックス 140" descr="レシート 単色塗りつぶし">
                <a:extLst>
                  <a:ext uri="{FF2B5EF4-FFF2-40B4-BE49-F238E27FC236}">
                    <a16:creationId xmlns:a16="http://schemas.microsoft.com/office/drawing/2014/main" id="{A1A8CCBC-0653-3A44-C69E-2E6D735C28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p:blipFill>
            <p:spPr>
              <a:xfrm>
                <a:off x="13974744" y="3082411"/>
                <a:ext cx="634280" cy="634280"/>
              </a:xfrm>
              <a:prstGeom prst="rect">
                <a:avLst/>
              </a:prstGeom>
            </p:spPr>
          </p:pic>
          <p:pic>
            <p:nvPicPr>
              <p:cNvPr id="142" name="グラフィックス 141" descr="コメント: ハート 単色塗りつぶし">
                <a:extLst>
                  <a:ext uri="{FF2B5EF4-FFF2-40B4-BE49-F238E27FC236}">
                    <a16:creationId xmlns:a16="http://schemas.microsoft.com/office/drawing/2014/main" id="{7F9A63AF-08D5-D61E-A576-1825AD5879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>
                <a:off x="13928033" y="3724109"/>
                <a:ext cx="727703" cy="727703"/>
              </a:xfrm>
              <a:prstGeom prst="rect">
                <a:avLst/>
              </a:prstGeom>
            </p:spPr>
          </p:pic>
          <p:pic>
            <p:nvPicPr>
              <p:cNvPr id="145" name="グラフィックス 144" descr="クリップ 単色塗りつぶし">
                <a:extLst>
                  <a:ext uri="{FF2B5EF4-FFF2-40B4-BE49-F238E27FC236}">
                    <a16:creationId xmlns:a16="http://schemas.microsoft.com/office/drawing/2014/main" id="{623D2738-77B0-F10B-36A5-D3E3D03BE2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p:blipFill>
            <p:spPr>
              <a:xfrm>
                <a:off x="13939610" y="4356863"/>
                <a:ext cx="704549" cy="704549"/>
              </a:xfrm>
              <a:prstGeom prst="rect">
                <a:avLst/>
              </a:prstGeom>
            </p:spPr>
          </p:pic>
        </p:grpSp>
      </p:grpSp>
      <p:sp>
        <p:nvSpPr>
          <p:cNvPr id="28" name="角丸四角形 27">
            <a:extLst>
              <a:ext uri="{FF2B5EF4-FFF2-40B4-BE49-F238E27FC236}">
                <a16:creationId xmlns:a16="http://schemas.microsoft.com/office/drawing/2014/main" id="{1B640D5A-AD2E-C55E-2F1A-C5BD410ABC7E}"/>
              </a:ext>
            </a:extLst>
          </p:cNvPr>
          <p:cNvSpPr/>
          <p:nvPr/>
        </p:nvSpPr>
        <p:spPr>
          <a:xfrm>
            <a:off x="443701" y="5483029"/>
            <a:ext cx="918672" cy="3546669"/>
          </a:xfrm>
          <a:prstGeom prst="roundRect">
            <a:avLst/>
          </a:prstGeom>
          <a:solidFill>
            <a:srgbClr val="FFE8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データ分析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to</a:t>
            </a:r>
          </a:p>
          <a:p>
            <a:pPr algn="ctr"/>
            <a:r>
              <a:rPr kumimoji="1" lang="ja-JP" altLang="en-US">
                <a:solidFill>
                  <a:schemeClr val="tx1"/>
                </a:solidFill>
              </a:rPr>
              <a:t>表示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86B697CA-1182-41DB-2681-8C0EE4FCA11B}"/>
              </a:ext>
            </a:extLst>
          </p:cNvPr>
          <p:cNvCxnSpPr>
            <a:cxnSpLocks/>
          </p:cNvCxnSpPr>
          <p:nvPr/>
        </p:nvCxnSpPr>
        <p:spPr>
          <a:xfrm>
            <a:off x="9416986" y="4824547"/>
            <a:ext cx="0" cy="108077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グラフィックス 34" descr="レシート 単色塗りつぶし">
            <a:extLst>
              <a:ext uri="{FF2B5EF4-FFF2-40B4-BE49-F238E27FC236}">
                <a16:creationId xmlns:a16="http://schemas.microsoft.com/office/drawing/2014/main" id="{B4C9165F-9268-BF64-73AD-F3265439BA6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41390" y="4924435"/>
            <a:ext cx="654366" cy="654366"/>
          </a:xfrm>
          <a:prstGeom prst="rect">
            <a:avLst/>
          </a:prstGeom>
        </p:spPr>
      </p:pic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ABAE8D60-2EB0-30EB-FDA2-84D54AAEBDEC}"/>
              </a:ext>
            </a:extLst>
          </p:cNvPr>
          <p:cNvSpPr txBox="1"/>
          <p:nvPr/>
        </p:nvSpPr>
        <p:spPr>
          <a:xfrm>
            <a:off x="9481286" y="5130798"/>
            <a:ext cx="22797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こうかも？</a:t>
            </a:r>
            <a:endParaRPr kumimoji="1" lang="en-US" altLang="ja-JP" dirty="0"/>
          </a:p>
          <a:p>
            <a:r>
              <a:rPr kumimoji="1" lang="ja-JP" altLang="en-US"/>
              <a:t>どっちにするか考える</a:t>
            </a:r>
          </a:p>
        </p:txBody>
      </p:sp>
    </p:spTree>
    <p:extLst>
      <p:ext uri="{BB962C8B-B14F-4D97-AF65-F5344CB8AC3E}">
        <p14:creationId xmlns:p14="http://schemas.microsoft.com/office/powerpoint/2010/main" val="801786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3FE82-A262-1A7D-27B6-BE813CA50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角丸四角形 39">
            <a:extLst>
              <a:ext uri="{FF2B5EF4-FFF2-40B4-BE49-F238E27FC236}">
                <a16:creationId xmlns:a16="http://schemas.microsoft.com/office/drawing/2014/main" id="{B8CD2464-789D-F32B-016B-3C49469FDAA9}"/>
              </a:ext>
            </a:extLst>
          </p:cNvPr>
          <p:cNvSpPr/>
          <p:nvPr/>
        </p:nvSpPr>
        <p:spPr>
          <a:xfrm>
            <a:off x="393598" y="2420830"/>
            <a:ext cx="918672" cy="2722668"/>
          </a:xfrm>
          <a:prstGeom prst="roundRect">
            <a:avLst/>
          </a:prstGeom>
          <a:solidFill>
            <a:srgbClr val="FFF3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音声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to</a:t>
            </a:r>
          </a:p>
          <a:p>
            <a:pPr algn="ctr"/>
            <a:r>
              <a:rPr kumimoji="1" lang="ja-JP" altLang="en-US">
                <a:solidFill>
                  <a:schemeClr val="tx1"/>
                </a:solidFill>
              </a:rPr>
              <a:t>文字起こし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AC277F61-DF6D-390A-8254-DD28543E8702}"/>
              </a:ext>
            </a:extLst>
          </p:cNvPr>
          <p:cNvSpPr/>
          <p:nvPr/>
        </p:nvSpPr>
        <p:spPr>
          <a:xfrm>
            <a:off x="857250" y="2361305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8DC06F1-CC31-11CC-E026-A83227619A8C}"/>
              </a:ext>
            </a:extLst>
          </p:cNvPr>
          <p:cNvSpPr/>
          <p:nvPr/>
        </p:nvSpPr>
        <p:spPr>
          <a:xfrm>
            <a:off x="857250" y="1047750"/>
            <a:ext cx="16573459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2D8A5D68-3A1C-C6D3-858D-D166C2E79044}"/>
              </a:ext>
            </a:extLst>
          </p:cNvPr>
          <p:cNvSpPr/>
          <p:nvPr/>
        </p:nvSpPr>
        <p:spPr>
          <a:xfrm flipV="1">
            <a:off x="856856" y="904405"/>
            <a:ext cx="16574288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7297E2ED-7363-3DBB-6B7A-F0576EDD74ED}"/>
              </a:ext>
            </a:extLst>
          </p:cNvPr>
          <p:cNvSpPr/>
          <p:nvPr/>
        </p:nvSpPr>
        <p:spPr>
          <a:xfrm>
            <a:off x="857250" y="9382595"/>
            <a:ext cx="16573500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0C93EEE9-4A9A-CC6F-1A41-5B9A116C9F9C}"/>
              </a:ext>
            </a:extLst>
          </p:cNvPr>
          <p:cNvSpPr/>
          <p:nvPr/>
        </p:nvSpPr>
        <p:spPr>
          <a:xfrm>
            <a:off x="857250" y="9239250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7CB0244F-9AE3-1416-EE02-9569FAF46A3C}"/>
              </a:ext>
            </a:extLst>
          </p:cNvPr>
          <p:cNvGrpSpPr/>
          <p:nvPr/>
        </p:nvGrpSpPr>
        <p:grpSpPr>
          <a:xfrm>
            <a:off x="1282599" y="650625"/>
            <a:ext cx="1213487" cy="1720205"/>
            <a:chOff x="0" y="0"/>
            <a:chExt cx="319601" cy="45305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50100BC-C22F-15EA-DEAB-DB5838E0EDBA}"/>
                </a:ext>
              </a:extLst>
            </p:cNvPr>
            <p:cNvSpPr/>
            <p:nvPr/>
          </p:nvSpPr>
          <p:spPr>
            <a:xfrm>
              <a:off x="0" y="0"/>
              <a:ext cx="319601" cy="453058"/>
            </a:xfrm>
            <a:custGeom>
              <a:avLst/>
              <a:gdLst/>
              <a:ahLst/>
              <a:cxnLst/>
              <a:rect l="l" t="t" r="r" b="b"/>
              <a:pathLst>
                <a:path w="319601" h="453058">
                  <a:moveTo>
                    <a:pt x="0" y="0"/>
                  </a:moveTo>
                  <a:lnTo>
                    <a:pt x="319601" y="0"/>
                  </a:lnTo>
                  <a:lnTo>
                    <a:pt x="319601" y="453058"/>
                  </a:lnTo>
                  <a:lnTo>
                    <a:pt x="0" y="453058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BD622622-16E1-6A8C-6120-609E4FB32C24}"/>
                </a:ext>
              </a:extLst>
            </p:cNvPr>
            <p:cNvSpPr txBox="1"/>
            <p:nvPr/>
          </p:nvSpPr>
          <p:spPr>
            <a:xfrm>
              <a:off x="0" y="-47625"/>
              <a:ext cx="319601" cy="500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D9FAACE6-0D33-B761-D821-3434D936EE4C}"/>
              </a:ext>
            </a:extLst>
          </p:cNvPr>
          <p:cNvSpPr txBox="1"/>
          <p:nvPr/>
        </p:nvSpPr>
        <p:spPr>
          <a:xfrm>
            <a:off x="2949343" y="1371153"/>
            <a:ext cx="14309957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 spc="175" dirty="0" err="1">
                <a:solidFill>
                  <a:srgbClr val="C00000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未Done</a:t>
            </a:r>
            <a:r>
              <a:rPr lang="ja-JP" altLang="en-US" sz="3500" b="1" spc="175">
                <a:solidFill>
                  <a:srgbClr val="C00000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　</a:t>
            </a:r>
            <a:r>
              <a:rPr lang="en-US" sz="3500" b="1" spc="175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ローカル環境でのサービスに必要な技術要素</a:t>
            </a:r>
            <a:endParaRPr lang="en-US" sz="3500" b="1" spc="175" dirty="0">
              <a:solidFill>
                <a:srgbClr val="1B1B1B"/>
              </a:solidFill>
              <a:latin typeface="Yu Gothic" panose="020B0400000000000000" pitchFamily="34" charset="-128"/>
              <a:ea typeface="Yu Gothic" panose="020B0400000000000000" pitchFamily="34" charset="-128"/>
              <a:cs typeface="Noto Sans JP Heavy"/>
              <a:sym typeface="Noto Sans JP Heavy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FD24882-2F66-69B1-E1C6-8F2EC2FD15B2}"/>
              </a:ext>
            </a:extLst>
          </p:cNvPr>
          <p:cNvSpPr txBox="1"/>
          <p:nvPr/>
        </p:nvSpPr>
        <p:spPr>
          <a:xfrm>
            <a:off x="1461953" y="1228278"/>
            <a:ext cx="85477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3500" b="1" u="none" strike="noStrike">
                <a:solidFill>
                  <a:srgbClr val="FAFAFA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Open Sans Bold"/>
                <a:sym typeface="Open Sans Bold"/>
              </a:rPr>
              <a:t>01</a:t>
            </a: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79EF15E6-1AEF-EA2D-6A01-7932D1B9DDC6}"/>
              </a:ext>
            </a:extLst>
          </p:cNvPr>
          <p:cNvGrpSpPr/>
          <p:nvPr/>
        </p:nvGrpSpPr>
        <p:grpSpPr>
          <a:xfrm>
            <a:off x="4897196" y="2683594"/>
            <a:ext cx="1855186" cy="2078502"/>
            <a:chOff x="7213805" y="3006543"/>
            <a:chExt cx="1855186" cy="2078502"/>
          </a:xfrm>
        </p:grpSpPr>
        <p:sp>
          <p:nvSpPr>
            <p:cNvPr id="17" name="Freeform 22">
              <a:extLst>
                <a:ext uri="{FF2B5EF4-FFF2-40B4-BE49-F238E27FC236}">
                  <a16:creationId xmlns:a16="http://schemas.microsoft.com/office/drawing/2014/main" id="{0E752DA8-B4B0-DF82-88A8-FA2278C082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13805" y="3006543"/>
              <a:ext cx="1855186" cy="1498063"/>
            </a:xfrm>
            <a:custGeom>
              <a:avLst/>
              <a:gdLst/>
              <a:ahLst/>
              <a:cxnLst/>
              <a:rect l="l" t="t" r="r" b="b"/>
              <a:pathLst>
                <a:path w="1855186" h="1498063">
                  <a:moveTo>
                    <a:pt x="0" y="0"/>
                  </a:moveTo>
                  <a:lnTo>
                    <a:pt x="1855187" y="0"/>
                  </a:lnTo>
                  <a:lnTo>
                    <a:pt x="1855187" y="1498063"/>
                  </a:lnTo>
                  <a:lnTo>
                    <a:pt x="0" y="1498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FC066E4B-E84D-B65D-4814-1727B8337EE4}"/>
                </a:ext>
              </a:extLst>
            </p:cNvPr>
            <p:cNvSpPr txBox="1"/>
            <p:nvPr/>
          </p:nvSpPr>
          <p:spPr>
            <a:xfrm>
              <a:off x="7723275" y="4623380"/>
              <a:ext cx="8451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GCS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20EFB843-99F1-5F32-0511-86A79678ACDA}"/>
              </a:ext>
            </a:extLst>
          </p:cNvPr>
          <p:cNvGrpSpPr/>
          <p:nvPr/>
        </p:nvGrpSpPr>
        <p:grpSpPr>
          <a:xfrm>
            <a:off x="9003837" y="2706732"/>
            <a:ext cx="2529860" cy="2055363"/>
            <a:chOff x="11486205" y="3006543"/>
            <a:chExt cx="2529860" cy="2055363"/>
          </a:xfrm>
        </p:grpSpPr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EC370B18-D25F-789C-BDC2-1320515DB7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990296" y="3006543"/>
              <a:ext cx="1521679" cy="1480179"/>
            </a:xfrm>
            <a:custGeom>
              <a:avLst/>
              <a:gdLst/>
              <a:ahLst/>
              <a:cxnLst/>
              <a:rect l="l" t="t" r="r" b="b"/>
              <a:pathLst>
                <a:path w="1521679" h="1480179">
                  <a:moveTo>
                    <a:pt x="0" y="0"/>
                  </a:moveTo>
                  <a:lnTo>
                    <a:pt x="1521679" y="0"/>
                  </a:lnTo>
                  <a:lnTo>
                    <a:pt x="1521679" y="1480179"/>
                  </a:lnTo>
                  <a:lnTo>
                    <a:pt x="0" y="1480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3AE8A31A-C0E1-8D98-802E-4A511FB37635}"/>
                </a:ext>
              </a:extLst>
            </p:cNvPr>
            <p:cNvSpPr txBox="1"/>
            <p:nvPr/>
          </p:nvSpPr>
          <p:spPr>
            <a:xfrm>
              <a:off x="11486205" y="4600241"/>
              <a:ext cx="25298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Speech-to-Text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D059D534-90B4-A928-C201-B23D3C944475}"/>
              </a:ext>
            </a:extLst>
          </p:cNvPr>
          <p:cNvGrpSpPr/>
          <p:nvPr/>
        </p:nvGrpSpPr>
        <p:grpSpPr>
          <a:xfrm>
            <a:off x="11965490" y="5946787"/>
            <a:ext cx="1339002" cy="1775469"/>
            <a:chOff x="2256509" y="6734974"/>
            <a:chExt cx="1339002" cy="1775469"/>
          </a:xfrm>
        </p:grpSpPr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21FD95CF-F871-B49B-1722-EC58CF735B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56509" y="6734974"/>
              <a:ext cx="1219860" cy="1247938"/>
            </a:xfrm>
            <a:custGeom>
              <a:avLst/>
              <a:gdLst/>
              <a:ahLst/>
              <a:cxnLst/>
              <a:rect l="l" t="t" r="r" b="b"/>
              <a:pathLst>
                <a:path w="1341162" h="1372032">
                  <a:moveTo>
                    <a:pt x="0" y="0"/>
                  </a:moveTo>
                  <a:lnTo>
                    <a:pt x="1341162" y="0"/>
                  </a:lnTo>
                  <a:lnTo>
                    <a:pt x="1341162" y="1372032"/>
                  </a:lnTo>
                  <a:lnTo>
                    <a:pt x="0" y="1372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92AD8DBD-1094-E7A9-B55D-0BA9CF9949A8}"/>
                </a:ext>
              </a:extLst>
            </p:cNvPr>
            <p:cNvSpPr txBox="1"/>
            <p:nvPr/>
          </p:nvSpPr>
          <p:spPr>
            <a:xfrm>
              <a:off x="2344848" y="8048778"/>
              <a:ext cx="12506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Django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F0933A75-A466-300B-2108-E6E801539363}"/>
              </a:ext>
            </a:extLst>
          </p:cNvPr>
          <p:cNvGrpSpPr/>
          <p:nvPr/>
        </p:nvGrpSpPr>
        <p:grpSpPr>
          <a:xfrm>
            <a:off x="8451602" y="5821161"/>
            <a:ext cx="1426106" cy="1909783"/>
            <a:chOff x="7173083" y="6753785"/>
            <a:chExt cx="1426106" cy="1909783"/>
          </a:xfrm>
        </p:grpSpPr>
        <p:pic>
          <p:nvPicPr>
            <p:cNvPr id="21" name="グラフィックス 20" descr="データベース 枠線">
              <a:extLst>
                <a:ext uri="{FF2B5EF4-FFF2-40B4-BE49-F238E27FC236}">
                  <a16:creationId xmlns:a16="http://schemas.microsoft.com/office/drawing/2014/main" id="{3179E986-9A7F-1300-623B-1F06C72A6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73083" y="6753785"/>
              <a:ext cx="1426106" cy="1426106"/>
            </a:xfrm>
            <a:prstGeom prst="rect">
              <a:avLst/>
            </a:prstGeom>
          </p:spPr>
        </p:pic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8781E9F3-C1BC-0C06-EE05-6CD2B61AEA1A}"/>
                </a:ext>
              </a:extLst>
            </p:cNvPr>
            <p:cNvSpPr txBox="1"/>
            <p:nvPr/>
          </p:nvSpPr>
          <p:spPr>
            <a:xfrm>
              <a:off x="7284849" y="8201903"/>
              <a:ext cx="12025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SQLite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6676DE48-4FC7-2F9F-7B0F-9B04EA49545D}"/>
              </a:ext>
            </a:extLst>
          </p:cNvPr>
          <p:cNvCxnSpPr>
            <a:cxnSpLocks/>
          </p:cNvCxnSpPr>
          <p:nvPr/>
        </p:nvCxnSpPr>
        <p:spPr>
          <a:xfrm>
            <a:off x="2898749" y="3722418"/>
            <a:ext cx="1676400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グラフィックス 48" descr="音符 単色塗りつぶし">
            <a:extLst>
              <a:ext uri="{FF2B5EF4-FFF2-40B4-BE49-F238E27FC236}">
                <a16:creationId xmlns:a16="http://schemas.microsoft.com/office/drawing/2014/main" id="{A7B7DF28-1252-AD75-05FA-996195CB474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92136" y="3304383"/>
            <a:ext cx="634281" cy="634281"/>
          </a:xfrm>
          <a:prstGeom prst="rect">
            <a:avLst/>
          </a:prstGeom>
        </p:spPr>
      </p:pic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EFB1D520-AF3F-FBC3-9285-22FE796B6E75}"/>
              </a:ext>
            </a:extLst>
          </p:cNvPr>
          <p:cNvCxnSpPr>
            <a:cxnSpLocks/>
          </p:cNvCxnSpPr>
          <p:nvPr/>
        </p:nvCxnSpPr>
        <p:spPr>
          <a:xfrm>
            <a:off x="7277690" y="3480156"/>
            <a:ext cx="16764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グラフィックス 54" descr="音符 単色塗りつぶし">
            <a:extLst>
              <a:ext uri="{FF2B5EF4-FFF2-40B4-BE49-F238E27FC236}">
                <a16:creationId xmlns:a16="http://schemas.microsoft.com/office/drawing/2014/main" id="{5521EC3E-B282-9670-E570-80BD10589A9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71077" y="3062121"/>
            <a:ext cx="634281" cy="634281"/>
          </a:xfrm>
          <a:prstGeom prst="rect">
            <a:avLst/>
          </a:prstGeom>
        </p:spPr>
      </p:pic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B028603C-EC33-D9E2-84A8-F46EEA3FD8DD}"/>
              </a:ext>
            </a:extLst>
          </p:cNvPr>
          <p:cNvCxnSpPr>
            <a:cxnSpLocks/>
          </p:cNvCxnSpPr>
          <p:nvPr/>
        </p:nvCxnSpPr>
        <p:spPr>
          <a:xfrm flipH="1">
            <a:off x="7277690" y="3984468"/>
            <a:ext cx="1676400" cy="5755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カギ線コネクタ 69">
            <a:extLst>
              <a:ext uri="{FF2B5EF4-FFF2-40B4-BE49-F238E27FC236}">
                <a16:creationId xmlns:a16="http://schemas.microsoft.com/office/drawing/2014/main" id="{72A8D191-FABE-DA6E-8AB9-9B7FAECB42E8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029607" y="3282988"/>
            <a:ext cx="941426" cy="712664"/>
          </a:xfrm>
          <a:prstGeom prst="bentConnector3">
            <a:avLst>
              <a:gd name="adj1" fmla="val 12"/>
            </a:avLst>
          </a:prstGeom>
          <a:ln w="571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70413A3C-2F40-1595-2456-1A2BF3E9451D}"/>
              </a:ext>
            </a:extLst>
          </p:cNvPr>
          <p:cNvCxnSpPr>
            <a:cxnSpLocks/>
          </p:cNvCxnSpPr>
          <p:nvPr/>
        </p:nvCxnSpPr>
        <p:spPr>
          <a:xfrm>
            <a:off x="11151209" y="3282987"/>
            <a:ext cx="83820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グラフィックス 80" descr="レシート 単色塗りつぶし">
            <a:extLst>
              <a:ext uri="{FF2B5EF4-FFF2-40B4-BE49-F238E27FC236}">
                <a16:creationId xmlns:a16="http://schemas.microsoft.com/office/drawing/2014/main" id="{3EE2834D-B1ED-8270-7CE1-E499684F3C3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971033" y="3062121"/>
            <a:ext cx="1005403" cy="1005403"/>
          </a:xfrm>
          <a:prstGeom prst="rect">
            <a:avLst/>
          </a:prstGeom>
        </p:spPr>
      </p:pic>
      <p:grpSp>
        <p:nvGrpSpPr>
          <p:cNvPr id="83" name="グループ化 82">
            <a:extLst>
              <a:ext uri="{FF2B5EF4-FFF2-40B4-BE49-F238E27FC236}">
                <a16:creationId xmlns:a16="http://schemas.microsoft.com/office/drawing/2014/main" id="{4D914490-F8E6-0104-32D3-84A156EC3B3C}"/>
              </a:ext>
            </a:extLst>
          </p:cNvPr>
          <p:cNvGrpSpPr/>
          <p:nvPr/>
        </p:nvGrpSpPr>
        <p:grpSpPr>
          <a:xfrm>
            <a:off x="1219200" y="2676668"/>
            <a:ext cx="1565399" cy="2088047"/>
            <a:chOff x="2175483" y="3006543"/>
            <a:chExt cx="1565399" cy="2088047"/>
          </a:xfrm>
        </p:grpSpPr>
        <p:sp>
          <p:nvSpPr>
            <p:cNvPr id="84" name="Freeform 9">
              <a:extLst>
                <a:ext uri="{FF2B5EF4-FFF2-40B4-BE49-F238E27FC236}">
                  <a16:creationId xmlns:a16="http://schemas.microsoft.com/office/drawing/2014/main" id="{BC2CA17C-835C-A5E0-82D1-2DDDB1D988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5483" y="3006543"/>
              <a:ext cx="1565399" cy="1525552"/>
            </a:xfrm>
            <a:custGeom>
              <a:avLst/>
              <a:gdLst/>
              <a:ahLst/>
              <a:cxnLst/>
              <a:rect l="l" t="t" r="r" b="b"/>
              <a:pathLst>
                <a:path w="1565399" h="1525552">
                  <a:moveTo>
                    <a:pt x="0" y="0"/>
                  </a:moveTo>
                  <a:lnTo>
                    <a:pt x="1565399" y="0"/>
                  </a:lnTo>
                  <a:lnTo>
                    <a:pt x="1565399" y="1525552"/>
                  </a:lnTo>
                  <a:lnTo>
                    <a:pt x="0" y="152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85" name="テキスト ボックス 84">
              <a:extLst>
                <a:ext uri="{FF2B5EF4-FFF2-40B4-BE49-F238E27FC236}">
                  <a16:creationId xmlns:a16="http://schemas.microsoft.com/office/drawing/2014/main" id="{9EED3C06-2D59-6DDB-E1B9-9378400AB69E}"/>
                </a:ext>
              </a:extLst>
            </p:cNvPr>
            <p:cNvSpPr txBox="1"/>
            <p:nvPr/>
          </p:nvSpPr>
          <p:spPr>
            <a:xfrm>
              <a:off x="2274341" y="4632925"/>
              <a:ext cx="13676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 err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pyaudio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pic>
        <p:nvPicPr>
          <p:cNvPr id="90" name="グラフィックス 89" descr="レシート 単色塗りつぶし">
            <a:extLst>
              <a:ext uri="{FF2B5EF4-FFF2-40B4-BE49-F238E27FC236}">
                <a16:creationId xmlns:a16="http://schemas.microsoft.com/office/drawing/2014/main" id="{5FD6AE97-507E-E4E6-0734-DDF2DD8179B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716016" y="3704938"/>
            <a:ext cx="654366" cy="654366"/>
          </a:xfrm>
          <a:prstGeom prst="rect">
            <a:avLst/>
          </a:prstGeom>
        </p:spPr>
      </p:pic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860DFBC3-1F2D-E740-BD0F-7213A4727FA1}"/>
              </a:ext>
            </a:extLst>
          </p:cNvPr>
          <p:cNvCxnSpPr>
            <a:cxnSpLocks/>
          </p:cNvCxnSpPr>
          <p:nvPr/>
        </p:nvCxnSpPr>
        <p:spPr>
          <a:xfrm>
            <a:off x="5257800" y="4533900"/>
            <a:ext cx="0" cy="1143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グラフィックス 96" descr="レシート 単色塗りつぶし">
            <a:extLst>
              <a:ext uri="{FF2B5EF4-FFF2-40B4-BE49-F238E27FC236}">
                <a16:creationId xmlns:a16="http://schemas.microsoft.com/office/drawing/2014/main" id="{5EE2E428-9753-CBE9-A866-CD81E4E81FE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908492" y="4641534"/>
            <a:ext cx="654366" cy="654366"/>
          </a:xfrm>
          <a:prstGeom prst="rect">
            <a:avLst/>
          </a:prstGeom>
        </p:spPr>
      </p:pic>
      <p:grpSp>
        <p:nvGrpSpPr>
          <p:cNvPr id="101" name="グループ化 100">
            <a:extLst>
              <a:ext uri="{FF2B5EF4-FFF2-40B4-BE49-F238E27FC236}">
                <a16:creationId xmlns:a16="http://schemas.microsoft.com/office/drawing/2014/main" id="{9DAEBBE9-2921-98AA-DA0B-394792A2C830}"/>
              </a:ext>
            </a:extLst>
          </p:cNvPr>
          <p:cNvGrpSpPr/>
          <p:nvPr/>
        </p:nvGrpSpPr>
        <p:grpSpPr>
          <a:xfrm>
            <a:off x="4286660" y="5600700"/>
            <a:ext cx="2113079" cy="2604998"/>
            <a:chOff x="2728937" y="6122140"/>
            <a:chExt cx="2113079" cy="2604998"/>
          </a:xfrm>
        </p:grpSpPr>
        <p:sp>
          <p:nvSpPr>
            <p:cNvPr id="99" name="Freeform 7">
              <a:extLst>
                <a:ext uri="{FF2B5EF4-FFF2-40B4-BE49-F238E27FC236}">
                  <a16:creationId xmlns:a16="http://schemas.microsoft.com/office/drawing/2014/main" id="{43CFBE1D-7216-1399-7C71-E588345DF22C}"/>
                </a:ext>
              </a:extLst>
            </p:cNvPr>
            <p:cNvSpPr/>
            <p:nvPr/>
          </p:nvSpPr>
          <p:spPr>
            <a:xfrm>
              <a:off x="2874802" y="6122140"/>
              <a:ext cx="1821353" cy="1498063"/>
            </a:xfrm>
            <a:custGeom>
              <a:avLst/>
              <a:gdLst/>
              <a:ahLst/>
              <a:cxnLst/>
              <a:rect l="l" t="t" r="r" b="b"/>
              <a:pathLst>
                <a:path w="1821353" h="1498063">
                  <a:moveTo>
                    <a:pt x="0" y="0"/>
                  </a:moveTo>
                  <a:lnTo>
                    <a:pt x="1821353" y="0"/>
                  </a:lnTo>
                  <a:lnTo>
                    <a:pt x="1821353" y="1498063"/>
                  </a:lnTo>
                  <a:lnTo>
                    <a:pt x="0" y="1498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0" name="テキスト ボックス 99">
              <a:extLst>
                <a:ext uri="{FF2B5EF4-FFF2-40B4-BE49-F238E27FC236}">
                  <a16:creationId xmlns:a16="http://schemas.microsoft.com/office/drawing/2014/main" id="{BDE9205E-3823-6111-08EF-11CEDE8448CB}"/>
                </a:ext>
              </a:extLst>
            </p:cNvPr>
            <p:cNvSpPr txBox="1"/>
            <p:nvPr/>
          </p:nvSpPr>
          <p:spPr>
            <a:xfrm>
              <a:off x="2728937" y="7773031"/>
              <a:ext cx="2113079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4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分析</a:t>
              </a:r>
              <a:endParaRPr kumimoji="1" lang="en-US" altLang="ja-JP" sz="2400" b="1" dirty="0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pPr algn="ctr"/>
              <a:r>
                <a:rPr kumimoji="1" lang="en-US" altLang="ja-JP" sz="16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Zero-shot-learning</a:t>
              </a:r>
            </a:p>
            <a:p>
              <a:pPr algn="ctr"/>
              <a:r>
                <a:rPr kumimoji="1" lang="ja-JP" altLang="en-US" sz="16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マッチングシステム</a:t>
              </a:r>
            </a:p>
          </p:txBody>
        </p:sp>
      </p:grp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4B8CC766-0D30-53BC-BBE2-6094258CF7C9}"/>
              </a:ext>
            </a:extLst>
          </p:cNvPr>
          <p:cNvCxnSpPr>
            <a:cxnSpLocks/>
          </p:cNvCxnSpPr>
          <p:nvPr/>
        </p:nvCxnSpPr>
        <p:spPr>
          <a:xfrm>
            <a:off x="6307675" y="6349731"/>
            <a:ext cx="2255693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7" name="グラフィックス 106" descr="コメント: ハート 単色塗りつぶし">
            <a:extLst>
              <a:ext uri="{FF2B5EF4-FFF2-40B4-BE49-F238E27FC236}">
                <a16:creationId xmlns:a16="http://schemas.microsoft.com/office/drawing/2014/main" id="{45C79CDD-2CB6-AFBB-A80C-C5B7E66AE3B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013484" y="5846375"/>
            <a:ext cx="821125" cy="821125"/>
          </a:xfrm>
          <a:prstGeom prst="rect">
            <a:avLst/>
          </a:prstGeom>
        </p:spPr>
      </p:pic>
      <p:grpSp>
        <p:nvGrpSpPr>
          <p:cNvPr id="112" name="グループ化 111">
            <a:extLst>
              <a:ext uri="{FF2B5EF4-FFF2-40B4-BE49-F238E27FC236}">
                <a16:creationId xmlns:a16="http://schemas.microsoft.com/office/drawing/2014/main" id="{A8D0032E-29FC-0F09-F67D-E67E2DBD7955}"/>
              </a:ext>
            </a:extLst>
          </p:cNvPr>
          <p:cNvGrpSpPr/>
          <p:nvPr/>
        </p:nvGrpSpPr>
        <p:grpSpPr>
          <a:xfrm>
            <a:off x="15316221" y="5816533"/>
            <a:ext cx="1676379" cy="1894271"/>
            <a:chOff x="14518479" y="5789880"/>
            <a:chExt cx="1676379" cy="1894271"/>
          </a:xfrm>
        </p:grpSpPr>
        <p:pic>
          <p:nvPicPr>
            <p:cNvPr id="110" name="グラフィックス 109" descr="男性のプロフィール 枠線">
              <a:extLst>
                <a:ext uri="{FF2B5EF4-FFF2-40B4-BE49-F238E27FC236}">
                  <a16:creationId xmlns:a16="http://schemas.microsoft.com/office/drawing/2014/main" id="{F6167D3C-C550-FAF4-9090-80A54723DF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4518479" y="5789880"/>
              <a:ext cx="1676379" cy="1676379"/>
            </a:xfrm>
            <a:prstGeom prst="rect">
              <a:avLst/>
            </a:prstGeom>
          </p:spPr>
        </p:pic>
        <p:sp>
          <p:nvSpPr>
            <p:cNvPr id="111" name="テキスト ボックス 110">
              <a:extLst>
                <a:ext uri="{FF2B5EF4-FFF2-40B4-BE49-F238E27FC236}">
                  <a16:creationId xmlns:a16="http://schemas.microsoft.com/office/drawing/2014/main" id="{5CBE39AD-47EC-4273-0ECB-5F10EB115AD4}"/>
                </a:ext>
              </a:extLst>
            </p:cNvPr>
            <p:cNvSpPr txBox="1"/>
            <p:nvPr/>
          </p:nvSpPr>
          <p:spPr>
            <a:xfrm>
              <a:off x="14648782" y="7222486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ユーザー</a:t>
              </a:r>
            </a:p>
          </p:txBody>
        </p:sp>
      </p:grp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28A6B0E5-D454-95E0-EA74-87B322F1F2C6}"/>
              </a:ext>
            </a:extLst>
          </p:cNvPr>
          <p:cNvCxnSpPr>
            <a:cxnSpLocks/>
          </p:cNvCxnSpPr>
          <p:nvPr/>
        </p:nvCxnSpPr>
        <p:spPr>
          <a:xfrm>
            <a:off x="9968642" y="6368616"/>
            <a:ext cx="1554798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D4F37211-EDF7-5A89-311C-29595B3EA361}"/>
              </a:ext>
            </a:extLst>
          </p:cNvPr>
          <p:cNvCxnSpPr>
            <a:cxnSpLocks/>
          </p:cNvCxnSpPr>
          <p:nvPr/>
        </p:nvCxnSpPr>
        <p:spPr>
          <a:xfrm>
            <a:off x="13470269" y="6852919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グラフィックス 118" descr="クリップ 単色塗りつぶし">
            <a:extLst>
              <a:ext uri="{FF2B5EF4-FFF2-40B4-BE49-F238E27FC236}">
                <a16:creationId xmlns:a16="http://schemas.microsoft.com/office/drawing/2014/main" id="{6A6E9A80-B10F-5CB7-025C-03475582230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4007074" y="6571589"/>
            <a:ext cx="624053" cy="624053"/>
          </a:xfrm>
          <a:prstGeom prst="rect">
            <a:avLst/>
          </a:prstGeom>
        </p:spPr>
      </p:pic>
      <p:cxnSp>
        <p:nvCxnSpPr>
          <p:cNvPr id="121" name="直線矢印コネクタ 120">
            <a:extLst>
              <a:ext uri="{FF2B5EF4-FFF2-40B4-BE49-F238E27FC236}">
                <a16:creationId xmlns:a16="http://schemas.microsoft.com/office/drawing/2014/main" id="{E78F4D5C-74A8-9744-7E11-3E09ACC82F25}"/>
              </a:ext>
            </a:extLst>
          </p:cNvPr>
          <p:cNvCxnSpPr>
            <a:cxnSpLocks/>
          </p:cNvCxnSpPr>
          <p:nvPr/>
        </p:nvCxnSpPr>
        <p:spPr>
          <a:xfrm>
            <a:off x="9968642" y="6915230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矢印コネクタ 122">
            <a:extLst>
              <a:ext uri="{FF2B5EF4-FFF2-40B4-BE49-F238E27FC236}">
                <a16:creationId xmlns:a16="http://schemas.microsoft.com/office/drawing/2014/main" id="{D73924DE-1EB2-0139-CBFA-788302486CC2}"/>
              </a:ext>
            </a:extLst>
          </p:cNvPr>
          <p:cNvCxnSpPr>
            <a:cxnSpLocks/>
          </p:cNvCxnSpPr>
          <p:nvPr/>
        </p:nvCxnSpPr>
        <p:spPr>
          <a:xfrm>
            <a:off x="13532957" y="6342396"/>
            <a:ext cx="1554798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7" name="グラフィックス 126" descr="コメント: ハート 単色塗りつぶし">
            <a:extLst>
              <a:ext uri="{FF2B5EF4-FFF2-40B4-BE49-F238E27FC236}">
                <a16:creationId xmlns:a16="http://schemas.microsoft.com/office/drawing/2014/main" id="{16BBAC40-5874-74BF-2D8B-208B732C605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358853" y="5848371"/>
            <a:ext cx="821125" cy="821125"/>
          </a:xfrm>
          <a:prstGeom prst="rect">
            <a:avLst/>
          </a:prstGeom>
        </p:spPr>
      </p:pic>
      <p:pic>
        <p:nvPicPr>
          <p:cNvPr id="128" name="グラフィックス 127" descr="コメント: ハート 単色塗りつぶし">
            <a:extLst>
              <a:ext uri="{FF2B5EF4-FFF2-40B4-BE49-F238E27FC236}">
                <a16:creationId xmlns:a16="http://schemas.microsoft.com/office/drawing/2014/main" id="{082650E0-C383-240B-7019-A3E55580671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3877587" y="5846375"/>
            <a:ext cx="821125" cy="821125"/>
          </a:xfrm>
          <a:prstGeom prst="rect">
            <a:avLst/>
          </a:prstGeom>
        </p:spPr>
      </p:pic>
      <p:cxnSp>
        <p:nvCxnSpPr>
          <p:cNvPr id="129" name="直線矢印コネクタ 128">
            <a:extLst>
              <a:ext uri="{FF2B5EF4-FFF2-40B4-BE49-F238E27FC236}">
                <a16:creationId xmlns:a16="http://schemas.microsoft.com/office/drawing/2014/main" id="{A88750DC-CFBE-41A5-482F-CA100999DB68}"/>
              </a:ext>
            </a:extLst>
          </p:cNvPr>
          <p:cNvCxnSpPr>
            <a:cxnSpLocks/>
            <a:endCxn id="85" idx="2"/>
          </p:cNvCxnSpPr>
          <p:nvPr/>
        </p:nvCxnSpPr>
        <p:spPr>
          <a:xfrm flipV="1">
            <a:off x="2001899" y="4764715"/>
            <a:ext cx="0" cy="400336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0DEB4EB7-DDD0-FD72-5EF0-A2763E311919}"/>
              </a:ext>
            </a:extLst>
          </p:cNvPr>
          <p:cNvCxnSpPr>
            <a:cxnSpLocks/>
          </p:cNvCxnSpPr>
          <p:nvPr/>
        </p:nvCxnSpPr>
        <p:spPr>
          <a:xfrm flipV="1">
            <a:off x="2001899" y="8741919"/>
            <a:ext cx="14152511" cy="8601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矢印コネクタ 135">
            <a:extLst>
              <a:ext uri="{FF2B5EF4-FFF2-40B4-BE49-F238E27FC236}">
                <a16:creationId xmlns:a16="http://schemas.microsoft.com/office/drawing/2014/main" id="{24BACE09-6A16-192A-7E40-C83063E72AB2}"/>
              </a:ext>
            </a:extLst>
          </p:cNvPr>
          <p:cNvCxnSpPr>
            <a:cxnSpLocks/>
            <a:stCxn id="111" idx="2"/>
          </p:cNvCxnSpPr>
          <p:nvPr/>
        </p:nvCxnSpPr>
        <p:spPr>
          <a:xfrm>
            <a:off x="16154410" y="7710804"/>
            <a:ext cx="0" cy="105728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4" name="グラフィックス 143" descr="クリップ 単色塗りつぶし">
            <a:extLst>
              <a:ext uri="{FF2B5EF4-FFF2-40B4-BE49-F238E27FC236}">
                <a16:creationId xmlns:a16="http://schemas.microsoft.com/office/drawing/2014/main" id="{D1BC1864-DB17-A366-22EA-F19321D83FA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519350" y="6665934"/>
            <a:ext cx="624053" cy="624053"/>
          </a:xfrm>
          <a:prstGeom prst="rect">
            <a:avLst/>
          </a:prstGeom>
        </p:spPr>
      </p:pic>
      <p:sp>
        <p:nvSpPr>
          <p:cNvPr id="41" name="角丸四角形 40">
            <a:extLst>
              <a:ext uri="{FF2B5EF4-FFF2-40B4-BE49-F238E27FC236}">
                <a16:creationId xmlns:a16="http://schemas.microsoft.com/office/drawing/2014/main" id="{F4680CF1-79F3-F024-C369-3F2DD7D3D555}"/>
              </a:ext>
            </a:extLst>
          </p:cNvPr>
          <p:cNvSpPr/>
          <p:nvPr/>
        </p:nvSpPr>
        <p:spPr>
          <a:xfrm>
            <a:off x="443701" y="5483029"/>
            <a:ext cx="918672" cy="3546669"/>
          </a:xfrm>
          <a:prstGeom prst="roundRect">
            <a:avLst/>
          </a:prstGeom>
          <a:solidFill>
            <a:srgbClr val="FFE8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データ分析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to</a:t>
            </a:r>
          </a:p>
          <a:p>
            <a:pPr algn="ctr"/>
            <a:r>
              <a:rPr kumimoji="1" lang="ja-JP" altLang="en-US">
                <a:solidFill>
                  <a:schemeClr val="tx1"/>
                </a:solidFill>
              </a:rPr>
              <a:t>表示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4147EE02-F1D6-27CD-1531-1EAAE7008726}"/>
              </a:ext>
            </a:extLst>
          </p:cNvPr>
          <p:cNvGrpSpPr/>
          <p:nvPr/>
        </p:nvGrpSpPr>
        <p:grpSpPr>
          <a:xfrm>
            <a:off x="13545657" y="2552260"/>
            <a:ext cx="4552419" cy="2812676"/>
            <a:chOff x="13639800" y="2361306"/>
            <a:chExt cx="4552419" cy="2812676"/>
          </a:xfrm>
        </p:grpSpPr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2BB795D7-78D8-6EF0-A947-ED014FBFDA5C}"/>
                </a:ext>
              </a:extLst>
            </p:cNvPr>
            <p:cNvSpPr/>
            <p:nvPr/>
          </p:nvSpPr>
          <p:spPr>
            <a:xfrm>
              <a:off x="13639800" y="2361306"/>
              <a:ext cx="4552419" cy="281267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44" name="グループ化 43">
              <a:extLst>
                <a:ext uri="{FF2B5EF4-FFF2-40B4-BE49-F238E27FC236}">
                  <a16:creationId xmlns:a16="http://schemas.microsoft.com/office/drawing/2014/main" id="{FA2C3E62-769F-0160-092A-13511EF2F826}"/>
                </a:ext>
              </a:extLst>
            </p:cNvPr>
            <p:cNvGrpSpPr/>
            <p:nvPr/>
          </p:nvGrpSpPr>
          <p:grpSpPr>
            <a:xfrm>
              <a:off x="13928033" y="2445931"/>
              <a:ext cx="4264186" cy="2615481"/>
              <a:chOff x="13928033" y="2445931"/>
              <a:chExt cx="4264186" cy="2615481"/>
            </a:xfrm>
          </p:grpSpPr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470EA5D5-4AD5-2B92-D7FE-B740CB491D40}"/>
                  </a:ext>
                </a:extLst>
              </p:cNvPr>
              <p:cNvSpPr txBox="1"/>
              <p:nvPr/>
            </p:nvSpPr>
            <p:spPr>
              <a:xfrm>
                <a:off x="14545067" y="2735113"/>
                <a:ext cx="3647152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b="1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：音声データ</a:t>
                </a:r>
                <a:endParaRPr kumimoji="1" lang="en-US" altLang="ja-JP" b="1" dirty="0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  <a:p>
                <a:endParaRPr kumimoji="1" lang="en-US" altLang="ja-JP" b="1" dirty="0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  <a:p>
                <a:r>
                  <a:rPr kumimoji="1" lang="ja-JP" altLang="en-US" b="1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：文字データ</a:t>
                </a:r>
              </a:p>
              <a:p>
                <a:endParaRPr kumimoji="1" lang="en-US" altLang="ja-JP" b="1" dirty="0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  <a:p>
                <a:r>
                  <a:rPr kumimoji="1" lang="ja-JP" altLang="en-US" b="1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：ラベル</a:t>
                </a:r>
                <a:r>
                  <a:rPr kumimoji="1" lang="en-US" altLang="ja-JP" b="1" dirty="0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/</a:t>
                </a:r>
                <a:r>
                  <a:rPr kumimoji="1" lang="ja-JP" altLang="en-US" b="1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スコア</a:t>
                </a:r>
                <a:r>
                  <a:rPr kumimoji="1" lang="en-US" altLang="ja-JP" b="1" dirty="0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/</a:t>
                </a:r>
                <a:r>
                  <a:rPr kumimoji="1" lang="ja-JP" altLang="en-US" b="1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マッチング結果</a:t>
                </a:r>
                <a:endParaRPr kumimoji="1" lang="en-US" altLang="ja-JP" b="1" dirty="0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  <a:p>
                <a:endParaRPr kumimoji="1" lang="en-US" altLang="ja-JP" b="1" dirty="0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  <a:p>
                <a:r>
                  <a:rPr kumimoji="1" lang="ja-JP" altLang="en-US" b="1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：プロフィール</a:t>
                </a:r>
              </a:p>
            </p:txBody>
          </p:sp>
          <p:pic>
            <p:nvPicPr>
              <p:cNvPr id="47" name="グラフィックス 46" descr="音符 単色塗りつぶし">
                <a:extLst>
                  <a:ext uri="{FF2B5EF4-FFF2-40B4-BE49-F238E27FC236}">
                    <a16:creationId xmlns:a16="http://schemas.microsoft.com/office/drawing/2014/main" id="{E367F485-F781-7BDF-C16B-6C1E72A652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3974744" y="2445931"/>
                <a:ext cx="634281" cy="634281"/>
              </a:xfrm>
              <a:prstGeom prst="rect">
                <a:avLst/>
              </a:prstGeom>
            </p:spPr>
          </p:pic>
          <p:pic>
            <p:nvPicPr>
              <p:cNvPr id="48" name="グラフィックス 47" descr="レシート 単色塗りつぶし">
                <a:extLst>
                  <a:ext uri="{FF2B5EF4-FFF2-40B4-BE49-F238E27FC236}">
                    <a16:creationId xmlns:a16="http://schemas.microsoft.com/office/drawing/2014/main" id="{74431F2B-0F41-8CC3-39B4-55AC811667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p:blipFill>
            <p:spPr>
              <a:xfrm>
                <a:off x="13974744" y="3082411"/>
                <a:ext cx="634280" cy="634280"/>
              </a:xfrm>
              <a:prstGeom prst="rect">
                <a:avLst/>
              </a:prstGeom>
            </p:spPr>
          </p:pic>
          <p:pic>
            <p:nvPicPr>
              <p:cNvPr id="50" name="グラフィックス 49" descr="コメント: ハート 単色塗りつぶし">
                <a:extLst>
                  <a:ext uri="{FF2B5EF4-FFF2-40B4-BE49-F238E27FC236}">
                    <a16:creationId xmlns:a16="http://schemas.microsoft.com/office/drawing/2014/main" id="{8321D702-9ED7-83DB-19A5-4A5798DCA7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>
                <a:off x="13928033" y="3724109"/>
                <a:ext cx="727703" cy="727703"/>
              </a:xfrm>
              <a:prstGeom prst="rect">
                <a:avLst/>
              </a:prstGeom>
            </p:spPr>
          </p:pic>
          <p:pic>
            <p:nvPicPr>
              <p:cNvPr id="51" name="グラフィックス 50" descr="クリップ 単色塗りつぶし">
                <a:extLst>
                  <a:ext uri="{FF2B5EF4-FFF2-40B4-BE49-F238E27FC236}">
                    <a16:creationId xmlns:a16="http://schemas.microsoft.com/office/drawing/2014/main" id="{1FFF274F-2BAC-69D9-E3E4-7A0E4F66A6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p:blipFill>
            <p:spPr>
              <a:xfrm>
                <a:off x="13939610" y="4356863"/>
                <a:ext cx="704549" cy="70454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764368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FDF0F-061A-AD12-69D1-C1E82B90F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17D1CF0-9076-1896-648B-FACE8F08050B}"/>
              </a:ext>
            </a:extLst>
          </p:cNvPr>
          <p:cNvSpPr/>
          <p:nvPr/>
        </p:nvSpPr>
        <p:spPr>
          <a:xfrm>
            <a:off x="857250" y="2361305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C7C7EC8-59CE-589C-732B-92E3C45DF5E5}"/>
              </a:ext>
            </a:extLst>
          </p:cNvPr>
          <p:cNvSpPr/>
          <p:nvPr/>
        </p:nvSpPr>
        <p:spPr>
          <a:xfrm>
            <a:off x="857250" y="1047750"/>
            <a:ext cx="16573459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576F8D2B-1EEE-1C31-F13A-7EA990F592F6}"/>
              </a:ext>
            </a:extLst>
          </p:cNvPr>
          <p:cNvSpPr/>
          <p:nvPr/>
        </p:nvSpPr>
        <p:spPr>
          <a:xfrm flipV="1">
            <a:off x="856856" y="904405"/>
            <a:ext cx="16574288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5237F464-2AE3-AA59-E91F-DCA1CBBD23E1}"/>
              </a:ext>
            </a:extLst>
          </p:cNvPr>
          <p:cNvSpPr/>
          <p:nvPr/>
        </p:nvSpPr>
        <p:spPr>
          <a:xfrm>
            <a:off x="857250" y="9382595"/>
            <a:ext cx="16573500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90132696-674F-4E3C-C8B6-DFC1DD1D4FFC}"/>
              </a:ext>
            </a:extLst>
          </p:cNvPr>
          <p:cNvSpPr/>
          <p:nvPr/>
        </p:nvSpPr>
        <p:spPr>
          <a:xfrm>
            <a:off x="857250" y="9239250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80FC91B6-3350-3676-EFBB-9AEC55F65883}"/>
              </a:ext>
            </a:extLst>
          </p:cNvPr>
          <p:cNvGrpSpPr/>
          <p:nvPr/>
        </p:nvGrpSpPr>
        <p:grpSpPr>
          <a:xfrm>
            <a:off x="1282599" y="650625"/>
            <a:ext cx="1213487" cy="1720205"/>
            <a:chOff x="0" y="0"/>
            <a:chExt cx="319601" cy="45305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80177D9-570E-5B92-DDC1-D3CF07C59004}"/>
                </a:ext>
              </a:extLst>
            </p:cNvPr>
            <p:cNvSpPr/>
            <p:nvPr/>
          </p:nvSpPr>
          <p:spPr>
            <a:xfrm>
              <a:off x="0" y="0"/>
              <a:ext cx="319601" cy="453058"/>
            </a:xfrm>
            <a:custGeom>
              <a:avLst/>
              <a:gdLst/>
              <a:ahLst/>
              <a:cxnLst/>
              <a:rect l="l" t="t" r="r" b="b"/>
              <a:pathLst>
                <a:path w="319601" h="453058">
                  <a:moveTo>
                    <a:pt x="0" y="0"/>
                  </a:moveTo>
                  <a:lnTo>
                    <a:pt x="319601" y="0"/>
                  </a:lnTo>
                  <a:lnTo>
                    <a:pt x="319601" y="453058"/>
                  </a:lnTo>
                  <a:lnTo>
                    <a:pt x="0" y="453058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F76908A8-0E6B-B828-E497-7ED844ADCA7A}"/>
                </a:ext>
              </a:extLst>
            </p:cNvPr>
            <p:cNvSpPr txBox="1"/>
            <p:nvPr/>
          </p:nvSpPr>
          <p:spPr>
            <a:xfrm>
              <a:off x="0" y="-47625"/>
              <a:ext cx="319601" cy="500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5384DD8B-B673-93CD-1E8A-14F8021FAC1F}"/>
              </a:ext>
            </a:extLst>
          </p:cNvPr>
          <p:cNvSpPr txBox="1"/>
          <p:nvPr/>
        </p:nvSpPr>
        <p:spPr>
          <a:xfrm>
            <a:off x="2949343" y="1371153"/>
            <a:ext cx="14309957" cy="59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 spc="175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今後実装する部分</a:t>
            </a:r>
            <a:r>
              <a:rPr lang="ja-JP" altLang="en-US" sz="3500" b="1" spc="175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　</a:t>
            </a:r>
            <a:r>
              <a:rPr lang="en-US" sz="3500" b="1" spc="175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データ作成・変換</a:t>
            </a:r>
            <a:endParaRPr lang="en-US" sz="3500" b="1" spc="175" dirty="0">
              <a:solidFill>
                <a:srgbClr val="1B1B1B"/>
              </a:solidFill>
              <a:latin typeface="Yu Gothic" panose="020B0400000000000000" pitchFamily="34" charset="-128"/>
              <a:ea typeface="Yu Gothic" panose="020B0400000000000000" pitchFamily="34" charset="-128"/>
              <a:cs typeface="Noto Sans JP Heavy"/>
              <a:sym typeface="Noto Sans JP Heavy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7D51F92-2BBA-5613-7768-0A59300544E5}"/>
              </a:ext>
            </a:extLst>
          </p:cNvPr>
          <p:cNvSpPr txBox="1"/>
          <p:nvPr/>
        </p:nvSpPr>
        <p:spPr>
          <a:xfrm>
            <a:off x="1461953" y="1228278"/>
            <a:ext cx="85477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3500" b="1" u="none" strike="noStrike" dirty="0">
                <a:solidFill>
                  <a:srgbClr val="FAFAFA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Open Sans Bold"/>
                <a:sym typeface="Open Sans Bold"/>
              </a:rPr>
              <a:t>02</a:t>
            </a:r>
          </a:p>
        </p:txBody>
      </p: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FB5F2AD7-EC72-A02D-0440-CD68D073065F}"/>
              </a:ext>
            </a:extLst>
          </p:cNvPr>
          <p:cNvGrpSpPr/>
          <p:nvPr/>
        </p:nvGrpSpPr>
        <p:grpSpPr>
          <a:xfrm>
            <a:off x="2949343" y="3020983"/>
            <a:ext cx="1768433" cy="2255017"/>
            <a:chOff x="2073964" y="3006543"/>
            <a:chExt cx="1768433" cy="2255017"/>
          </a:xfrm>
        </p:grpSpPr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C8A5BF0F-01E4-B9DC-C233-00AAE707C1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5483" y="3006543"/>
              <a:ext cx="1565399" cy="1525552"/>
            </a:xfrm>
            <a:custGeom>
              <a:avLst/>
              <a:gdLst/>
              <a:ahLst/>
              <a:cxnLst/>
              <a:rect l="l" t="t" r="r" b="b"/>
              <a:pathLst>
                <a:path w="1565399" h="1525552">
                  <a:moveTo>
                    <a:pt x="0" y="0"/>
                  </a:moveTo>
                  <a:lnTo>
                    <a:pt x="1565399" y="0"/>
                  </a:lnTo>
                  <a:lnTo>
                    <a:pt x="1565399" y="1525552"/>
                  </a:lnTo>
                  <a:lnTo>
                    <a:pt x="0" y="152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6BDC1E4B-A290-FDAB-1855-2C5B3B32BDA7}"/>
                </a:ext>
              </a:extLst>
            </p:cNvPr>
            <p:cNvSpPr txBox="1"/>
            <p:nvPr/>
          </p:nvSpPr>
          <p:spPr>
            <a:xfrm>
              <a:off x="2073964" y="4676785"/>
              <a:ext cx="176843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3200" b="1" dirty="0" err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pyaudip</a:t>
              </a:r>
              <a:endParaRPr kumimoji="1" lang="ja-JP" altLang="en-US" sz="32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3360F694-5A61-3A03-A4E7-2689C4031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48216"/>
              </p:ext>
            </p:extLst>
          </p:nvPr>
        </p:nvGraphicFramePr>
        <p:xfrm>
          <a:off x="7772400" y="2694232"/>
          <a:ext cx="9066992" cy="2748984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040073">
                  <a:extLst>
                    <a:ext uri="{9D8B030D-6E8A-4147-A177-3AD203B41FA5}">
                      <a16:colId xmlns:a16="http://schemas.microsoft.com/office/drawing/2014/main" val="151083142"/>
                    </a:ext>
                  </a:extLst>
                </a:gridCol>
                <a:gridCol w="7026919">
                  <a:extLst>
                    <a:ext uri="{9D8B030D-6E8A-4147-A177-3AD203B41FA5}">
                      <a16:colId xmlns:a16="http://schemas.microsoft.com/office/drawing/2014/main" val="3451232418"/>
                    </a:ext>
                  </a:extLst>
                </a:gridCol>
              </a:tblGrid>
              <a:tr h="137449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1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目的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2800" b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会話音声を任意の時間</a:t>
                      </a:r>
                      <a:endParaRPr kumimoji="1" lang="en-US" altLang="ja-JP" sz="2800" b="0" dirty="0"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  <a:p>
                      <a:r>
                        <a:rPr kumimoji="1" lang="ja-JP" altLang="en-US" sz="2800" b="1">
                          <a:solidFill>
                            <a:srgbClr val="C00000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録音し</a:t>
                      </a:r>
                      <a:r>
                        <a:rPr kumimoji="1" lang="en-US" altLang="ja-JP" sz="2800" b="1" dirty="0">
                          <a:solidFill>
                            <a:srgbClr val="C00000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wav</a:t>
                      </a:r>
                      <a:r>
                        <a:rPr kumimoji="1" lang="ja-JP" altLang="en-US" sz="2800" b="1">
                          <a:solidFill>
                            <a:srgbClr val="C00000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ファイルを作成</a:t>
                      </a:r>
                      <a:r>
                        <a:rPr kumimoji="1" lang="ja-JP" altLang="en-US" sz="2800" b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する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7943959"/>
                  </a:ext>
                </a:extLst>
              </a:tr>
              <a:tr h="137449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1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技術要素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2800" b="0" dirty="0" err="1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pyaudio</a:t>
                      </a:r>
                      <a:r>
                        <a:rPr kumimoji="1" lang="ja-JP" altLang="en-US" sz="2800" b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で実装予定</a:t>
                      </a:r>
                      <a:endParaRPr kumimoji="1" lang="en-US" altLang="ja-JP" sz="2800" b="0" dirty="0"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  <a:p>
                      <a:pPr algn="r"/>
                      <a:r>
                        <a:rPr kumimoji="1" lang="en-US" altLang="ja-JP" sz="2800" b="0" dirty="0" err="1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done:audio_recorder.py</a:t>
                      </a:r>
                      <a:endParaRPr kumimoji="1" lang="en-US" altLang="ja-JP" sz="2800" b="0" dirty="0"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2937220"/>
                  </a:ext>
                </a:extLst>
              </a:tr>
            </a:tbl>
          </a:graphicData>
        </a:graphic>
      </p:graphicFrame>
      <p:graphicFrame>
        <p:nvGraphicFramePr>
          <p:cNvPr id="14" name="表 13">
            <a:extLst>
              <a:ext uri="{FF2B5EF4-FFF2-40B4-BE49-F238E27FC236}">
                <a16:creationId xmlns:a16="http://schemas.microsoft.com/office/drawing/2014/main" id="{79EE4349-101B-20DA-8A73-6630F576F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518996"/>
              </p:ext>
            </p:extLst>
          </p:nvPr>
        </p:nvGraphicFramePr>
        <p:xfrm>
          <a:off x="7772400" y="5976899"/>
          <a:ext cx="9066992" cy="2748984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040073">
                  <a:extLst>
                    <a:ext uri="{9D8B030D-6E8A-4147-A177-3AD203B41FA5}">
                      <a16:colId xmlns:a16="http://schemas.microsoft.com/office/drawing/2014/main" val="151083142"/>
                    </a:ext>
                  </a:extLst>
                </a:gridCol>
                <a:gridCol w="7026919">
                  <a:extLst>
                    <a:ext uri="{9D8B030D-6E8A-4147-A177-3AD203B41FA5}">
                      <a16:colId xmlns:a16="http://schemas.microsoft.com/office/drawing/2014/main" val="3451232418"/>
                    </a:ext>
                  </a:extLst>
                </a:gridCol>
              </a:tblGrid>
              <a:tr h="137449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1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目的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2800" b="0" dirty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wav</a:t>
                      </a:r>
                      <a:r>
                        <a:rPr kumimoji="1" lang="ja-JP" altLang="en-US" sz="2800" b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データを</a:t>
                      </a:r>
                      <a:r>
                        <a:rPr kumimoji="1" lang="en-US" altLang="ja-JP" sz="2800" b="1" dirty="0">
                          <a:solidFill>
                            <a:srgbClr val="C00000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GCS</a:t>
                      </a:r>
                      <a:r>
                        <a:rPr kumimoji="1" lang="ja-JP" altLang="en-US" sz="2800" b="1">
                          <a:solidFill>
                            <a:srgbClr val="C00000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に保存</a:t>
                      </a:r>
                      <a:r>
                        <a:rPr kumimoji="1" lang="ja-JP" altLang="en-US" sz="2800" b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する</a:t>
                      </a:r>
                      <a:endParaRPr kumimoji="1" lang="ja-JP" altLang="en-US" sz="2800" b="1">
                        <a:solidFill>
                          <a:srgbClr val="C00000"/>
                        </a:solidFill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7943959"/>
                  </a:ext>
                </a:extLst>
              </a:tr>
              <a:tr h="137449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1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技術要素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google.cloud</a:t>
                      </a:r>
                      <a:r>
                        <a:rPr kumimoji="1" lang="ja-JP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の</a:t>
                      </a:r>
                      <a:r>
                        <a:rPr kumimoji="1" lang="en-US" altLang="ja-JP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storage</a:t>
                      </a:r>
                      <a:r>
                        <a:rPr kumimoji="1" lang="ja-JP" alt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で実装予定</a:t>
                      </a:r>
                      <a:endParaRPr kumimoji="1" lang="en-US" altLang="ja-JP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Yu Gothic" panose="020B0400000000000000" pitchFamily="34" charset="-128"/>
                        <a:ea typeface="Yu Gothic" panose="020B0400000000000000" pitchFamily="34" charset="-128"/>
                        <a:cs typeface="+mn-cs"/>
                      </a:endParaRPr>
                    </a:p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+mn-cs"/>
                        </a:rPr>
                        <a:t>done:gcs_uploader.py</a:t>
                      </a:r>
                      <a:endParaRPr kumimoji="1" lang="en-US" altLang="ja-JP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Yu Gothic" panose="020B0400000000000000" pitchFamily="34" charset="-128"/>
                        <a:ea typeface="Yu Gothic" panose="020B0400000000000000" pitchFamily="34" charset="-128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2937220"/>
                  </a:ext>
                </a:extLst>
              </a:tr>
            </a:tbl>
          </a:graphicData>
        </a:graphic>
      </p:graphicFrame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A12AE224-A1ED-AF69-8388-120906B78E1D}"/>
              </a:ext>
            </a:extLst>
          </p:cNvPr>
          <p:cNvGrpSpPr/>
          <p:nvPr/>
        </p:nvGrpSpPr>
        <p:grpSpPr>
          <a:xfrm>
            <a:off x="4998695" y="6324556"/>
            <a:ext cx="1855186" cy="2078502"/>
            <a:chOff x="7213805" y="3006543"/>
            <a:chExt cx="1855186" cy="2078502"/>
          </a:xfrm>
        </p:grpSpPr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BF4041EC-C358-4EBA-A1C9-5CB57E85FE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13805" y="3006543"/>
              <a:ext cx="1855186" cy="1498063"/>
            </a:xfrm>
            <a:custGeom>
              <a:avLst/>
              <a:gdLst/>
              <a:ahLst/>
              <a:cxnLst/>
              <a:rect l="l" t="t" r="r" b="b"/>
              <a:pathLst>
                <a:path w="1855186" h="1498063">
                  <a:moveTo>
                    <a:pt x="0" y="0"/>
                  </a:moveTo>
                  <a:lnTo>
                    <a:pt x="1855187" y="0"/>
                  </a:lnTo>
                  <a:lnTo>
                    <a:pt x="1855187" y="1498063"/>
                  </a:lnTo>
                  <a:lnTo>
                    <a:pt x="0" y="1498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F9DAF0F9-0225-5815-D1E7-C4AB8AAA4359}"/>
                </a:ext>
              </a:extLst>
            </p:cNvPr>
            <p:cNvSpPr txBox="1"/>
            <p:nvPr/>
          </p:nvSpPr>
          <p:spPr>
            <a:xfrm>
              <a:off x="7723275" y="4623380"/>
              <a:ext cx="8451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GCS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96A8F1F1-DF54-CD79-A621-AA75D7E3C0A6}"/>
              </a:ext>
            </a:extLst>
          </p:cNvPr>
          <p:cNvCxnSpPr>
            <a:cxnSpLocks/>
          </p:cNvCxnSpPr>
          <p:nvPr/>
        </p:nvCxnSpPr>
        <p:spPr>
          <a:xfrm>
            <a:off x="3000248" y="7363380"/>
            <a:ext cx="16764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グラフィックス 28" descr="音符 単色塗りつぶし">
            <a:extLst>
              <a:ext uri="{FF2B5EF4-FFF2-40B4-BE49-F238E27FC236}">
                <a16:creationId xmlns:a16="http://schemas.microsoft.com/office/drawing/2014/main" id="{996C75C8-65B1-FD18-E6BF-839BF3F455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93635" y="6945345"/>
            <a:ext cx="634281" cy="634281"/>
          </a:xfrm>
          <a:prstGeom prst="rect">
            <a:avLst/>
          </a:prstGeom>
        </p:spPr>
      </p:pic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2D3C8942-8D85-3A86-739D-0B96BB7A1EE8}"/>
              </a:ext>
            </a:extLst>
          </p:cNvPr>
          <p:cNvGrpSpPr/>
          <p:nvPr/>
        </p:nvGrpSpPr>
        <p:grpSpPr>
          <a:xfrm>
            <a:off x="1320699" y="6317630"/>
            <a:ext cx="1565399" cy="2088047"/>
            <a:chOff x="2175483" y="3006543"/>
            <a:chExt cx="1565399" cy="2088047"/>
          </a:xfrm>
        </p:grpSpPr>
        <p:sp>
          <p:nvSpPr>
            <p:cNvPr id="32" name="Freeform 9">
              <a:extLst>
                <a:ext uri="{FF2B5EF4-FFF2-40B4-BE49-F238E27FC236}">
                  <a16:creationId xmlns:a16="http://schemas.microsoft.com/office/drawing/2014/main" id="{AB3082C9-9235-507D-B7E8-B6DF5C019B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5483" y="3006543"/>
              <a:ext cx="1565399" cy="1525552"/>
            </a:xfrm>
            <a:custGeom>
              <a:avLst/>
              <a:gdLst/>
              <a:ahLst/>
              <a:cxnLst/>
              <a:rect l="l" t="t" r="r" b="b"/>
              <a:pathLst>
                <a:path w="1565399" h="1525552">
                  <a:moveTo>
                    <a:pt x="0" y="0"/>
                  </a:moveTo>
                  <a:lnTo>
                    <a:pt x="1565399" y="0"/>
                  </a:lnTo>
                  <a:lnTo>
                    <a:pt x="1565399" y="1525552"/>
                  </a:lnTo>
                  <a:lnTo>
                    <a:pt x="0" y="152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5CFE65EA-1415-32E9-7C08-24393A8F4E8D}"/>
                </a:ext>
              </a:extLst>
            </p:cNvPr>
            <p:cNvSpPr txBox="1"/>
            <p:nvPr/>
          </p:nvSpPr>
          <p:spPr>
            <a:xfrm>
              <a:off x="2274341" y="4632925"/>
              <a:ext cx="13676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 err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pyaudio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5672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408FC-1EE7-9747-DC34-9F5B36CAB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角丸四角形 39">
            <a:extLst>
              <a:ext uri="{FF2B5EF4-FFF2-40B4-BE49-F238E27FC236}">
                <a16:creationId xmlns:a16="http://schemas.microsoft.com/office/drawing/2014/main" id="{D733D50A-8EB7-D987-7C26-02271A5AD20E}"/>
              </a:ext>
            </a:extLst>
          </p:cNvPr>
          <p:cNvSpPr/>
          <p:nvPr/>
        </p:nvSpPr>
        <p:spPr>
          <a:xfrm>
            <a:off x="393598" y="2420830"/>
            <a:ext cx="918672" cy="2722668"/>
          </a:xfrm>
          <a:prstGeom prst="roundRect">
            <a:avLst/>
          </a:prstGeom>
          <a:solidFill>
            <a:srgbClr val="FFF3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音声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to</a:t>
            </a:r>
          </a:p>
          <a:p>
            <a:pPr algn="ctr"/>
            <a:r>
              <a:rPr kumimoji="1" lang="ja-JP" altLang="en-US">
                <a:solidFill>
                  <a:schemeClr val="tx1"/>
                </a:solidFill>
              </a:rPr>
              <a:t>文字起こし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D2DCF6F4-24F6-7D42-108D-0AEDDB938991}"/>
              </a:ext>
            </a:extLst>
          </p:cNvPr>
          <p:cNvSpPr/>
          <p:nvPr/>
        </p:nvSpPr>
        <p:spPr>
          <a:xfrm>
            <a:off x="857250" y="2361305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22435C3-2EFF-6544-B102-78818FBE35F8}"/>
              </a:ext>
            </a:extLst>
          </p:cNvPr>
          <p:cNvSpPr/>
          <p:nvPr/>
        </p:nvSpPr>
        <p:spPr>
          <a:xfrm>
            <a:off x="857250" y="1047750"/>
            <a:ext cx="16573459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6019CEFC-3A94-622A-A3FC-A4AAE702BE31}"/>
              </a:ext>
            </a:extLst>
          </p:cNvPr>
          <p:cNvSpPr/>
          <p:nvPr/>
        </p:nvSpPr>
        <p:spPr>
          <a:xfrm flipV="1">
            <a:off x="856856" y="904405"/>
            <a:ext cx="16574288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2510725E-C0F0-D73C-B174-9B44004D6EE8}"/>
              </a:ext>
            </a:extLst>
          </p:cNvPr>
          <p:cNvSpPr/>
          <p:nvPr/>
        </p:nvSpPr>
        <p:spPr>
          <a:xfrm>
            <a:off x="857250" y="9382595"/>
            <a:ext cx="16573500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D0548BFC-24CB-2237-E762-64BBBB2683F8}"/>
              </a:ext>
            </a:extLst>
          </p:cNvPr>
          <p:cNvSpPr/>
          <p:nvPr/>
        </p:nvSpPr>
        <p:spPr>
          <a:xfrm>
            <a:off x="857250" y="9239250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FA619678-4384-ADC2-D506-69205D3F9F14}"/>
              </a:ext>
            </a:extLst>
          </p:cNvPr>
          <p:cNvGrpSpPr/>
          <p:nvPr/>
        </p:nvGrpSpPr>
        <p:grpSpPr>
          <a:xfrm>
            <a:off x="1282599" y="650625"/>
            <a:ext cx="1213487" cy="1720205"/>
            <a:chOff x="0" y="0"/>
            <a:chExt cx="319601" cy="45305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EA2343F-63C8-D073-DAD5-7BF9EA713DB1}"/>
                </a:ext>
              </a:extLst>
            </p:cNvPr>
            <p:cNvSpPr/>
            <p:nvPr/>
          </p:nvSpPr>
          <p:spPr>
            <a:xfrm>
              <a:off x="0" y="0"/>
              <a:ext cx="319601" cy="453058"/>
            </a:xfrm>
            <a:custGeom>
              <a:avLst/>
              <a:gdLst/>
              <a:ahLst/>
              <a:cxnLst/>
              <a:rect l="l" t="t" r="r" b="b"/>
              <a:pathLst>
                <a:path w="319601" h="453058">
                  <a:moveTo>
                    <a:pt x="0" y="0"/>
                  </a:moveTo>
                  <a:lnTo>
                    <a:pt x="319601" y="0"/>
                  </a:lnTo>
                  <a:lnTo>
                    <a:pt x="319601" y="453058"/>
                  </a:lnTo>
                  <a:lnTo>
                    <a:pt x="0" y="453058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C4578200-3D3D-C32C-F680-0DF48FEDBBFD}"/>
                </a:ext>
              </a:extLst>
            </p:cNvPr>
            <p:cNvSpPr txBox="1"/>
            <p:nvPr/>
          </p:nvSpPr>
          <p:spPr>
            <a:xfrm>
              <a:off x="0" y="-47625"/>
              <a:ext cx="319601" cy="500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BC03B3DE-2245-16A7-7452-4CB415A60105}"/>
              </a:ext>
            </a:extLst>
          </p:cNvPr>
          <p:cNvSpPr txBox="1"/>
          <p:nvPr/>
        </p:nvSpPr>
        <p:spPr>
          <a:xfrm>
            <a:off x="2949343" y="1371153"/>
            <a:ext cx="14309957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 spc="175" dirty="0" err="1">
                <a:solidFill>
                  <a:srgbClr val="C00000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未Done</a:t>
            </a:r>
            <a:r>
              <a:rPr lang="ja-JP" altLang="en-US" sz="3500" b="1" spc="175">
                <a:solidFill>
                  <a:srgbClr val="C00000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　</a:t>
            </a:r>
            <a:r>
              <a:rPr lang="en-US" sz="3500" b="1" spc="175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ローカル環境でのサービスに必要な技術要素</a:t>
            </a:r>
            <a:endParaRPr lang="en-US" sz="3500" b="1" spc="175" dirty="0">
              <a:solidFill>
                <a:srgbClr val="1B1B1B"/>
              </a:solidFill>
              <a:latin typeface="Yu Gothic" panose="020B0400000000000000" pitchFamily="34" charset="-128"/>
              <a:ea typeface="Yu Gothic" panose="020B0400000000000000" pitchFamily="34" charset="-128"/>
              <a:cs typeface="Noto Sans JP Heavy"/>
              <a:sym typeface="Noto Sans JP Heavy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F6591FC-2F97-3F48-5DC8-EEEE98B83EDC}"/>
              </a:ext>
            </a:extLst>
          </p:cNvPr>
          <p:cNvSpPr txBox="1"/>
          <p:nvPr/>
        </p:nvSpPr>
        <p:spPr>
          <a:xfrm>
            <a:off x="1461953" y="1228278"/>
            <a:ext cx="85477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3500" b="1" u="none" strike="noStrike">
                <a:solidFill>
                  <a:srgbClr val="FAFAFA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Open Sans Bold"/>
                <a:sym typeface="Open Sans Bold"/>
              </a:rPr>
              <a:t>01</a:t>
            </a: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897C2D03-DA8E-455C-97DD-B1C2AAD2EAF3}"/>
              </a:ext>
            </a:extLst>
          </p:cNvPr>
          <p:cNvGrpSpPr/>
          <p:nvPr/>
        </p:nvGrpSpPr>
        <p:grpSpPr>
          <a:xfrm>
            <a:off x="4897196" y="2683594"/>
            <a:ext cx="1855186" cy="2078502"/>
            <a:chOff x="7213805" y="3006543"/>
            <a:chExt cx="1855186" cy="2078502"/>
          </a:xfrm>
        </p:grpSpPr>
        <p:sp>
          <p:nvSpPr>
            <p:cNvPr id="17" name="Freeform 22">
              <a:extLst>
                <a:ext uri="{FF2B5EF4-FFF2-40B4-BE49-F238E27FC236}">
                  <a16:creationId xmlns:a16="http://schemas.microsoft.com/office/drawing/2014/main" id="{A855A9F4-6EC6-7B86-C97E-88B11D19E0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13805" y="3006543"/>
              <a:ext cx="1855186" cy="1498063"/>
            </a:xfrm>
            <a:custGeom>
              <a:avLst/>
              <a:gdLst/>
              <a:ahLst/>
              <a:cxnLst/>
              <a:rect l="l" t="t" r="r" b="b"/>
              <a:pathLst>
                <a:path w="1855186" h="1498063">
                  <a:moveTo>
                    <a:pt x="0" y="0"/>
                  </a:moveTo>
                  <a:lnTo>
                    <a:pt x="1855187" y="0"/>
                  </a:lnTo>
                  <a:lnTo>
                    <a:pt x="1855187" y="1498063"/>
                  </a:lnTo>
                  <a:lnTo>
                    <a:pt x="0" y="1498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6ED1F9C8-147D-2230-8331-DB1767C183F9}"/>
                </a:ext>
              </a:extLst>
            </p:cNvPr>
            <p:cNvSpPr txBox="1"/>
            <p:nvPr/>
          </p:nvSpPr>
          <p:spPr>
            <a:xfrm>
              <a:off x="7723275" y="4623380"/>
              <a:ext cx="8451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GCS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064E107D-7ECC-D898-2A35-8F5F9DCBB081}"/>
              </a:ext>
            </a:extLst>
          </p:cNvPr>
          <p:cNvGrpSpPr/>
          <p:nvPr/>
        </p:nvGrpSpPr>
        <p:grpSpPr>
          <a:xfrm>
            <a:off x="9003837" y="2706732"/>
            <a:ext cx="2529860" cy="2055363"/>
            <a:chOff x="11486205" y="3006543"/>
            <a:chExt cx="2529860" cy="2055363"/>
          </a:xfrm>
        </p:grpSpPr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EF49DAEC-2F9A-71B7-8784-195C7BEED0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990296" y="3006543"/>
              <a:ext cx="1521679" cy="1480179"/>
            </a:xfrm>
            <a:custGeom>
              <a:avLst/>
              <a:gdLst/>
              <a:ahLst/>
              <a:cxnLst/>
              <a:rect l="l" t="t" r="r" b="b"/>
              <a:pathLst>
                <a:path w="1521679" h="1480179">
                  <a:moveTo>
                    <a:pt x="0" y="0"/>
                  </a:moveTo>
                  <a:lnTo>
                    <a:pt x="1521679" y="0"/>
                  </a:lnTo>
                  <a:lnTo>
                    <a:pt x="1521679" y="1480179"/>
                  </a:lnTo>
                  <a:lnTo>
                    <a:pt x="0" y="1480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E9A2B31E-6B5D-B153-513D-6A77015E35BA}"/>
                </a:ext>
              </a:extLst>
            </p:cNvPr>
            <p:cNvSpPr txBox="1"/>
            <p:nvPr/>
          </p:nvSpPr>
          <p:spPr>
            <a:xfrm>
              <a:off x="11486205" y="4600241"/>
              <a:ext cx="25298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Speech-to-Text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79AE0B75-C3C9-5802-B943-66956ADABB89}"/>
              </a:ext>
            </a:extLst>
          </p:cNvPr>
          <p:cNvGrpSpPr/>
          <p:nvPr/>
        </p:nvGrpSpPr>
        <p:grpSpPr>
          <a:xfrm>
            <a:off x="11965490" y="5946787"/>
            <a:ext cx="1339002" cy="1775469"/>
            <a:chOff x="2256509" y="6734974"/>
            <a:chExt cx="1339002" cy="1775469"/>
          </a:xfrm>
        </p:grpSpPr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3EC3E22C-84B8-76EC-5D8B-3F64AEFE39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56509" y="6734974"/>
              <a:ext cx="1219860" cy="1247938"/>
            </a:xfrm>
            <a:custGeom>
              <a:avLst/>
              <a:gdLst/>
              <a:ahLst/>
              <a:cxnLst/>
              <a:rect l="l" t="t" r="r" b="b"/>
              <a:pathLst>
                <a:path w="1341162" h="1372032">
                  <a:moveTo>
                    <a:pt x="0" y="0"/>
                  </a:moveTo>
                  <a:lnTo>
                    <a:pt x="1341162" y="0"/>
                  </a:lnTo>
                  <a:lnTo>
                    <a:pt x="1341162" y="1372032"/>
                  </a:lnTo>
                  <a:lnTo>
                    <a:pt x="0" y="1372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68077928-AA1A-DFA7-1EC2-DB437BB5ABFD}"/>
                </a:ext>
              </a:extLst>
            </p:cNvPr>
            <p:cNvSpPr txBox="1"/>
            <p:nvPr/>
          </p:nvSpPr>
          <p:spPr>
            <a:xfrm>
              <a:off x="2344848" y="8048778"/>
              <a:ext cx="12506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Django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663C052A-815A-6E44-6884-A9EA0CAA3E4D}"/>
              </a:ext>
            </a:extLst>
          </p:cNvPr>
          <p:cNvGrpSpPr/>
          <p:nvPr/>
        </p:nvGrpSpPr>
        <p:grpSpPr>
          <a:xfrm>
            <a:off x="8451602" y="5821161"/>
            <a:ext cx="1426106" cy="1909783"/>
            <a:chOff x="7173083" y="6753785"/>
            <a:chExt cx="1426106" cy="1909783"/>
          </a:xfrm>
        </p:grpSpPr>
        <p:pic>
          <p:nvPicPr>
            <p:cNvPr id="21" name="グラフィックス 20" descr="データベース 枠線">
              <a:extLst>
                <a:ext uri="{FF2B5EF4-FFF2-40B4-BE49-F238E27FC236}">
                  <a16:creationId xmlns:a16="http://schemas.microsoft.com/office/drawing/2014/main" id="{C69C2686-919E-57F6-B5F0-367C605C9D3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73083" y="6753785"/>
              <a:ext cx="1426106" cy="1426106"/>
            </a:xfrm>
            <a:prstGeom prst="rect">
              <a:avLst/>
            </a:prstGeom>
          </p:spPr>
        </p:pic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B66C4417-2275-D78A-C27E-38FEBD3E01B7}"/>
                </a:ext>
              </a:extLst>
            </p:cNvPr>
            <p:cNvSpPr txBox="1"/>
            <p:nvPr/>
          </p:nvSpPr>
          <p:spPr>
            <a:xfrm>
              <a:off x="7284849" y="8201903"/>
              <a:ext cx="12025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SQLite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B350D398-0A7D-9942-3097-3D694679BE62}"/>
              </a:ext>
            </a:extLst>
          </p:cNvPr>
          <p:cNvCxnSpPr>
            <a:cxnSpLocks/>
          </p:cNvCxnSpPr>
          <p:nvPr/>
        </p:nvCxnSpPr>
        <p:spPr>
          <a:xfrm>
            <a:off x="2898749" y="3722418"/>
            <a:ext cx="16764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グラフィックス 48" descr="音符 単色塗りつぶし">
            <a:extLst>
              <a:ext uri="{FF2B5EF4-FFF2-40B4-BE49-F238E27FC236}">
                <a16:creationId xmlns:a16="http://schemas.microsoft.com/office/drawing/2014/main" id="{28D0348E-52CB-A284-25A2-257800467CD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92136" y="3304383"/>
            <a:ext cx="634281" cy="634281"/>
          </a:xfrm>
          <a:prstGeom prst="rect">
            <a:avLst/>
          </a:prstGeom>
        </p:spPr>
      </p:pic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6D41D115-9B2A-3631-EC21-827E1A88C63F}"/>
              </a:ext>
            </a:extLst>
          </p:cNvPr>
          <p:cNvCxnSpPr>
            <a:cxnSpLocks/>
          </p:cNvCxnSpPr>
          <p:nvPr/>
        </p:nvCxnSpPr>
        <p:spPr>
          <a:xfrm>
            <a:off x="7277690" y="3480156"/>
            <a:ext cx="16764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グラフィックス 54" descr="音符 単色塗りつぶし">
            <a:extLst>
              <a:ext uri="{FF2B5EF4-FFF2-40B4-BE49-F238E27FC236}">
                <a16:creationId xmlns:a16="http://schemas.microsoft.com/office/drawing/2014/main" id="{2F9596C8-3963-D6BB-6D0D-E786AC01DD9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71077" y="3062121"/>
            <a:ext cx="634281" cy="634281"/>
          </a:xfrm>
          <a:prstGeom prst="rect">
            <a:avLst/>
          </a:prstGeom>
        </p:spPr>
      </p:pic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5B996C21-291A-85B3-ED80-74DDFE3063AA}"/>
              </a:ext>
            </a:extLst>
          </p:cNvPr>
          <p:cNvCxnSpPr>
            <a:cxnSpLocks/>
          </p:cNvCxnSpPr>
          <p:nvPr/>
        </p:nvCxnSpPr>
        <p:spPr>
          <a:xfrm flipH="1">
            <a:off x="7277690" y="3984468"/>
            <a:ext cx="1676400" cy="5755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カギ線コネクタ 69">
            <a:extLst>
              <a:ext uri="{FF2B5EF4-FFF2-40B4-BE49-F238E27FC236}">
                <a16:creationId xmlns:a16="http://schemas.microsoft.com/office/drawing/2014/main" id="{92E0BCD2-46BC-6242-D4BA-2CA998D197F7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029607" y="3282988"/>
            <a:ext cx="941426" cy="712664"/>
          </a:xfrm>
          <a:prstGeom prst="bentConnector3">
            <a:avLst>
              <a:gd name="adj1" fmla="val 12"/>
            </a:avLst>
          </a:prstGeom>
          <a:ln w="571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9BA8600-2A64-A6A4-35D2-C8F076E49F6D}"/>
              </a:ext>
            </a:extLst>
          </p:cNvPr>
          <p:cNvCxnSpPr>
            <a:cxnSpLocks/>
          </p:cNvCxnSpPr>
          <p:nvPr/>
        </p:nvCxnSpPr>
        <p:spPr>
          <a:xfrm>
            <a:off x="11151209" y="3282987"/>
            <a:ext cx="83820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グラフィックス 80" descr="レシート 単色塗りつぶし">
            <a:extLst>
              <a:ext uri="{FF2B5EF4-FFF2-40B4-BE49-F238E27FC236}">
                <a16:creationId xmlns:a16="http://schemas.microsoft.com/office/drawing/2014/main" id="{7DA71F9C-E1EA-3BBD-B4AA-8565AFB989F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971033" y="3062121"/>
            <a:ext cx="1005403" cy="1005403"/>
          </a:xfrm>
          <a:prstGeom prst="rect">
            <a:avLst/>
          </a:prstGeom>
        </p:spPr>
      </p:pic>
      <p:grpSp>
        <p:nvGrpSpPr>
          <p:cNvPr id="83" name="グループ化 82">
            <a:extLst>
              <a:ext uri="{FF2B5EF4-FFF2-40B4-BE49-F238E27FC236}">
                <a16:creationId xmlns:a16="http://schemas.microsoft.com/office/drawing/2014/main" id="{67F673EE-2D6C-E7BF-AADD-9B6CC26B7F46}"/>
              </a:ext>
            </a:extLst>
          </p:cNvPr>
          <p:cNvGrpSpPr/>
          <p:nvPr/>
        </p:nvGrpSpPr>
        <p:grpSpPr>
          <a:xfrm>
            <a:off x="1219200" y="2676668"/>
            <a:ext cx="1565399" cy="2088047"/>
            <a:chOff x="2175483" y="3006543"/>
            <a:chExt cx="1565399" cy="2088047"/>
          </a:xfrm>
        </p:grpSpPr>
        <p:sp>
          <p:nvSpPr>
            <p:cNvPr id="84" name="Freeform 9">
              <a:extLst>
                <a:ext uri="{FF2B5EF4-FFF2-40B4-BE49-F238E27FC236}">
                  <a16:creationId xmlns:a16="http://schemas.microsoft.com/office/drawing/2014/main" id="{5375B323-475E-6A95-8FFE-E73FEF959B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5483" y="3006543"/>
              <a:ext cx="1565399" cy="1525552"/>
            </a:xfrm>
            <a:custGeom>
              <a:avLst/>
              <a:gdLst/>
              <a:ahLst/>
              <a:cxnLst/>
              <a:rect l="l" t="t" r="r" b="b"/>
              <a:pathLst>
                <a:path w="1565399" h="1525552">
                  <a:moveTo>
                    <a:pt x="0" y="0"/>
                  </a:moveTo>
                  <a:lnTo>
                    <a:pt x="1565399" y="0"/>
                  </a:lnTo>
                  <a:lnTo>
                    <a:pt x="1565399" y="1525552"/>
                  </a:lnTo>
                  <a:lnTo>
                    <a:pt x="0" y="152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85" name="テキスト ボックス 84">
              <a:extLst>
                <a:ext uri="{FF2B5EF4-FFF2-40B4-BE49-F238E27FC236}">
                  <a16:creationId xmlns:a16="http://schemas.microsoft.com/office/drawing/2014/main" id="{5AB9158A-173F-CB7F-A34D-805349385524}"/>
                </a:ext>
              </a:extLst>
            </p:cNvPr>
            <p:cNvSpPr txBox="1"/>
            <p:nvPr/>
          </p:nvSpPr>
          <p:spPr>
            <a:xfrm>
              <a:off x="2274341" y="4632925"/>
              <a:ext cx="13676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 err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pyaudio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pic>
        <p:nvPicPr>
          <p:cNvPr id="90" name="グラフィックス 89" descr="レシート 単色塗りつぶし">
            <a:extLst>
              <a:ext uri="{FF2B5EF4-FFF2-40B4-BE49-F238E27FC236}">
                <a16:creationId xmlns:a16="http://schemas.microsoft.com/office/drawing/2014/main" id="{FEF19BE5-3B6E-1435-750C-83F406C2230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716016" y="3704938"/>
            <a:ext cx="654366" cy="654366"/>
          </a:xfrm>
          <a:prstGeom prst="rect">
            <a:avLst/>
          </a:prstGeom>
        </p:spPr>
      </p:pic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598FBF48-73DD-1F31-C186-D3C3994238AF}"/>
              </a:ext>
            </a:extLst>
          </p:cNvPr>
          <p:cNvCxnSpPr>
            <a:cxnSpLocks/>
          </p:cNvCxnSpPr>
          <p:nvPr/>
        </p:nvCxnSpPr>
        <p:spPr>
          <a:xfrm>
            <a:off x="5257800" y="4533900"/>
            <a:ext cx="0" cy="1143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グラフィックス 96" descr="レシート 単色塗りつぶし">
            <a:extLst>
              <a:ext uri="{FF2B5EF4-FFF2-40B4-BE49-F238E27FC236}">
                <a16:creationId xmlns:a16="http://schemas.microsoft.com/office/drawing/2014/main" id="{F884BA20-425E-4DDF-BFAB-61189674493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908492" y="4641534"/>
            <a:ext cx="654366" cy="654366"/>
          </a:xfrm>
          <a:prstGeom prst="rect">
            <a:avLst/>
          </a:prstGeom>
        </p:spPr>
      </p:pic>
      <p:grpSp>
        <p:nvGrpSpPr>
          <p:cNvPr id="101" name="グループ化 100">
            <a:extLst>
              <a:ext uri="{FF2B5EF4-FFF2-40B4-BE49-F238E27FC236}">
                <a16:creationId xmlns:a16="http://schemas.microsoft.com/office/drawing/2014/main" id="{64D042FC-EB48-434F-C849-E8ADDBA1853F}"/>
              </a:ext>
            </a:extLst>
          </p:cNvPr>
          <p:cNvGrpSpPr/>
          <p:nvPr/>
        </p:nvGrpSpPr>
        <p:grpSpPr>
          <a:xfrm>
            <a:off x="4312308" y="5600700"/>
            <a:ext cx="2061783" cy="2358777"/>
            <a:chOff x="2754585" y="6122140"/>
            <a:chExt cx="2061783" cy="2358777"/>
          </a:xfrm>
        </p:grpSpPr>
        <p:sp>
          <p:nvSpPr>
            <p:cNvPr id="99" name="Freeform 7">
              <a:extLst>
                <a:ext uri="{FF2B5EF4-FFF2-40B4-BE49-F238E27FC236}">
                  <a16:creationId xmlns:a16="http://schemas.microsoft.com/office/drawing/2014/main" id="{E05B2F4E-DBCE-28DE-0388-A9DBC7EA9207}"/>
                </a:ext>
              </a:extLst>
            </p:cNvPr>
            <p:cNvSpPr/>
            <p:nvPr/>
          </p:nvSpPr>
          <p:spPr>
            <a:xfrm>
              <a:off x="2874802" y="6122140"/>
              <a:ext cx="1821353" cy="1498063"/>
            </a:xfrm>
            <a:custGeom>
              <a:avLst/>
              <a:gdLst/>
              <a:ahLst/>
              <a:cxnLst/>
              <a:rect l="l" t="t" r="r" b="b"/>
              <a:pathLst>
                <a:path w="1821353" h="1498063">
                  <a:moveTo>
                    <a:pt x="0" y="0"/>
                  </a:moveTo>
                  <a:lnTo>
                    <a:pt x="1821353" y="0"/>
                  </a:lnTo>
                  <a:lnTo>
                    <a:pt x="1821353" y="1498063"/>
                  </a:lnTo>
                  <a:lnTo>
                    <a:pt x="0" y="1498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0" name="テキスト ボックス 99">
              <a:extLst>
                <a:ext uri="{FF2B5EF4-FFF2-40B4-BE49-F238E27FC236}">
                  <a16:creationId xmlns:a16="http://schemas.microsoft.com/office/drawing/2014/main" id="{03AAD9EB-EFB6-43AE-90BE-B917FDD9CCBE}"/>
                </a:ext>
              </a:extLst>
            </p:cNvPr>
            <p:cNvSpPr txBox="1"/>
            <p:nvPr/>
          </p:nvSpPr>
          <p:spPr>
            <a:xfrm>
              <a:off x="2754585" y="7773031"/>
              <a:ext cx="206178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4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分析</a:t>
              </a:r>
              <a:endParaRPr kumimoji="1" lang="en-US" altLang="ja-JP" sz="2400" b="1" dirty="0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pPr algn="ctr"/>
              <a:r>
                <a:rPr kumimoji="1" lang="en-US" altLang="ja-JP" sz="16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Zero-shot-learning</a:t>
              </a:r>
            </a:p>
          </p:txBody>
        </p:sp>
      </p:grp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1082F7CB-97A6-ED58-0BBB-86896D34340F}"/>
              </a:ext>
            </a:extLst>
          </p:cNvPr>
          <p:cNvCxnSpPr>
            <a:cxnSpLocks/>
          </p:cNvCxnSpPr>
          <p:nvPr/>
        </p:nvCxnSpPr>
        <p:spPr>
          <a:xfrm>
            <a:off x="6307675" y="6349731"/>
            <a:ext cx="2255693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7" name="グラフィックス 106" descr="コメント: ハート 単色塗りつぶし">
            <a:extLst>
              <a:ext uri="{FF2B5EF4-FFF2-40B4-BE49-F238E27FC236}">
                <a16:creationId xmlns:a16="http://schemas.microsoft.com/office/drawing/2014/main" id="{8825AAC8-B3DA-CFA1-5C19-B9CC8E5398F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013484" y="5846375"/>
            <a:ext cx="821125" cy="821125"/>
          </a:xfrm>
          <a:prstGeom prst="rect">
            <a:avLst/>
          </a:prstGeom>
        </p:spPr>
      </p:pic>
      <p:grpSp>
        <p:nvGrpSpPr>
          <p:cNvPr id="112" name="グループ化 111">
            <a:extLst>
              <a:ext uri="{FF2B5EF4-FFF2-40B4-BE49-F238E27FC236}">
                <a16:creationId xmlns:a16="http://schemas.microsoft.com/office/drawing/2014/main" id="{99DA5829-E57E-D88E-7FCB-67B82DEBDBD3}"/>
              </a:ext>
            </a:extLst>
          </p:cNvPr>
          <p:cNvGrpSpPr/>
          <p:nvPr/>
        </p:nvGrpSpPr>
        <p:grpSpPr>
          <a:xfrm>
            <a:off x="15316221" y="5816533"/>
            <a:ext cx="1676379" cy="1894271"/>
            <a:chOff x="14518479" y="5789880"/>
            <a:chExt cx="1676379" cy="1894271"/>
          </a:xfrm>
        </p:grpSpPr>
        <p:pic>
          <p:nvPicPr>
            <p:cNvPr id="110" name="グラフィックス 109" descr="男性のプロフィール 枠線">
              <a:extLst>
                <a:ext uri="{FF2B5EF4-FFF2-40B4-BE49-F238E27FC236}">
                  <a16:creationId xmlns:a16="http://schemas.microsoft.com/office/drawing/2014/main" id="{30A0BF46-E547-BD1F-81CE-838B6277E5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4518479" y="5789880"/>
              <a:ext cx="1676379" cy="1676379"/>
            </a:xfrm>
            <a:prstGeom prst="rect">
              <a:avLst/>
            </a:prstGeom>
          </p:spPr>
        </p:pic>
        <p:sp>
          <p:nvSpPr>
            <p:cNvPr id="111" name="テキスト ボックス 110">
              <a:extLst>
                <a:ext uri="{FF2B5EF4-FFF2-40B4-BE49-F238E27FC236}">
                  <a16:creationId xmlns:a16="http://schemas.microsoft.com/office/drawing/2014/main" id="{CA47A0BA-78A5-CAD7-40BE-13ECE04DEFA4}"/>
                </a:ext>
              </a:extLst>
            </p:cNvPr>
            <p:cNvSpPr txBox="1"/>
            <p:nvPr/>
          </p:nvSpPr>
          <p:spPr>
            <a:xfrm>
              <a:off x="14648782" y="7222486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ユーザー</a:t>
              </a:r>
            </a:p>
          </p:txBody>
        </p:sp>
      </p:grp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D926C624-27CC-82CE-975B-DC9921387440}"/>
              </a:ext>
            </a:extLst>
          </p:cNvPr>
          <p:cNvCxnSpPr>
            <a:cxnSpLocks/>
          </p:cNvCxnSpPr>
          <p:nvPr/>
        </p:nvCxnSpPr>
        <p:spPr>
          <a:xfrm>
            <a:off x="9968642" y="6368616"/>
            <a:ext cx="1554798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1CF779EC-A6CB-5471-2E45-715A07603CAC}"/>
              </a:ext>
            </a:extLst>
          </p:cNvPr>
          <p:cNvCxnSpPr>
            <a:cxnSpLocks/>
          </p:cNvCxnSpPr>
          <p:nvPr/>
        </p:nvCxnSpPr>
        <p:spPr>
          <a:xfrm>
            <a:off x="13470269" y="6852919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グラフィックス 118" descr="クリップ 単色塗りつぶし">
            <a:extLst>
              <a:ext uri="{FF2B5EF4-FFF2-40B4-BE49-F238E27FC236}">
                <a16:creationId xmlns:a16="http://schemas.microsoft.com/office/drawing/2014/main" id="{D08D52D0-A1F4-A8B0-9AFA-121A8D1C0F0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4007074" y="6571589"/>
            <a:ext cx="624053" cy="624053"/>
          </a:xfrm>
          <a:prstGeom prst="rect">
            <a:avLst/>
          </a:prstGeom>
        </p:spPr>
      </p:pic>
      <p:cxnSp>
        <p:nvCxnSpPr>
          <p:cNvPr id="121" name="直線矢印コネクタ 120">
            <a:extLst>
              <a:ext uri="{FF2B5EF4-FFF2-40B4-BE49-F238E27FC236}">
                <a16:creationId xmlns:a16="http://schemas.microsoft.com/office/drawing/2014/main" id="{EB8209B7-A8B5-2F55-F19F-5A87DB35653B}"/>
              </a:ext>
            </a:extLst>
          </p:cNvPr>
          <p:cNvCxnSpPr>
            <a:cxnSpLocks/>
          </p:cNvCxnSpPr>
          <p:nvPr/>
        </p:nvCxnSpPr>
        <p:spPr>
          <a:xfrm>
            <a:off x="9968642" y="6915230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矢印コネクタ 122">
            <a:extLst>
              <a:ext uri="{FF2B5EF4-FFF2-40B4-BE49-F238E27FC236}">
                <a16:creationId xmlns:a16="http://schemas.microsoft.com/office/drawing/2014/main" id="{7DD4BE27-6DFA-06B1-6CE9-1DFECEE2F18C}"/>
              </a:ext>
            </a:extLst>
          </p:cNvPr>
          <p:cNvCxnSpPr>
            <a:cxnSpLocks/>
          </p:cNvCxnSpPr>
          <p:nvPr/>
        </p:nvCxnSpPr>
        <p:spPr>
          <a:xfrm>
            <a:off x="13532957" y="6342396"/>
            <a:ext cx="1554798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7" name="グラフィックス 126" descr="コメント: ハート 単色塗りつぶし">
            <a:extLst>
              <a:ext uri="{FF2B5EF4-FFF2-40B4-BE49-F238E27FC236}">
                <a16:creationId xmlns:a16="http://schemas.microsoft.com/office/drawing/2014/main" id="{6EA9D058-4A80-BF43-3F34-5CDC32621FC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358853" y="5848371"/>
            <a:ext cx="821125" cy="821125"/>
          </a:xfrm>
          <a:prstGeom prst="rect">
            <a:avLst/>
          </a:prstGeom>
        </p:spPr>
      </p:pic>
      <p:pic>
        <p:nvPicPr>
          <p:cNvPr id="128" name="グラフィックス 127" descr="コメント: ハート 単色塗りつぶし">
            <a:extLst>
              <a:ext uri="{FF2B5EF4-FFF2-40B4-BE49-F238E27FC236}">
                <a16:creationId xmlns:a16="http://schemas.microsoft.com/office/drawing/2014/main" id="{446922BD-35B6-8FC1-AA1D-E1F5F108E62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3877587" y="5846375"/>
            <a:ext cx="821125" cy="821125"/>
          </a:xfrm>
          <a:prstGeom prst="rect">
            <a:avLst/>
          </a:prstGeom>
        </p:spPr>
      </p:pic>
      <p:cxnSp>
        <p:nvCxnSpPr>
          <p:cNvPr id="129" name="直線矢印コネクタ 128">
            <a:extLst>
              <a:ext uri="{FF2B5EF4-FFF2-40B4-BE49-F238E27FC236}">
                <a16:creationId xmlns:a16="http://schemas.microsoft.com/office/drawing/2014/main" id="{6C8D3D3E-37D3-FDC8-7446-A987F63F4C09}"/>
              </a:ext>
            </a:extLst>
          </p:cNvPr>
          <p:cNvCxnSpPr>
            <a:cxnSpLocks/>
            <a:endCxn id="85" idx="2"/>
          </p:cNvCxnSpPr>
          <p:nvPr/>
        </p:nvCxnSpPr>
        <p:spPr>
          <a:xfrm flipV="1">
            <a:off x="2001899" y="4764715"/>
            <a:ext cx="0" cy="400336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95B8314C-9AF2-3807-FC8C-ECD9AEFE64FE}"/>
              </a:ext>
            </a:extLst>
          </p:cNvPr>
          <p:cNvCxnSpPr>
            <a:cxnSpLocks/>
          </p:cNvCxnSpPr>
          <p:nvPr/>
        </p:nvCxnSpPr>
        <p:spPr>
          <a:xfrm flipV="1">
            <a:off x="2001899" y="8741919"/>
            <a:ext cx="14152511" cy="8601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矢印コネクタ 135">
            <a:extLst>
              <a:ext uri="{FF2B5EF4-FFF2-40B4-BE49-F238E27FC236}">
                <a16:creationId xmlns:a16="http://schemas.microsoft.com/office/drawing/2014/main" id="{EADE4D2B-5764-0EF5-BC1D-A79AD0F3F9C8}"/>
              </a:ext>
            </a:extLst>
          </p:cNvPr>
          <p:cNvCxnSpPr>
            <a:cxnSpLocks/>
            <a:stCxn id="111" idx="2"/>
          </p:cNvCxnSpPr>
          <p:nvPr/>
        </p:nvCxnSpPr>
        <p:spPr>
          <a:xfrm>
            <a:off x="16154410" y="7710804"/>
            <a:ext cx="0" cy="105728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4" name="グラフィックス 143" descr="クリップ 単色塗りつぶし">
            <a:extLst>
              <a:ext uri="{FF2B5EF4-FFF2-40B4-BE49-F238E27FC236}">
                <a16:creationId xmlns:a16="http://schemas.microsoft.com/office/drawing/2014/main" id="{AACD41AD-82C6-24CA-573B-BEA8B6CA6AC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519350" y="6665934"/>
            <a:ext cx="624053" cy="624053"/>
          </a:xfrm>
          <a:prstGeom prst="rect">
            <a:avLst/>
          </a:prstGeom>
        </p:spPr>
      </p:pic>
      <p:sp>
        <p:nvSpPr>
          <p:cNvPr id="41" name="角丸四角形 40">
            <a:extLst>
              <a:ext uri="{FF2B5EF4-FFF2-40B4-BE49-F238E27FC236}">
                <a16:creationId xmlns:a16="http://schemas.microsoft.com/office/drawing/2014/main" id="{D4795671-36A6-84ED-9069-6997442E397F}"/>
              </a:ext>
            </a:extLst>
          </p:cNvPr>
          <p:cNvSpPr/>
          <p:nvPr/>
        </p:nvSpPr>
        <p:spPr>
          <a:xfrm>
            <a:off x="443701" y="5483029"/>
            <a:ext cx="918672" cy="3546669"/>
          </a:xfrm>
          <a:prstGeom prst="roundRect">
            <a:avLst/>
          </a:prstGeom>
          <a:solidFill>
            <a:srgbClr val="FFE8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データ分析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to</a:t>
            </a:r>
          </a:p>
          <a:p>
            <a:pPr algn="ctr"/>
            <a:r>
              <a:rPr kumimoji="1" lang="ja-JP" altLang="en-US">
                <a:solidFill>
                  <a:schemeClr val="tx1"/>
                </a:solidFill>
              </a:rPr>
              <a:t>表示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03D17AF7-F7B8-86AD-A910-003BDBE68DCA}"/>
              </a:ext>
            </a:extLst>
          </p:cNvPr>
          <p:cNvGrpSpPr/>
          <p:nvPr/>
        </p:nvGrpSpPr>
        <p:grpSpPr>
          <a:xfrm>
            <a:off x="13545657" y="2552260"/>
            <a:ext cx="4552419" cy="2812676"/>
            <a:chOff x="13639800" y="2361306"/>
            <a:chExt cx="4552419" cy="2812676"/>
          </a:xfrm>
        </p:grpSpPr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CDD7366C-E347-2E6A-B8D6-C3B8810B0DB8}"/>
                </a:ext>
              </a:extLst>
            </p:cNvPr>
            <p:cNvSpPr/>
            <p:nvPr/>
          </p:nvSpPr>
          <p:spPr>
            <a:xfrm>
              <a:off x="13639800" y="2361306"/>
              <a:ext cx="4552419" cy="281267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44" name="グループ化 43">
              <a:extLst>
                <a:ext uri="{FF2B5EF4-FFF2-40B4-BE49-F238E27FC236}">
                  <a16:creationId xmlns:a16="http://schemas.microsoft.com/office/drawing/2014/main" id="{C97EB91F-16C1-AD2B-CEC4-A6C0DA06F487}"/>
                </a:ext>
              </a:extLst>
            </p:cNvPr>
            <p:cNvGrpSpPr/>
            <p:nvPr/>
          </p:nvGrpSpPr>
          <p:grpSpPr>
            <a:xfrm>
              <a:off x="13928033" y="2445931"/>
              <a:ext cx="4264186" cy="2615481"/>
              <a:chOff x="13928033" y="2445931"/>
              <a:chExt cx="4264186" cy="2615481"/>
            </a:xfrm>
          </p:grpSpPr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45BB3AA3-19B2-54B3-E5AC-0293A5A18FC9}"/>
                  </a:ext>
                </a:extLst>
              </p:cNvPr>
              <p:cNvSpPr txBox="1"/>
              <p:nvPr/>
            </p:nvSpPr>
            <p:spPr>
              <a:xfrm>
                <a:off x="14545067" y="2735113"/>
                <a:ext cx="3647152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b="1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：音声データ</a:t>
                </a:r>
                <a:endParaRPr kumimoji="1" lang="en-US" altLang="ja-JP" b="1" dirty="0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  <a:p>
                <a:endParaRPr kumimoji="1" lang="en-US" altLang="ja-JP" b="1" dirty="0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  <a:p>
                <a:r>
                  <a:rPr kumimoji="1" lang="ja-JP" altLang="en-US" b="1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：文字データ</a:t>
                </a:r>
              </a:p>
              <a:p>
                <a:endParaRPr kumimoji="1" lang="en-US" altLang="ja-JP" b="1" dirty="0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  <a:p>
                <a:r>
                  <a:rPr kumimoji="1" lang="ja-JP" altLang="en-US" b="1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：ラベル</a:t>
                </a:r>
                <a:r>
                  <a:rPr kumimoji="1" lang="en-US" altLang="ja-JP" b="1" dirty="0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/</a:t>
                </a:r>
                <a:r>
                  <a:rPr kumimoji="1" lang="ja-JP" altLang="en-US" b="1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スコア</a:t>
                </a:r>
                <a:r>
                  <a:rPr kumimoji="1" lang="en-US" altLang="ja-JP" b="1" dirty="0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/</a:t>
                </a:r>
                <a:r>
                  <a:rPr kumimoji="1" lang="ja-JP" altLang="en-US" b="1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マッチング結果</a:t>
                </a:r>
                <a:endParaRPr kumimoji="1" lang="en-US" altLang="ja-JP" b="1" dirty="0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  <a:p>
                <a:endParaRPr kumimoji="1" lang="en-US" altLang="ja-JP" b="1" dirty="0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  <a:p>
                <a:r>
                  <a:rPr kumimoji="1" lang="ja-JP" altLang="en-US" b="1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：プロフィール</a:t>
                </a:r>
              </a:p>
            </p:txBody>
          </p:sp>
          <p:pic>
            <p:nvPicPr>
              <p:cNvPr id="47" name="グラフィックス 46" descr="音符 単色塗りつぶし">
                <a:extLst>
                  <a:ext uri="{FF2B5EF4-FFF2-40B4-BE49-F238E27FC236}">
                    <a16:creationId xmlns:a16="http://schemas.microsoft.com/office/drawing/2014/main" id="{84986B11-3905-002D-46D2-7FE4A977EA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3974744" y="2445931"/>
                <a:ext cx="634281" cy="634281"/>
              </a:xfrm>
              <a:prstGeom prst="rect">
                <a:avLst/>
              </a:prstGeom>
            </p:spPr>
          </p:pic>
          <p:pic>
            <p:nvPicPr>
              <p:cNvPr id="48" name="グラフィックス 47" descr="レシート 単色塗りつぶし">
                <a:extLst>
                  <a:ext uri="{FF2B5EF4-FFF2-40B4-BE49-F238E27FC236}">
                    <a16:creationId xmlns:a16="http://schemas.microsoft.com/office/drawing/2014/main" id="{C4C5531F-2C0A-41C6-667A-6D94A5F579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p:blipFill>
            <p:spPr>
              <a:xfrm>
                <a:off x="13974744" y="3082411"/>
                <a:ext cx="634280" cy="634280"/>
              </a:xfrm>
              <a:prstGeom prst="rect">
                <a:avLst/>
              </a:prstGeom>
            </p:spPr>
          </p:pic>
          <p:pic>
            <p:nvPicPr>
              <p:cNvPr id="50" name="グラフィックス 49" descr="コメント: ハート 単色塗りつぶし">
                <a:extLst>
                  <a:ext uri="{FF2B5EF4-FFF2-40B4-BE49-F238E27FC236}">
                    <a16:creationId xmlns:a16="http://schemas.microsoft.com/office/drawing/2014/main" id="{3D276128-0A45-6DE2-8DF6-3D3E980ED0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>
                <a:off x="13928033" y="3724109"/>
                <a:ext cx="727703" cy="727703"/>
              </a:xfrm>
              <a:prstGeom prst="rect">
                <a:avLst/>
              </a:prstGeom>
            </p:spPr>
          </p:pic>
          <p:pic>
            <p:nvPicPr>
              <p:cNvPr id="51" name="グラフィックス 50" descr="クリップ 単色塗りつぶし">
                <a:extLst>
                  <a:ext uri="{FF2B5EF4-FFF2-40B4-BE49-F238E27FC236}">
                    <a16:creationId xmlns:a16="http://schemas.microsoft.com/office/drawing/2014/main" id="{95AEB116-C001-B44B-6792-C84C89AFD4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p:blipFill>
            <p:spPr>
              <a:xfrm>
                <a:off x="13939610" y="4356863"/>
                <a:ext cx="704549" cy="704549"/>
              </a:xfrm>
              <a:prstGeom prst="rect">
                <a:avLst/>
              </a:prstGeom>
            </p:spPr>
          </p:pic>
        </p:grpSp>
      </p:grp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B1B331F-DC4D-6D5C-9D60-D829CA6B9C1D}"/>
              </a:ext>
            </a:extLst>
          </p:cNvPr>
          <p:cNvSpPr txBox="1"/>
          <p:nvPr/>
        </p:nvSpPr>
        <p:spPr>
          <a:xfrm>
            <a:off x="9336679" y="7553221"/>
            <a:ext cx="3047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18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マッチングシステム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2B99A4D-3DCC-5C0D-C4BC-54D47C2A67DF}"/>
              </a:ext>
            </a:extLst>
          </p:cNvPr>
          <p:cNvSpPr txBox="1"/>
          <p:nvPr/>
        </p:nvSpPr>
        <p:spPr>
          <a:xfrm>
            <a:off x="8510927" y="446583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①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6286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2EF56-E0BB-2BB6-81D4-BF2C518A2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B985542-F126-34D9-8E3D-30AAE0B6D477}"/>
              </a:ext>
            </a:extLst>
          </p:cNvPr>
          <p:cNvSpPr/>
          <p:nvPr/>
        </p:nvSpPr>
        <p:spPr>
          <a:xfrm>
            <a:off x="857250" y="2361305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42C4685-2844-3D02-2A67-34192AF9EFC6}"/>
              </a:ext>
            </a:extLst>
          </p:cNvPr>
          <p:cNvSpPr/>
          <p:nvPr/>
        </p:nvSpPr>
        <p:spPr>
          <a:xfrm>
            <a:off x="857250" y="1047750"/>
            <a:ext cx="16573459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6829461A-9589-6D3E-5162-C998CAE2826F}"/>
              </a:ext>
            </a:extLst>
          </p:cNvPr>
          <p:cNvSpPr/>
          <p:nvPr/>
        </p:nvSpPr>
        <p:spPr>
          <a:xfrm flipV="1">
            <a:off x="856856" y="904405"/>
            <a:ext cx="16574288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F874E3AC-846A-9D24-E4AA-17B5961BFCEA}"/>
              </a:ext>
            </a:extLst>
          </p:cNvPr>
          <p:cNvSpPr/>
          <p:nvPr/>
        </p:nvSpPr>
        <p:spPr>
          <a:xfrm>
            <a:off x="857250" y="9382595"/>
            <a:ext cx="16573500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04784978-BC0E-4A12-943C-D83A6C67B57A}"/>
              </a:ext>
            </a:extLst>
          </p:cNvPr>
          <p:cNvGrpSpPr/>
          <p:nvPr/>
        </p:nvGrpSpPr>
        <p:grpSpPr>
          <a:xfrm>
            <a:off x="1282599" y="650625"/>
            <a:ext cx="1213487" cy="1720205"/>
            <a:chOff x="0" y="0"/>
            <a:chExt cx="319601" cy="45305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AC68D1C-1ED5-F809-F8CC-436A24BD0AE9}"/>
                </a:ext>
              </a:extLst>
            </p:cNvPr>
            <p:cNvSpPr/>
            <p:nvPr/>
          </p:nvSpPr>
          <p:spPr>
            <a:xfrm>
              <a:off x="0" y="0"/>
              <a:ext cx="319601" cy="453058"/>
            </a:xfrm>
            <a:custGeom>
              <a:avLst/>
              <a:gdLst/>
              <a:ahLst/>
              <a:cxnLst/>
              <a:rect l="l" t="t" r="r" b="b"/>
              <a:pathLst>
                <a:path w="319601" h="453058">
                  <a:moveTo>
                    <a:pt x="0" y="0"/>
                  </a:moveTo>
                  <a:lnTo>
                    <a:pt x="319601" y="0"/>
                  </a:lnTo>
                  <a:lnTo>
                    <a:pt x="319601" y="453058"/>
                  </a:lnTo>
                  <a:lnTo>
                    <a:pt x="0" y="453058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A9383F83-9E4E-D8AC-0BE6-7A01BF6D1EF9}"/>
                </a:ext>
              </a:extLst>
            </p:cNvPr>
            <p:cNvSpPr txBox="1"/>
            <p:nvPr/>
          </p:nvSpPr>
          <p:spPr>
            <a:xfrm>
              <a:off x="0" y="-47625"/>
              <a:ext cx="319601" cy="500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91AEB17F-7FBC-E479-F790-F456BF65E9E4}"/>
              </a:ext>
            </a:extLst>
          </p:cNvPr>
          <p:cNvSpPr txBox="1"/>
          <p:nvPr/>
        </p:nvSpPr>
        <p:spPr>
          <a:xfrm>
            <a:off x="2949343" y="1371153"/>
            <a:ext cx="14309957" cy="59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 spc="175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今後実装する部分</a:t>
            </a:r>
            <a:r>
              <a:rPr lang="ja-JP" altLang="en-US" sz="3500" b="1" spc="175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　</a:t>
            </a:r>
            <a:r>
              <a:rPr lang="en-US" sz="3500" b="1" spc="175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データ作成・変換</a:t>
            </a:r>
            <a:endParaRPr lang="en-US" sz="3500" b="1" spc="175" dirty="0">
              <a:solidFill>
                <a:srgbClr val="1B1B1B"/>
              </a:solidFill>
              <a:latin typeface="Yu Gothic" panose="020B0400000000000000" pitchFamily="34" charset="-128"/>
              <a:ea typeface="Yu Gothic" panose="020B0400000000000000" pitchFamily="34" charset="-128"/>
              <a:cs typeface="Noto Sans JP Heavy"/>
              <a:sym typeface="Noto Sans JP Heavy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A1EECC1-40B1-40E5-CB52-8909CFA64BF8}"/>
              </a:ext>
            </a:extLst>
          </p:cNvPr>
          <p:cNvSpPr txBox="1"/>
          <p:nvPr/>
        </p:nvSpPr>
        <p:spPr>
          <a:xfrm>
            <a:off x="1461953" y="1228278"/>
            <a:ext cx="85477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3500" b="1" u="none" strike="noStrike" dirty="0">
                <a:solidFill>
                  <a:srgbClr val="FAFAFA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Open Sans Bold"/>
                <a:sym typeface="Open Sans Bold"/>
              </a:rPr>
              <a:t>02</a:t>
            </a:r>
          </a:p>
        </p:txBody>
      </p:sp>
      <p:graphicFrame>
        <p:nvGraphicFramePr>
          <p:cNvPr id="14" name="表 13">
            <a:extLst>
              <a:ext uri="{FF2B5EF4-FFF2-40B4-BE49-F238E27FC236}">
                <a16:creationId xmlns:a16="http://schemas.microsoft.com/office/drawing/2014/main" id="{8A043DD8-A00B-407C-B877-BE9C14FA0E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095042"/>
              </p:ext>
            </p:extLst>
          </p:nvPr>
        </p:nvGraphicFramePr>
        <p:xfrm>
          <a:off x="7935297" y="4229100"/>
          <a:ext cx="9066992" cy="2748984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040073">
                  <a:extLst>
                    <a:ext uri="{9D8B030D-6E8A-4147-A177-3AD203B41FA5}">
                      <a16:colId xmlns:a16="http://schemas.microsoft.com/office/drawing/2014/main" val="151083142"/>
                    </a:ext>
                  </a:extLst>
                </a:gridCol>
                <a:gridCol w="7026919">
                  <a:extLst>
                    <a:ext uri="{9D8B030D-6E8A-4147-A177-3AD203B41FA5}">
                      <a16:colId xmlns:a16="http://schemas.microsoft.com/office/drawing/2014/main" val="3451232418"/>
                    </a:ext>
                  </a:extLst>
                </a:gridCol>
              </a:tblGrid>
              <a:tr h="137449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1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目的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2800" b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音文字起こしデータを</a:t>
                      </a:r>
                      <a:r>
                        <a:rPr kumimoji="1" lang="en-US" altLang="ja-JP" sz="2800" b="1" dirty="0">
                          <a:solidFill>
                            <a:srgbClr val="C00000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GCS</a:t>
                      </a:r>
                      <a:r>
                        <a:rPr kumimoji="1" lang="ja-JP" altLang="en-US" sz="2800" b="1">
                          <a:solidFill>
                            <a:srgbClr val="C00000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に保存</a:t>
                      </a:r>
                      <a:r>
                        <a:rPr kumimoji="1" lang="ja-JP" altLang="en-US" sz="2800" b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する</a:t>
                      </a:r>
                      <a:endParaRPr kumimoji="1" lang="ja-JP" altLang="en-US" sz="2800" b="1">
                        <a:solidFill>
                          <a:srgbClr val="C00000"/>
                        </a:solidFill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7943959"/>
                  </a:ext>
                </a:extLst>
              </a:tr>
              <a:tr h="137449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1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技術要素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そもそも，文字起こしのコードはどうやって実行する</a:t>
                      </a:r>
                      <a:r>
                        <a:rPr kumimoji="1" lang="en-US" altLang="ja-JP" sz="2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...</a:t>
                      </a:r>
                      <a:r>
                        <a:rPr kumimoji="1" lang="ja-JP" altLang="en-US" sz="2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？</a:t>
                      </a:r>
                      <a:endParaRPr kumimoji="1" lang="en-US" altLang="ja-JP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Yu Gothic" panose="020B0400000000000000" pitchFamily="34" charset="-128"/>
                        <a:ea typeface="Yu Gothic" panose="020B0400000000000000" pitchFamily="34" charset="-128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2937220"/>
                  </a:ext>
                </a:extLst>
              </a:tr>
            </a:tbl>
          </a:graphicData>
        </a:graphic>
      </p:graphicFrame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96A6E336-8C10-D43F-F1FB-7ABFFCE438C6}"/>
              </a:ext>
            </a:extLst>
          </p:cNvPr>
          <p:cNvGrpSpPr/>
          <p:nvPr/>
        </p:nvGrpSpPr>
        <p:grpSpPr>
          <a:xfrm>
            <a:off x="856856" y="4474062"/>
            <a:ext cx="1855186" cy="2078502"/>
            <a:chOff x="7213805" y="3006543"/>
            <a:chExt cx="1855186" cy="2078502"/>
          </a:xfrm>
        </p:grpSpPr>
        <p:sp>
          <p:nvSpPr>
            <p:cNvPr id="37" name="Freeform 22">
              <a:extLst>
                <a:ext uri="{FF2B5EF4-FFF2-40B4-BE49-F238E27FC236}">
                  <a16:creationId xmlns:a16="http://schemas.microsoft.com/office/drawing/2014/main" id="{7B048CEA-3BDF-B938-D1C7-65DCE65BAF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13805" y="3006543"/>
              <a:ext cx="1855186" cy="1498063"/>
            </a:xfrm>
            <a:custGeom>
              <a:avLst/>
              <a:gdLst/>
              <a:ahLst/>
              <a:cxnLst/>
              <a:rect l="l" t="t" r="r" b="b"/>
              <a:pathLst>
                <a:path w="1855186" h="1498063">
                  <a:moveTo>
                    <a:pt x="0" y="0"/>
                  </a:moveTo>
                  <a:lnTo>
                    <a:pt x="1855187" y="0"/>
                  </a:lnTo>
                  <a:lnTo>
                    <a:pt x="1855187" y="1498063"/>
                  </a:lnTo>
                  <a:lnTo>
                    <a:pt x="0" y="1498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958C0A55-935B-0DA4-AE56-688B8F06ACD7}"/>
                </a:ext>
              </a:extLst>
            </p:cNvPr>
            <p:cNvSpPr txBox="1"/>
            <p:nvPr/>
          </p:nvSpPr>
          <p:spPr>
            <a:xfrm>
              <a:off x="7723275" y="4623380"/>
              <a:ext cx="8451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GCS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DDB0D3CB-DE18-6729-3430-CB74BC5755B5}"/>
              </a:ext>
            </a:extLst>
          </p:cNvPr>
          <p:cNvGrpSpPr/>
          <p:nvPr/>
        </p:nvGrpSpPr>
        <p:grpSpPr>
          <a:xfrm>
            <a:off x="4963497" y="4497200"/>
            <a:ext cx="2529860" cy="2055363"/>
            <a:chOff x="11486205" y="3006543"/>
            <a:chExt cx="2529860" cy="2055363"/>
          </a:xfrm>
        </p:grpSpPr>
        <p:sp>
          <p:nvSpPr>
            <p:cNvPr id="40" name="Freeform 11">
              <a:extLst>
                <a:ext uri="{FF2B5EF4-FFF2-40B4-BE49-F238E27FC236}">
                  <a16:creationId xmlns:a16="http://schemas.microsoft.com/office/drawing/2014/main" id="{A297EFD9-D266-77D7-4941-74474143FA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990296" y="3006543"/>
              <a:ext cx="1521679" cy="1480179"/>
            </a:xfrm>
            <a:custGeom>
              <a:avLst/>
              <a:gdLst/>
              <a:ahLst/>
              <a:cxnLst/>
              <a:rect l="l" t="t" r="r" b="b"/>
              <a:pathLst>
                <a:path w="1521679" h="1480179">
                  <a:moveTo>
                    <a:pt x="0" y="0"/>
                  </a:moveTo>
                  <a:lnTo>
                    <a:pt x="1521679" y="0"/>
                  </a:lnTo>
                  <a:lnTo>
                    <a:pt x="1521679" y="1480179"/>
                  </a:lnTo>
                  <a:lnTo>
                    <a:pt x="0" y="1480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2AEEFD58-585A-A32A-9B99-B92B0BC396EE}"/>
                </a:ext>
              </a:extLst>
            </p:cNvPr>
            <p:cNvSpPr txBox="1"/>
            <p:nvPr/>
          </p:nvSpPr>
          <p:spPr>
            <a:xfrm>
              <a:off x="11486205" y="4600241"/>
              <a:ext cx="25298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Speech-to-Text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645BCC10-C5F4-EC31-B9BB-1F5DFC9FE23D}"/>
              </a:ext>
            </a:extLst>
          </p:cNvPr>
          <p:cNvCxnSpPr>
            <a:cxnSpLocks/>
          </p:cNvCxnSpPr>
          <p:nvPr/>
        </p:nvCxnSpPr>
        <p:spPr>
          <a:xfrm flipH="1">
            <a:off x="3237350" y="5580231"/>
            <a:ext cx="1676400" cy="575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グラフィックス 42" descr="レシート 単色塗りつぶし">
            <a:extLst>
              <a:ext uri="{FF2B5EF4-FFF2-40B4-BE49-F238E27FC236}">
                <a16:creationId xmlns:a16="http://schemas.microsoft.com/office/drawing/2014/main" id="{BD112EAD-BF9A-FFF3-A316-BA124E6362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20497" y="5300701"/>
            <a:ext cx="654366" cy="654366"/>
          </a:xfrm>
          <a:prstGeom prst="rect">
            <a:avLst/>
          </a:prstGeom>
        </p:spPr>
      </p:pic>
      <p:sp>
        <p:nvSpPr>
          <p:cNvPr id="11" name="AutoShape 6">
            <a:extLst>
              <a:ext uri="{FF2B5EF4-FFF2-40B4-BE49-F238E27FC236}">
                <a16:creationId xmlns:a16="http://schemas.microsoft.com/office/drawing/2014/main" id="{675D46B3-B0DF-728C-E142-0349B1CF3AA4}"/>
              </a:ext>
            </a:extLst>
          </p:cNvPr>
          <p:cNvSpPr/>
          <p:nvPr/>
        </p:nvSpPr>
        <p:spPr>
          <a:xfrm>
            <a:off x="857250" y="9239250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29110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3BDE5-03A8-6C95-D679-D2A538C13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49E2E48-AF92-216A-1002-DEA3E5A9E681}"/>
              </a:ext>
            </a:extLst>
          </p:cNvPr>
          <p:cNvSpPr/>
          <p:nvPr/>
        </p:nvSpPr>
        <p:spPr>
          <a:xfrm>
            <a:off x="857250" y="2361305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7447D6A-BFDC-3745-CF2C-34904286CA5D}"/>
              </a:ext>
            </a:extLst>
          </p:cNvPr>
          <p:cNvSpPr/>
          <p:nvPr/>
        </p:nvSpPr>
        <p:spPr>
          <a:xfrm>
            <a:off x="857250" y="1047750"/>
            <a:ext cx="16573459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C4C651D9-1EE6-1C7D-2CC7-882C9FB9CCDC}"/>
              </a:ext>
            </a:extLst>
          </p:cNvPr>
          <p:cNvSpPr/>
          <p:nvPr/>
        </p:nvSpPr>
        <p:spPr>
          <a:xfrm flipV="1">
            <a:off x="856856" y="904405"/>
            <a:ext cx="16574288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BA204C76-E99B-5105-57AD-276FBC2E2BA9}"/>
              </a:ext>
            </a:extLst>
          </p:cNvPr>
          <p:cNvSpPr/>
          <p:nvPr/>
        </p:nvSpPr>
        <p:spPr>
          <a:xfrm>
            <a:off x="857250" y="9382595"/>
            <a:ext cx="16573500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8E0B9951-ED97-3CC3-AB3F-A74BEF52AFF0}"/>
              </a:ext>
            </a:extLst>
          </p:cNvPr>
          <p:cNvSpPr/>
          <p:nvPr/>
        </p:nvSpPr>
        <p:spPr>
          <a:xfrm>
            <a:off x="857250" y="9239250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EFA54D60-D1DF-C503-E758-A1725B7F1E9D}"/>
              </a:ext>
            </a:extLst>
          </p:cNvPr>
          <p:cNvGrpSpPr/>
          <p:nvPr/>
        </p:nvGrpSpPr>
        <p:grpSpPr>
          <a:xfrm>
            <a:off x="1282599" y="650625"/>
            <a:ext cx="1213487" cy="1720205"/>
            <a:chOff x="0" y="0"/>
            <a:chExt cx="319601" cy="45305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E72C7E5-654D-DF39-59DB-24874AF2E09F}"/>
                </a:ext>
              </a:extLst>
            </p:cNvPr>
            <p:cNvSpPr/>
            <p:nvPr/>
          </p:nvSpPr>
          <p:spPr>
            <a:xfrm>
              <a:off x="0" y="0"/>
              <a:ext cx="319601" cy="453058"/>
            </a:xfrm>
            <a:custGeom>
              <a:avLst/>
              <a:gdLst/>
              <a:ahLst/>
              <a:cxnLst/>
              <a:rect l="l" t="t" r="r" b="b"/>
              <a:pathLst>
                <a:path w="319601" h="453058">
                  <a:moveTo>
                    <a:pt x="0" y="0"/>
                  </a:moveTo>
                  <a:lnTo>
                    <a:pt x="319601" y="0"/>
                  </a:lnTo>
                  <a:lnTo>
                    <a:pt x="319601" y="453058"/>
                  </a:lnTo>
                  <a:lnTo>
                    <a:pt x="0" y="453058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9194DF2-DB27-739C-6E37-96485FF3B90B}"/>
                </a:ext>
              </a:extLst>
            </p:cNvPr>
            <p:cNvSpPr txBox="1"/>
            <p:nvPr/>
          </p:nvSpPr>
          <p:spPr>
            <a:xfrm>
              <a:off x="0" y="-47625"/>
              <a:ext cx="319601" cy="500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79381A37-1F11-39F9-EF48-75AAA5BA2057}"/>
              </a:ext>
            </a:extLst>
          </p:cNvPr>
          <p:cNvSpPr txBox="1"/>
          <p:nvPr/>
        </p:nvSpPr>
        <p:spPr>
          <a:xfrm>
            <a:off x="2949343" y="1371153"/>
            <a:ext cx="14309957" cy="59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 spc="175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今後実装する部分</a:t>
            </a:r>
            <a:r>
              <a:rPr lang="ja-JP" altLang="en-US" sz="3500" b="1" spc="175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　</a:t>
            </a:r>
            <a:r>
              <a:rPr lang="en-US" sz="3500" b="1" spc="175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データ管理</a:t>
            </a:r>
            <a:endParaRPr lang="en-US" sz="3500" b="1" spc="175" dirty="0">
              <a:solidFill>
                <a:srgbClr val="1B1B1B"/>
              </a:solidFill>
              <a:latin typeface="Yu Gothic" panose="020B0400000000000000" pitchFamily="34" charset="-128"/>
              <a:ea typeface="Yu Gothic" panose="020B0400000000000000" pitchFamily="34" charset="-128"/>
              <a:cs typeface="Noto Sans JP Heavy"/>
              <a:sym typeface="Noto Sans JP Heavy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064EC89-5EA3-CF77-5FE7-3A3D5E46BF75}"/>
              </a:ext>
            </a:extLst>
          </p:cNvPr>
          <p:cNvSpPr txBox="1"/>
          <p:nvPr/>
        </p:nvSpPr>
        <p:spPr>
          <a:xfrm>
            <a:off x="1461953" y="1228278"/>
            <a:ext cx="85477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3500" b="1" u="none" strike="noStrike" dirty="0">
                <a:solidFill>
                  <a:srgbClr val="FAFAFA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Open Sans Bold"/>
                <a:sym typeface="Open Sans Bold"/>
              </a:rPr>
              <a:t>02</a:t>
            </a: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449E536C-E48E-DABD-3BE9-1BA0260779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402065"/>
              </p:ext>
            </p:extLst>
          </p:nvPr>
        </p:nvGraphicFramePr>
        <p:xfrm>
          <a:off x="7772400" y="2694232"/>
          <a:ext cx="9066992" cy="2748984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040073">
                  <a:extLst>
                    <a:ext uri="{9D8B030D-6E8A-4147-A177-3AD203B41FA5}">
                      <a16:colId xmlns:a16="http://schemas.microsoft.com/office/drawing/2014/main" val="151083142"/>
                    </a:ext>
                  </a:extLst>
                </a:gridCol>
                <a:gridCol w="7026919">
                  <a:extLst>
                    <a:ext uri="{9D8B030D-6E8A-4147-A177-3AD203B41FA5}">
                      <a16:colId xmlns:a16="http://schemas.microsoft.com/office/drawing/2014/main" val="3451232418"/>
                    </a:ext>
                  </a:extLst>
                </a:gridCol>
              </a:tblGrid>
              <a:tr h="137449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1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目的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2800" b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興味関心，マッチングの分析結果を</a:t>
                      </a:r>
                      <a:endParaRPr kumimoji="1" lang="en-US" altLang="ja-JP" sz="2800" b="0" dirty="0"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1" dirty="0">
                          <a:solidFill>
                            <a:srgbClr val="C00000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SQLite</a:t>
                      </a:r>
                      <a:r>
                        <a:rPr kumimoji="1" lang="ja-JP" altLang="en-US" sz="2800" b="1">
                          <a:solidFill>
                            <a:srgbClr val="C00000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に保存</a:t>
                      </a:r>
                      <a:r>
                        <a:rPr kumimoji="1" lang="ja-JP" altLang="en-US" sz="2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する</a:t>
                      </a:r>
                      <a:endParaRPr kumimoji="1" lang="en-US" altLang="ja-JP" sz="2800" b="0" kern="1200" dirty="0">
                        <a:solidFill>
                          <a:schemeClr val="dk1"/>
                        </a:solidFill>
                        <a:latin typeface="Yu Gothic" panose="020B0400000000000000" pitchFamily="34" charset="-128"/>
                        <a:ea typeface="Yu Gothic" panose="020B0400000000000000" pitchFamily="34" charset="-128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7943959"/>
                  </a:ext>
                </a:extLst>
              </a:tr>
              <a:tr h="137449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1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技術要素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2800" b="0" dirty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Django</a:t>
                      </a:r>
                      <a:r>
                        <a:rPr kumimoji="1" lang="ja-JP" altLang="en-US" sz="2800" b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と同様のデータベースに繋げる</a:t>
                      </a:r>
                      <a:r>
                        <a:rPr kumimoji="1" lang="en-US" altLang="ja-JP" sz="2800" b="0" dirty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(</a:t>
                      </a:r>
                      <a:r>
                        <a:rPr kumimoji="1" lang="ja-JP" altLang="en-US" sz="2800" b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？</a:t>
                      </a:r>
                      <a:r>
                        <a:rPr kumimoji="1" lang="en-US" altLang="ja-JP" sz="2800" b="0" dirty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)</a:t>
                      </a:r>
                      <a:endParaRPr kumimoji="1" lang="en-US" altLang="ja-JP" sz="1100" b="0" dirty="0"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2937220"/>
                  </a:ext>
                </a:extLst>
              </a:tr>
            </a:tbl>
          </a:graphicData>
        </a:graphic>
      </p:graphicFrame>
      <p:graphicFrame>
        <p:nvGraphicFramePr>
          <p:cNvPr id="14" name="表 13">
            <a:extLst>
              <a:ext uri="{FF2B5EF4-FFF2-40B4-BE49-F238E27FC236}">
                <a16:creationId xmlns:a16="http://schemas.microsoft.com/office/drawing/2014/main" id="{2CD41FB1-EFD5-1397-77AA-B96564880A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335547"/>
              </p:ext>
            </p:extLst>
          </p:nvPr>
        </p:nvGraphicFramePr>
        <p:xfrm>
          <a:off x="7772400" y="5976899"/>
          <a:ext cx="9066992" cy="2748984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040073">
                  <a:extLst>
                    <a:ext uri="{9D8B030D-6E8A-4147-A177-3AD203B41FA5}">
                      <a16:colId xmlns:a16="http://schemas.microsoft.com/office/drawing/2014/main" val="151083142"/>
                    </a:ext>
                  </a:extLst>
                </a:gridCol>
                <a:gridCol w="7026919">
                  <a:extLst>
                    <a:ext uri="{9D8B030D-6E8A-4147-A177-3AD203B41FA5}">
                      <a16:colId xmlns:a16="http://schemas.microsoft.com/office/drawing/2014/main" val="3451232418"/>
                    </a:ext>
                  </a:extLst>
                </a:gridCol>
              </a:tblGrid>
              <a:tr h="137449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1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目的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800" b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興味関心，マッチングの分析結果を</a:t>
                      </a:r>
                      <a:endParaRPr kumimoji="1" lang="en-US" altLang="ja-JP" sz="2800" b="0" dirty="0"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  <a:p>
                      <a:r>
                        <a:rPr kumimoji="1" lang="ja-JP" altLang="en-US" sz="2800" b="1">
                          <a:solidFill>
                            <a:srgbClr val="C00000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ユーザーに表示する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7943959"/>
                  </a:ext>
                </a:extLst>
              </a:tr>
              <a:tr h="137449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1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技術要素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2800" b="0" dirty="0" err="1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Transcript.objects</a:t>
                      </a:r>
                      <a:r>
                        <a:rPr kumimoji="1" lang="ja-JP" altLang="en-US" sz="2800" b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を使えばすぐ実装可能</a:t>
                      </a:r>
                      <a:endParaRPr kumimoji="1" lang="en-US" altLang="ja-JP" sz="2800" b="0" dirty="0"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  <a:p>
                      <a:pPr algn="r"/>
                      <a:r>
                        <a:rPr kumimoji="1" lang="ja-JP" altLang="en-US" sz="1800" b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っぽいです</a:t>
                      </a:r>
                      <a:endParaRPr kumimoji="1" lang="en-US" altLang="ja-JP" sz="1800" b="0" dirty="0"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2937220"/>
                  </a:ext>
                </a:extLst>
              </a:tr>
            </a:tbl>
          </a:graphicData>
        </a:graphic>
      </p:graphicFrame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2E267013-1DA3-68D7-4223-E1883A6C7627}"/>
              </a:ext>
            </a:extLst>
          </p:cNvPr>
          <p:cNvGrpSpPr/>
          <p:nvPr/>
        </p:nvGrpSpPr>
        <p:grpSpPr>
          <a:xfrm>
            <a:off x="5335892" y="3104658"/>
            <a:ext cx="1426106" cy="1909783"/>
            <a:chOff x="7173083" y="6753785"/>
            <a:chExt cx="1426106" cy="1909783"/>
          </a:xfrm>
        </p:grpSpPr>
        <p:pic>
          <p:nvPicPr>
            <p:cNvPr id="15" name="グラフィックス 14" descr="データベース 枠線">
              <a:extLst>
                <a:ext uri="{FF2B5EF4-FFF2-40B4-BE49-F238E27FC236}">
                  <a16:creationId xmlns:a16="http://schemas.microsoft.com/office/drawing/2014/main" id="{778D5D55-CE0E-F400-3189-B8508308B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73083" y="6753785"/>
              <a:ext cx="1426106" cy="1426106"/>
            </a:xfrm>
            <a:prstGeom prst="rect">
              <a:avLst/>
            </a:prstGeom>
          </p:spPr>
        </p:pic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CBC8DBA3-11C2-1B62-EA18-F386D12076D1}"/>
                </a:ext>
              </a:extLst>
            </p:cNvPr>
            <p:cNvSpPr txBox="1"/>
            <p:nvPr/>
          </p:nvSpPr>
          <p:spPr>
            <a:xfrm>
              <a:off x="7284849" y="8201903"/>
              <a:ext cx="12025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SQLite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17DA34DF-146F-C9A0-E9B7-8ED419B0DB69}"/>
              </a:ext>
            </a:extLst>
          </p:cNvPr>
          <p:cNvGrpSpPr/>
          <p:nvPr/>
        </p:nvGrpSpPr>
        <p:grpSpPr>
          <a:xfrm>
            <a:off x="1170950" y="2884197"/>
            <a:ext cx="2113079" cy="2604998"/>
            <a:chOff x="2728937" y="6122140"/>
            <a:chExt cx="2113079" cy="2604998"/>
          </a:xfrm>
        </p:grpSpPr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2215DF6-67D0-F733-98B0-99DF11F5726C}"/>
                </a:ext>
              </a:extLst>
            </p:cNvPr>
            <p:cNvSpPr/>
            <p:nvPr/>
          </p:nvSpPr>
          <p:spPr>
            <a:xfrm>
              <a:off x="2874802" y="6122140"/>
              <a:ext cx="1821353" cy="1498063"/>
            </a:xfrm>
            <a:custGeom>
              <a:avLst/>
              <a:gdLst/>
              <a:ahLst/>
              <a:cxnLst/>
              <a:rect l="l" t="t" r="r" b="b"/>
              <a:pathLst>
                <a:path w="1821353" h="1498063">
                  <a:moveTo>
                    <a:pt x="0" y="0"/>
                  </a:moveTo>
                  <a:lnTo>
                    <a:pt x="1821353" y="0"/>
                  </a:lnTo>
                  <a:lnTo>
                    <a:pt x="1821353" y="1498063"/>
                  </a:lnTo>
                  <a:lnTo>
                    <a:pt x="0" y="1498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26F4537C-5863-7DFA-7264-89E965F64122}"/>
                </a:ext>
              </a:extLst>
            </p:cNvPr>
            <p:cNvSpPr txBox="1"/>
            <p:nvPr/>
          </p:nvSpPr>
          <p:spPr>
            <a:xfrm>
              <a:off x="2728937" y="7773031"/>
              <a:ext cx="2113079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4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分析</a:t>
              </a:r>
              <a:endParaRPr kumimoji="1" lang="en-US" altLang="ja-JP" sz="2400" b="1" dirty="0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pPr algn="ctr"/>
              <a:r>
                <a:rPr kumimoji="1" lang="en-US" altLang="ja-JP" sz="16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Zero-shot-learning</a:t>
              </a:r>
            </a:p>
            <a:p>
              <a:pPr algn="ctr"/>
              <a:r>
                <a:rPr kumimoji="1" lang="ja-JP" altLang="en-US" sz="16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マッチングシステム</a:t>
              </a:r>
            </a:p>
          </p:txBody>
        </p:sp>
      </p:grp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AD0785E0-C73D-AC0A-8E89-FDF39811FB1D}"/>
              </a:ext>
            </a:extLst>
          </p:cNvPr>
          <p:cNvCxnSpPr>
            <a:cxnSpLocks/>
          </p:cNvCxnSpPr>
          <p:nvPr/>
        </p:nvCxnSpPr>
        <p:spPr>
          <a:xfrm>
            <a:off x="3191965" y="3633228"/>
            <a:ext cx="225569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グラフィックス 21" descr="コメント: ハート 単色塗りつぶし">
            <a:extLst>
              <a:ext uri="{FF2B5EF4-FFF2-40B4-BE49-F238E27FC236}">
                <a16:creationId xmlns:a16="http://schemas.microsoft.com/office/drawing/2014/main" id="{B88F2DFF-E4E2-61DB-05E6-32C0F63C5B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97774" y="3129872"/>
            <a:ext cx="821125" cy="821125"/>
          </a:xfrm>
          <a:prstGeom prst="rect">
            <a:avLst/>
          </a:prstGeom>
        </p:spPr>
      </p:pic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4EBCFBFC-6885-A848-172A-FD3F28BFB899}"/>
              </a:ext>
            </a:extLst>
          </p:cNvPr>
          <p:cNvGrpSpPr/>
          <p:nvPr/>
        </p:nvGrpSpPr>
        <p:grpSpPr>
          <a:xfrm>
            <a:off x="3157427" y="6447252"/>
            <a:ext cx="1162383" cy="1776969"/>
            <a:chOff x="2197288" y="6628760"/>
            <a:chExt cx="1278614" cy="1734867"/>
          </a:xfrm>
        </p:grpSpPr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C9067BB2-953E-C7DB-7BDC-3D2B695850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56042" y="6628760"/>
              <a:ext cx="1219860" cy="1247938"/>
            </a:xfrm>
            <a:custGeom>
              <a:avLst/>
              <a:gdLst/>
              <a:ahLst/>
              <a:cxnLst/>
              <a:rect l="l" t="t" r="r" b="b"/>
              <a:pathLst>
                <a:path w="1341162" h="1372032">
                  <a:moveTo>
                    <a:pt x="0" y="0"/>
                  </a:moveTo>
                  <a:lnTo>
                    <a:pt x="1341162" y="0"/>
                  </a:lnTo>
                  <a:lnTo>
                    <a:pt x="1341162" y="1372032"/>
                  </a:lnTo>
                  <a:lnTo>
                    <a:pt x="0" y="1372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6DCD1096-08D3-BB85-72AE-3DDFC9ADF815}"/>
                </a:ext>
              </a:extLst>
            </p:cNvPr>
            <p:cNvSpPr txBox="1"/>
            <p:nvPr/>
          </p:nvSpPr>
          <p:spPr>
            <a:xfrm>
              <a:off x="2197288" y="7901962"/>
              <a:ext cx="12506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Django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713099CA-D63C-1982-8136-953F0BAAA39C}"/>
              </a:ext>
            </a:extLst>
          </p:cNvPr>
          <p:cNvGrpSpPr/>
          <p:nvPr/>
        </p:nvGrpSpPr>
        <p:grpSpPr>
          <a:xfrm>
            <a:off x="383958" y="6283725"/>
            <a:ext cx="1296468" cy="1956129"/>
            <a:chOff x="7173083" y="6753785"/>
            <a:chExt cx="1426106" cy="1909783"/>
          </a:xfrm>
        </p:grpSpPr>
        <p:pic>
          <p:nvPicPr>
            <p:cNvPr id="30" name="グラフィックス 29" descr="データベース 枠線">
              <a:extLst>
                <a:ext uri="{FF2B5EF4-FFF2-40B4-BE49-F238E27FC236}">
                  <a16:creationId xmlns:a16="http://schemas.microsoft.com/office/drawing/2014/main" id="{C4E79F0B-3B02-099E-989F-0C9C609D38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73083" y="6753785"/>
              <a:ext cx="1426106" cy="1426106"/>
            </a:xfrm>
            <a:prstGeom prst="rect">
              <a:avLst/>
            </a:prstGeom>
          </p:spPr>
        </p:pic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8A5C68BB-0E56-4751-4CCA-B60DA2295282}"/>
                </a:ext>
              </a:extLst>
            </p:cNvPr>
            <p:cNvSpPr txBox="1"/>
            <p:nvPr/>
          </p:nvSpPr>
          <p:spPr>
            <a:xfrm>
              <a:off x="7284849" y="8201903"/>
              <a:ext cx="12025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SQLite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104F69F2-7D08-CA33-568A-FD6FD7C51B71}"/>
              </a:ext>
            </a:extLst>
          </p:cNvPr>
          <p:cNvGrpSpPr/>
          <p:nvPr/>
        </p:nvGrpSpPr>
        <p:grpSpPr>
          <a:xfrm>
            <a:off x="6150174" y="6299613"/>
            <a:ext cx="1523990" cy="1940241"/>
            <a:chOff x="14518479" y="5789880"/>
            <a:chExt cx="1676379" cy="1894271"/>
          </a:xfrm>
        </p:grpSpPr>
        <p:pic>
          <p:nvPicPr>
            <p:cNvPr id="34" name="グラフィックス 33" descr="男性のプロフィール 枠線">
              <a:extLst>
                <a:ext uri="{FF2B5EF4-FFF2-40B4-BE49-F238E27FC236}">
                  <a16:creationId xmlns:a16="http://schemas.microsoft.com/office/drawing/2014/main" id="{2B76B076-0064-B991-87A5-C9B9ED838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4518479" y="5789880"/>
              <a:ext cx="1676379" cy="1676379"/>
            </a:xfrm>
            <a:prstGeom prst="rect">
              <a:avLst/>
            </a:prstGeom>
          </p:spPr>
        </p:pic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6E245590-2FB6-2A12-72A2-10441819AB93}"/>
                </a:ext>
              </a:extLst>
            </p:cNvPr>
            <p:cNvSpPr txBox="1"/>
            <p:nvPr/>
          </p:nvSpPr>
          <p:spPr>
            <a:xfrm>
              <a:off x="14648782" y="7222486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ユーザー</a:t>
              </a:r>
            </a:p>
          </p:txBody>
        </p:sp>
      </p:grp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A60EE49F-2CEF-1609-0E7C-E66B44AD6CD1}"/>
              </a:ext>
            </a:extLst>
          </p:cNvPr>
          <p:cNvCxnSpPr>
            <a:cxnSpLocks/>
          </p:cNvCxnSpPr>
          <p:nvPr/>
        </p:nvCxnSpPr>
        <p:spPr>
          <a:xfrm>
            <a:off x="1586631" y="7108125"/>
            <a:ext cx="141346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グラフィックス 44" descr="コメント: ハート 単色塗りつぶし">
            <a:extLst>
              <a:ext uri="{FF2B5EF4-FFF2-40B4-BE49-F238E27FC236}">
                <a16:creationId xmlns:a16="http://schemas.microsoft.com/office/drawing/2014/main" id="{2DFAEF9F-6478-4B99-E154-6ACC2D1988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27181" y="6591300"/>
            <a:ext cx="841052" cy="841052"/>
          </a:xfrm>
          <a:prstGeom prst="rect">
            <a:avLst/>
          </a:prstGeom>
        </p:spPr>
      </p:pic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EF54170A-ABF0-3A56-CF2D-565007252B48}"/>
              </a:ext>
            </a:extLst>
          </p:cNvPr>
          <p:cNvCxnSpPr>
            <a:cxnSpLocks/>
          </p:cNvCxnSpPr>
          <p:nvPr/>
        </p:nvCxnSpPr>
        <p:spPr>
          <a:xfrm>
            <a:off x="4658301" y="7127077"/>
            <a:ext cx="141346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グラフィックス 49" descr="コメント: ハート 単色塗りつぶし">
            <a:extLst>
              <a:ext uri="{FF2B5EF4-FFF2-40B4-BE49-F238E27FC236}">
                <a16:creationId xmlns:a16="http://schemas.microsoft.com/office/drawing/2014/main" id="{D37516AF-3AA1-3637-3457-E28F067917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98851" y="6591300"/>
            <a:ext cx="841052" cy="841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428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3262</TotalTime>
  <Words>342</Words>
  <Application>Microsoft Macintosh PowerPoint</Application>
  <PresentationFormat>ユーザー設定</PresentationFormat>
  <Paragraphs>133</Paragraphs>
  <Slides>7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Calibri</vt:lpstr>
      <vt:lpstr>游ゴシック</vt:lpstr>
      <vt:lpstr>Arial</vt:lpstr>
      <vt:lpstr>游ゴシック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白　シンプル　年次報告書　プレゼンテーション</dc:title>
  <cp:lastModifiedBy>Momoko SHIRAKAWA</cp:lastModifiedBy>
  <cp:revision>5</cp:revision>
  <dcterms:created xsi:type="dcterms:W3CDTF">2006-08-16T00:00:00Z</dcterms:created>
  <dcterms:modified xsi:type="dcterms:W3CDTF">2025-05-23T05:33:57Z</dcterms:modified>
  <dc:identifier>DAGn9M6bQfc</dc:identifier>
</cp:coreProperties>
</file>