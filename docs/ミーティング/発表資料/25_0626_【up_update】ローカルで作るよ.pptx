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93" r:id="rId3"/>
    <p:sldId id="295" r:id="rId4"/>
    <p:sldId id="298" r:id="rId5"/>
    <p:sldId id="284" r:id="rId6"/>
    <p:sldId id="299" r:id="rId7"/>
    <p:sldId id="297" r:id="rId8"/>
    <p:sldId id="296" r:id="rId9"/>
    <p:sldId id="288" r:id="rId10"/>
  </p:sldIdLst>
  <p:sldSz cx="18288000" cy="10287000"/>
  <p:notesSz cx="6858000" cy="9144000"/>
  <p:embeddedFontLst>
    <p:embeddedFont>
      <p:font typeface="游ゴシック" panose="020B0400000000000000" pitchFamily="34" charset="-128"/>
      <p:regular r:id="rId12"/>
      <p:bold r:id="rId13"/>
    </p:embeddedFont>
    <p:embeddedFont>
      <p:font typeface="游ゴシック" panose="020B0400000000000000" pitchFamily="34" charset="-128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8E1"/>
    <a:srgbClr val="FFF3B9"/>
    <a:srgbClr val="F7E7AF"/>
    <a:srgbClr val="CFE7F0"/>
    <a:srgbClr val="F4D6E9"/>
    <a:srgbClr val="EDF4BF"/>
    <a:srgbClr val="F4E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0" autoAdjust="0"/>
    <p:restoredTop sz="91702" autoAdjust="0"/>
  </p:normalViewPr>
  <p:slideViewPr>
    <p:cSldViewPr>
      <p:cViewPr varScale="1">
        <p:scale>
          <a:sx n="74" d="100"/>
          <a:sy n="74" d="100"/>
        </p:scale>
        <p:origin x="6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D7B3-D8F9-DB42-9752-C640A49B89F2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E85BE-9FAD-764D-B84A-7C70829A20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95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0528-F736-36EF-97B7-A9EDEBC1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FF8D68-25AD-D7B0-437C-3D5B62B59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DC6F48-CBE3-05AB-D506-97EA278B1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CDFCE0-D4C3-5EC8-8EF5-964963675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8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D680-C940-D46A-D7A5-922F641B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1ADA2A-7FE2-5E65-B3A3-0A58438DE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49D6E0-2962-2E90-280D-2F527928B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はローカルの軽量データベースであり，非常に大きなテキストデータの格納，効率的にクエリを実行するのには向いていない．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GCS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からテキストを読み込む方がはるかに高速かつ柔軟である．興味関心だけ</a:t>
            </a:r>
            <a:r>
              <a:rPr kumimoji="1"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SLite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に格納するのが最も効果的な設計である．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7B6398-B3EE-18A5-B599-4DD44FEAB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209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7231D-ED3B-45AD-F1E3-FC3511D4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812B4B-CDE9-A086-A990-6BA59E2D4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A4BF034-43EF-19C1-DF51-80B248E8F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はローカルの軽量データベースであり，非常に大きなテキストデータの格納，効率的にクエリを実行するのには向いていない．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GCS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からテキストを読み込む方がはるかに高速かつ柔軟である．興味関心だけ</a:t>
            </a:r>
            <a:r>
              <a:rPr kumimoji="1"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SLite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に格納するのが最も効果的な設計である．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5C35D6-F8DB-2D32-9E43-308A82F60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435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567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9297-AAB8-49C2-ECF7-52C71E0A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35DAE82-7CC2-5D78-274F-D47AC5B75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84F1AB8-8E65-AC6E-7B3F-F449BD8D2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2BED3D-21A2-7834-154D-F747EA7D9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648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F0DF-3BEC-BA74-C818-A6EA6650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A4BD6E-625A-0151-A022-214FAEF99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7264B8-74A2-3B4D-3AEA-D34369830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CE79A-63AD-102E-A79B-0DB70E86D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026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テーブル　個人情報，興味関心の</a:t>
            </a:r>
            <a:r>
              <a:rPr kumimoji="1" lang="en-US" altLang="ja-JP" dirty="0"/>
              <a:t>2</a:t>
            </a:r>
            <a:r>
              <a:rPr kumimoji="1" lang="ja-JP" altLang="en-US"/>
              <a:t>つ</a:t>
            </a:r>
            <a:endParaRPr kumimoji="1" lang="en-US" altLang="ja-JP" dirty="0"/>
          </a:p>
          <a:p>
            <a:r>
              <a:rPr kumimoji="1" lang="ja-JP" altLang="en-US"/>
              <a:t>マッチングの仕方を考える，ユーザーを作ってみる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78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31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Relationship Id="rId30" Type="http://schemas.openxmlformats.org/officeDocument/2006/relationships/image" Target="../media/image30.svg"/><Relationship Id="rId8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31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Relationship Id="rId30" Type="http://schemas.openxmlformats.org/officeDocument/2006/relationships/image" Target="../media/image30.svg"/><Relationship Id="rId8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31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Relationship Id="rId30" Type="http://schemas.openxmlformats.org/officeDocument/2006/relationships/image" Target="../media/image30.svg"/><Relationship Id="rId8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36.sv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13374676" y="1505082"/>
            <a:ext cx="5352794" cy="6277264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57250" y="7025641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00200" y="2662210"/>
            <a:ext cx="11049000" cy="409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99"/>
              </a:lnSpc>
            </a:pPr>
            <a:r>
              <a:rPr lang="en-US" sz="72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</a:t>
            </a:r>
            <a:endParaRPr lang="en-US" sz="7200" b="1" spc="399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  <a:p>
            <a:pPr>
              <a:lnSpc>
                <a:spcPts val="11199"/>
              </a:lnSpc>
            </a:pPr>
            <a:r>
              <a:rPr lang="en-US" sz="72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サービスを実現したい</a:t>
            </a:r>
            <a:r>
              <a:rPr lang="en-US" sz="72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！</a:t>
            </a:r>
          </a:p>
          <a:p>
            <a:pPr>
              <a:lnSpc>
                <a:spcPts val="11199"/>
              </a:lnSpc>
            </a:pP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- </a:t>
            </a:r>
            <a:r>
              <a:rPr lang="en-US" sz="40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必要な技術要素と今後のタスク</a:t>
            </a: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 -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66BA20F-ACCC-3614-9C86-45BD6A5FA5CC}"/>
              </a:ext>
            </a:extLst>
          </p:cNvPr>
          <p:cNvGrpSpPr/>
          <p:nvPr/>
        </p:nvGrpSpPr>
        <p:grpSpPr>
          <a:xfrm>
            <a:off x="1600200" y="1545426"/>
            <a:ext cx="4884852" cy="1116784"/>
            <a:chOff x="1509934" y="1505131"/>
            <a:chExt cx="4884852" cy="1116784"/>
          </a:xfrm>
        </p:grpSpPr>
        <p:grpSp>
          <p:nvGrpSpPr>
            <p:cNvPr id="10" name="Group 10"/>
            <p:cNvGrpSpPr/>
            <p:nvPr/>
          </p:nvGrpSpPr>
          <p:grpSpPr>
            <a:xfrm>
              <a:off x="1722038" y="1505131"/>
              <a:ext cx="4466087" cy="686116"/>
              <a:chOff x="0" y="0"/>
              <a:chExt cx="906552" cy="18070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6552" cy="180706"/>
              </a:xfrm>
              <a:custGeom>
                <a:avLst/>
                <a:gdLst/>
                <a:ahLst/>
                <a:cxnLst/>
                <a:rect l="l" t="t" r="r" b="b"/>
                <a:pathLst>
                  <a:path w="906552" h="180706">
                    <a:moveTo>
                      <a:pt x="0" y="0"/>
                    </a:moveTo>
                    <a:lnTo>
                      <a:pt x="906552" y="0"/>
                    </a:lnTo>
                    <a:lnTo>
                      <a:pt x="906552" y="180706"/>
                    </a:lnTo>
                    <a:lnTo>
                      <a:pt x="0" y="180706"/>
                    </a:lnTo>
                    <a:close/>
                  </a:path>
                </a:pathLst>
              </a:custGeom>
              <a:solidFill>
                <a:srgbClr val="1B1B1B"/>
              </a:solidFill>
            </p:spPr>
            <p:txBody>
              <a:bodyPr/>
              <a:lstStyle/>
              <a:p>
                <a:endParaRPr lang="ja-JP" alt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906552" cy="2283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09934" y="1580091"/>
              <a:ext cx="4884852" cy="10418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ja-JP" altLang="en-US" sz="2999" b="1" spc="149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発表日：</a:t>
              </a:r>
              <a:r>
                <a:rPr lang="en-US" altLang="ja-JP" sz="2999" b="1" spc="149" dirty="0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2025/05/23</a:t>
              </a:r>
            </a:p>
            <a:p>
              <a:pPr algn="ctr">
                <a:lnSpc>
                  <a:spcPts val="4199"/>
                </a:lnSpc>
              </a:pPr>
              <a:endParaRPr lang="en-US" sz="2999" b="1" spc="149" dirty="0">
                <a:solidFill>
                  <a:srgbClr val="F6F6F6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Bold"/>
                <a:sym typeface="Noto Sans JP 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00200" y="7371895"/>
            <a:ext cx="4471529" cy="52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b="1" spc="124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ML/DS</a:t>
            </a:r>
            <a:r>
              <a:rPr lang="ja-JP" altLang="en-US" sz="2499" b="1" spc="124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白川桃子</a:t>
            </a:r>
            <a:endParaRPr lang="en-US" sz="2499" b="1" spc="124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BFA9-2BBF-C3F8-C160-8F146634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730D5134-B865-BC45-E4AD-24F0DA1673DA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B4AAA26-0844-6898-D926-BBE7696ED5DF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5A4DB73-398F-E0C9-97EF-6491BA51E90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DFF8F19-8F6D-2359-2C27-7DE4BD711C02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5509D03-402A-1077-5D2D-43589FEA3F52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E1F7F37-A779-9E98-5B59-54C058C24037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6BBD031-66B8-BD6E-F436-D5AE3BD961C8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0DFC3AC-6EDF-69B9-FB3B-49D50E6DAA08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8DC6797-66C2-6FC1-DD63-5A52ECEF7E4E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29E2FE1-D563-0372-D735-61E09345E468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E4CA4440-32C2-1FD3-7FBC-5FD7ADD214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64D4C33-F9BD-A628-538A-85119DBC01D8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858FD3E-E23F-9596-7AF6-5F4E86F4BD93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ABCFBB6B-5FA0-70EB-A9F8-DB04593BC8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0F26FB2A-2700-6B17-8ED6-84AE192BE367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16CEACC-3541-4F23-C1FB-2C4B7311EC4B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18AB0B9-3C56-C558-452E-A0E109A481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2D32BB0-4820-FD0E-2380-17C9A1DBFB05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200D84F-F4C8-C305-44AD-37FB3FE2D1E0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9EE8FBAC-6F6D-29A3-64A6-F392FAD41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C752708-A40F-4929-6CED-32A0D10D0A6F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0E314FD-B0F0-03D2-1B34-9041E973ACA1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036D2202-9C43-93A3-E5E8-98B3514896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46FB1BBC-36FD-EA2D-8F39-BF0767A8FD6E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7219F052-7CD2-5F3C-85AC-27442968CB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84D76FFD-5C4A-7B69-B4DF-52AAB4618DBF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D3536E5A-6BC4-F39D-6212-C3567BCDBC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0217C13F-8BBD-0A4B-D352-76F18A7AEE18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31A3780D-F3C8-F087-B5F6-CCD4651DF3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E1C44753-B12A-9F7B-F857-6DD9DFD89B15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F0E471F0-15BC-D393-99EF-9DFAB20519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35AB532-6CFB-F5FC-A5EB-30A00CCE9318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3DDB1DF0-16E5-807C-9C88-C4B5BA17E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603B67D4-947D-5E95-07CB-9BDAAD42643C}"/>
              </a:ext>
            </a:extLst>
          </p:cNvPr>
          <p:cNvCxnSpPr>
            <a:cxnSpLocks/>
          </p:cNvCxnSpPr>
          <p:nvPr/>
        </p:nvCxnSpPr>
        <p:spPr>
          <a:xfrm>
            <a:off x="3697647" y="4531262"/>
            <a:ext cx="0" cy="13943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A7D50072-8D0D-195B-5995-DC90FA915F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6A5FA647-1A5B-488E-C666-F9ACCD57D204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F1B38502-67D3-90B5-2EEB-D2B7833112BE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E3A4D875-D6C3-8C72-F96D-9B7E2F031D5D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814EFAEE-1A90-3189-7661-39B9BFDED86E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5D9F454B-A186-5E6D-9FA0-5BDB763A4C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286DEAEC-6855-38C0-E126-38922C349D69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9EB7FD93-38B2-415F-6292-75F7A9ACE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FECB0108-7782-A526-A9F5-882FB7EAE2DE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1EFAB432-0EAC-6A92-7303-A96BC00B0679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FA6EE4C0-4C24-2A8A-1F22-0E7B7F3FD176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8D16AACD-D027-F886-3F15-1517E712B59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919A9735-2C25-9C9B-DE6B-077217B99BC3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E4D6B706-B2C4-3BC5-1A29-B811A5560EE5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8766CA23-A024-E27E-5DF7-177685384DF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15906DB7-B281-B083-B171-51F885A82ED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E867FAF8-C1CA-6E72-01AC-3E81273A1F91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1742A8C9-9A3E-6FD3-1A96-0D9848E83615}"/>
              </a:ext>
            </a:extLst>
          </p:cNvPr>
          <p:cNvCxnSpPr>
            <a:cxnSpLocks/>
          </p:cNvCxnSpPr>
          <p:nvPr/>
        </p:nvCxnSpPr>
        <p:spPr>
          <a:xfrm>
            <a:off x="2001899" y="9179375"/>
            <a:ext cx="15447911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482ADA5C-028C-C80E-BEE8-630D0926567B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17438339" y="7736240"/>
            <a:ext cx="11471" cy="148710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468D9143-F508-A29A-58A7-8E35FDDCFDD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3C0963C3-BF8F-6863-5EAB-C347A81FC345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1F0A999-D676-F98A-0F2E-DB31802B23DD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5337A111-EADE-09AD-5F6A-ABB0A52DA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E9D8035-E70D-F131-A76A-E393B6504B5B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7D58A69-BD4F-327B-DEA3-40774A9B7BC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675522" y="4531262"/>
            <a:ext cx="1731144" cy="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A44E382E-FB19-69DF-CA12-800455406E3E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33873C44-15C1-6698-10A2-E24E2A9AE14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DDAE9171-9EBD-BEB5-9AC6-F084E6188E73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ED9187B3-D2E5-B3A8-2BB1-263DDA6CB94C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8B37BCC3-E2AA-7B23-B805-3352D7138DC4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E063E242-DAE0-A90D-3849-306A68862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B2CE6384-A4A7-7424-2BA9-7DC661C5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59090B78-A23D-F199-5C34-E36973E44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D594FF29-17A2-0317-3BC0-E7349055C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F2584802-E253-112B-F09B-452BE3F6B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3E519E46-DC0C-2661-6EB3-BCB93C8CB9BF}"/>
              </a:ext>
            </a:extLst>
          </p:cNvPr>
          <p:cNvCxnSpPr>
            <a:cxnSpLocks/>
          </p:cNvCxnSpPr>
          <p:nvPr/>
        </p:nvCxnSpPr>
        <p:spPr>
          <a:xfrm flipV="1">
            <a:off x="10508942" y="7642562"/>
            <a:ext cx="0" cy="609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F8127752-690E-CE4C-4043-8C1212A0956B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B24FFE4-414D-F16B-FCA9-20913FA04BF0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85FC96DD-68F1-8027-077F-90D0F91CA72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8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84C8B-7B0D-B3BC-7AC1-06B4C0FE7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BBB4DA76-6C99-FFBF-B0B4-93DEBF112D6A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0A8C6-D679-0241-749E-C3C0597CE6FD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BB1C18B-2518-BB3D-ABF5-9C863EB28349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C33FCD7-FD17-1BA2-65C9-F334C02B931E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7E12F5-9FCB-494E-F194-448C38CEEA5C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7277B-9401-FB49-6414-186441538852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ED60A7E-6DB8-3B05-DEAB-01579E7E1933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2E9303A-5418-5888-4327-00F45423C7BD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F8AA407-DFA6-1E9C-BEA8-92CE5B5684F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058CF977-805C-EAC2-AE71-5A44B025B68A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569C95D8-FC03-9D8A-9675-AE9125E04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BD84C1B-5461-ECAB-D38A-C3C69A7C53DF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4AD81A7-AE11-3211-A8DC-6354E7C6B7D1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B1BD7C9B-F3A4-391A-DC7C-37669768BA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6139F01-6F03-6966-ECB3-A100218927E7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0B98CCA-7A42-503F-C805-0C45686F5484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EC23274-6FB9-43F4-4F87-90ED84B8E8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3952B3C4-17BF-7D3F-0C62-11ABAF8E24C2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56EFFF8-FF14-FE8E-E33B-75F743B47AFD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BB8246F9-7524-102C-5ADA-1235B96DA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D58A2551-355D-D23A-6579-8EA09CCCA884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1AFD553-CBCA-150A-447C-D17CB390CA55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A4A6825B-934D-D8A1-A25C-9189C70690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23C45AA2-A878-3BE4-1D03-D9BD7CF48A31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E3B021C4-8E67-CE76-A5A4-AF0672177E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4754BE86-AAFD-1824-C8A8-3B09FF3C02FE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83246448-1C50-ACD4-E494-CE5F070DB9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23D3CAF4-1E0C-2F98-C610-569D56E63B6B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7241F155-B3B5-53F9-8A6C-AA256004A9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BEFEA3F3-617E-C797-F549-1EAA70451D91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495CE6B4-6058-6A14-BE1D-F5C725FDF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48A377FA-369D-EBB3-7CD4-AAB590BA216A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D84561FE-A18F-5CE6-929F-26AD2BACF4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F60D983-DD8E-424C-9A0E-073D78ED03B7}"/>
              </a:ext>
            </a:extLst>
          </p:cNvPr>
          <p:cNvCxnSpPr>
            <a:cxnSpLocks/>
          </p:cNvCxnSpPr>
          <p:nvPr/>
        </p:nvCxnSpPr>
        <p:spPr>
          <a:xfrm>
            <a:off x="3697647" y="3984468"/>
            <a:ext cx="0" cy="19411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88A52A9B-1560-42DE-DBD2-CE832F40A7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341C5A20-0FEA-6F47-BBE9-6DE892EAFB5A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675DFBA7-75AC-EAA7-DD6A-BF0016A02A50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53A8985-F370-5125-07F0-5567D0130AFB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75582F52-F7C5-E5DE-1839-1CAB9DE9CC2A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9453400E-3AEB-7C49-B7D6-ECEDEB3DAF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1B719D50-AA5A-0584-DD1D-F280BE3B6685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F4D923BA-2915-223D-2343-36F817966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304FC0AB-C9B8-68D3-1663-93D7700C20B0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372BADD9-F209-B034-647B-D5FC2F2F19AC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F5C8F387-5835-D383-2CFB-81533622F26E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E2DDD342-E754-6AD7-84E6-755FA3BEBF1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42E34384-71BC-14AD-D554-23E1F19BA377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87FEF1FB-563A-8339-751D-45B7E5D7845D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FD054DCC-E7AB-DF8B-B000-EA2ED165A13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92DA5E71-90FB-A156-7AA8-51ED884E225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D3D7579B-472F-D04A-9B39-19193140C2BA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090DF4F-B0F2-68A7-B2B5-C3C48BC8F086}"/>
              </a:ext>
            </a:extLst>
          </p:cNvPr>
          <p:cNvCxnSpPr>
            <a:cxnSpLocks/>
          </p:cNvCxnSpPr>
          <p:nvPr/>
        </p:nvCxnSpPr>
        <p:spPr>
          <a:xfrm>
            <a:off x="2001899" y="9179375"/>
            <a:ext cx="15447911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5E5CB9AC-50A6-7D1C-20D0-740FB3622FFD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17438339" y="7736240"/>
            <a:ext cx="11471" cy="148710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A3D8215F-3653-D817-A0D8-5C2944F3B5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8F338C37-EC57-B792-79CB-228F9BF26E2D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E3FDEE0-1838-504C-B873-144497B62A33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292CE5FD-016F-DE7A-D57D-1FAA4C031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E7FB1F1-54B0-6045-176A-DA69D1EFB77A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13CC5CAB-18FA-6866-C543-3E39F13E7F8A}"/>
              </a:ext>
            </a:extLst>
          </p:cNvPr>
          <p:cNvCxnSpPr>
            <a:cxnSpLocks/>
          </p:cNvCxnSpPr>
          <p:nvPr/>
        </p:nvCxnSpPr>
        <p:spPr>
          <a:xfrm>
            <a:off x="3697647" y="4000500"/>
            <a:ext cx="1959034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5180AF25-2101-A14E-9812-7EC32A80B0BE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AFEDD660-88D4-337D-DD6B-20E6AA8DFAA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C65BEFDF-1FCE-2F90-D07F-5EE4D341F280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510EF7B9-04B9-ACDA-9CEA-58A25CBD9BFC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5120B9BC-4FCE-5D40-6FA9-0552B1B7EF53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F5C7D4E3-772A-FF13-91C1-000BBCD27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C0B33C7E-A27F-4BB2-1521-E173D2F1E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99EF87A7-36E8-A88D-0588-478B1A85D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5BFD2CF1-E967-6E66-549D-52FE2FC02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3903EAE6-BDC8-75E0-62A0-9380FC685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575DB82A-120A-83C0-76CC-33DEFE010E3A}"/>
              </a:ext>
            </a:extLst>
          </p:cNvPr>
          <p:cNvCxnSpPr>
            <a:cxnSpLocks/>
          </p:cNvCxnSpPr>
          <p:nvPr/>
        </p:nvCxnSpPr>
        <p:spPr>
          <a:xfrm flipV="1">
            <a:off x="10439400" y="7658100"/>
            <a:ext cx="0" cy="60960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842EC671-C7FB-8D8C-9E9E-C14B75BC7C71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05442346-1C5D-3C43-D4B9-DB7BDFC2F84E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DD28F48E-038C-D7B9-41AC-DBA0B5140A3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AF51EF-64D5-B425-9FA0-8DA1CF64749C}"/>
              </a:ext>
            </a:extLst>
          </p:cNvPr>
          <p:cNvSpPr txBox="1"/>
          <p:nvPr/>
        </p:nvSpPr>
        <p:spPr>
          <a:xfrm>
            <a:off x="8320698" y="190005"/>
            <a:ext cx="1577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>
                <a:solidFill>
                  <a:schemeClr val="accent6">
                    <a:lumMod val="75000"/>
                  </a:schemeClr>
                </a:solidFill>
              </a:rPr>
              <a:t>前回ログ</a:t>
            </a:r>
          </a:p>
        </p:txBody>
      </p:sp>
    </p:spTree>
    <p:extLst>
      <p:ext uri="{BB962C8B-B14F-4D97-AF65-F5344CB8AC3E}">
        <p14:creationId xmlns:p14="http://schemas.microsoft.com/office/powerpoint/2010/main" val="882966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3AA9-ECD7-692F-DD83-09A7B6754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82376DF5-B563-648D-C4EA-A2C9A0FE835E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CC62456-970E-0616-277E-2607654ECF7D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0C16F0E-87CC-DE27-ADDC-818C92CA8A65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3134BEA-4D30-3786-4F57-6FBCADF398A0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D3639B9-0221-955B-7447-8B6ECCB162EF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2C3569-6F62-68EA-94D6-5F0DD4A24832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840C698-CDC1-AFDF-72B7-A700663342CB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A12A66B-C8CB-513D-BBB6-A89E1EE2CF0D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B394705-8616-E151-A2C2-C84C9621E68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C7B4D09F-2874-C5D7-3093-F5794051BCFA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C8CE8DE7-0849-7BEE-0446-E8167E1E58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F618891-C701-A7DC-1FE8-2CCB69A30F72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18080F9C-6C82-0189-2533-6613ED5DF21A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9B5B48B-5A79-389C-0ED0-D7541F5F0A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432052E-72BA-608D-2FB5-13750205DBE8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16FBC65C-B8DE-E377-6F10-2C1E29B40716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7873231-78C6-D172-D0AA-F971DAB2F4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EDF29A7-7025-804A-9B8E-EC58A77E93D4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83FD9C8-2B7B-7745-4894-D9B1BFA1E56D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B24B559D-80F6-81B1-2813-1E76F018B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244AFB01-026C-F8C5-08BE-BAA809E7CE01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9DF20C77-F289-04AB-79CA-4C938CFA2F50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3645C0AD-AFBA-BF1D-FB26-7AECC2FAC4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CC12FA3-9766-6909-5F1B-7CD4BDDD69C2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642598B8-CF93-FD45-CAF3-C300CE3A12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A89484A3-197B-0094-65D0-41755DC60B45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16B9130A-3274-7946-DDFD-3D49D8093F0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89A30A7E-5BF5-9D9C-0994-5E91CF72D566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2AE3DEB5-0D4D-2C3D-E2FA-318D9FAA44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6189372D-A41B-BCE7-A04A-E6FE4A070CDE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1EDDBDAD-958D-96EE-F0A8-7271197939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39C2A7B2-A6EA-8C69-B33D-7A8F7E3D26F2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E7992F47-7FD9-8B1E-A0F1-887954A7FF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03199593-7004-94DA-AF71-5258BC7CBA84}"/>
              </a:ext>
            </a:extLst>
          </p:cNvPr>
          <p:cNvCxnSpPr>
            <a:cxnSpLocks/>
          </p:cNvCxnSpPr>
          <p:nvPr/>
        </p:nvCxnSpPr>
        <p:spPr>
          <a:xfrm>
            <a:off x="3697647" y="3984468"/>
            <a:ext cx="0" cy="19411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BCB28584-837C-DBCC-AF85-30B16B7FE0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4C35AF20-4CA6-9999-11C5-50EEC2B77A07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183C007C-EEFB-14BC-0FB6-94B0E086CBBC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C8477800-75B4-B061-7B51-2AD94AB24A90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91CDA387-13DC-3AF9-BAD0-5DF844A3E0FF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3EAAA6B4-F785-0C59-D15A-CFB0ADAC468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02DE3C05-C75F-5538-006B-BC2B3D35BE84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D12EAAB3-6D67-4D91-44E5-BDDBD4C3D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92AFAFC2-1839-DB2B-D54C-003BC40DAE2C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3AC5C198-747F-49E8-1671-D189793945B4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3FCD4698-1DC4-A62F-A44E-61851B472A0C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A7DB0F04-A41E-D2D2-7A2D-3AA7DFF17D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BB694C02-3F4A-39A0-F3C7-3AFB685005AA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AF8132C6-F0C7-C054-4F35-CB5D54E5BEC9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7105F96C-4D31-682A-9B40-E7261B009B9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9A855634-C0E4-5719-B5AD-8C5CAAA7B7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24E58500-B6CB-A7D1-22C2-1F8C96F1D3B5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BCF949E1-DBA3-07D8-16FA-F2E2D2F3033F}"/>
              </a:ext>
            </a:extLst>
          </p:cNvPr>
          <p:cNvCxnSpPr>
            <a:cxnSpLocks/>
          </p:cNvCxnSpPr>
          <p:nvPr/>
        </p:nvCxnSpPr>
        <p:spPr>
          <a:xfrm>
            <a:off x="2001899" y="9179375"/>
            <a:ext cx="15447911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2FB4F3EE-588D-29F6-9737-1336B6F1F119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17438339" y="7736240"/>
            <a:ext cx="11471" cy="148710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96E1D4E3-665A-5C26-4500-50081BC3106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5D2C1AEE-FED3-F94A-C3E0-FE51DC1A9D1A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D4FA11E-A0FC-08D9-5A7C-53848151723D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0122D9B5-1A58-F9D5-C5C4-48EC343A5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0FCB6BD-0FE1-CDD4-55BE-A800122AAA01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CB22B550-06FC-A83C-EFA3-F3E041D2F55E}"/>
              </a:ext>
            </a:extLst>
          </p:cNvPr>
          <p:cNvCxnSpPr>
            <a:cxnSpLocks/>
          </p:cNvCxnSpPr>
          <p:nvPr/>
        </p:nvCxnSpPr>
        <p:spPr>
          <a:xfrm>
            <a:off x="3697647" y="4000500"/>
            <a:ext cx="1959034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01ED522E-C4C4-3162-1ACD-DB03799BEBBD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6AB8F31E-3F93-702C-A592-1A9CE08CD86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4576B4E4-8C59-6794-2C10-E24306FA68AF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ADB79DD0-EFAC-EEFB-1AA8-903582F07279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EEE80A65-5FC5-3186-66DE-A32033D28B63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BD7BE94A-1FC9-7CF2-C1E0-BD402E5F0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1DF26F26-27B8-72DA-5FC9-1AE6A1431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55C26286-742C-2954-8DFE-AD3FAC96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3F583416-1A59-BD14-D725-991D2C47B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C1D74CE6-C2B8-67B0-E42F-AD656EABC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DF2E6041-1DBE-0594-7BB4-3800A93C955B}"/>
              </a:ext>
            </a:extLst>
          </p:cNvPr>
          <p:cNvCxnSpPr>
            <a:cxnSpLocks/>
          </p:cNvCxnSpPr>
          <p:nvPr/>
        </p:nvCxnSpPr>
        <p:spPr>
          <a:xfrm flipV="1">
            <a:off x="10439400" y="7658100"/>
            <a:ext cx="0" cy="60960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1D9D1D8D-9675-3F34-A3DF-F9CFAFDB3C95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4EE23F83-A481-E0F9-14C1-5B49618862EE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D99E694C-6C6A-16F5-603D-DD5FBE92C1F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6AF538-9F4F-74B2-16B1-E0E4A1830DFB}"/>
              </a:ext>
            </a:extLst>
          </p:cNvPr>
          <p:cNvSpPr txBox="1"/>
          <p:nvPr/>
        </p:nvSpPr>
        <p:spPr>
          <a:xfrm>
            <a:off x="8320698" y="190005"/>
            <a:ext cx="1646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>
                <a:solidFill>
                  <a:schemeClr val="accent6">
                    <a:lumMod val="75000"/>
                  </a:schemeClr>
                </a:solidFill>
              </a:rPr>
              <a:t>今回進捗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9F54AEE-EB66-14AA-A2DA-75911032AB5F}"/>
              </a:ext>
            </a:extLst>
          </p:cNvPr>
          <p:cNvSpPr txBox="1"/>
          <p:nvPr/>
        </p:nvSpPr>
        <p:spPr>
          <a:xfrm>
            <a:off x="5103947" y="4972684"/>
            <a:ext cx="3378554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800" b="1" u="sng" dirty="0">
                <a:solidFill>
                  <a:srgbClr val="C00000"/>
                </a:solidFill>
              </a:rPr>
              <a:t>wav</a:t>
            </a:r>
            <a:r>
              <a:rPr kumimoji="1" lang="ja-JP" altLang="en-US" sz="2800" b="1" u="sng">
                <a:solidFill>
                  <a:srgbClr val="C00000"/>
                </a:solidFill>
              </a:rPr>
              <a:t>ファイルを分ける</a:t>
            </a:r>
          </a:p>
        </p:txBody>
      </p:sp>
    </p:spTree>
    <p:extLst>
      <p:ext uri="{BB962C8B-B14F-4D97-AF65-F5344CB8AC3E}">
        <p14:creationId xmlns:p14="http://schemas.microsoft.com/office/powerpoint/2010/main" val="2297811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EF56-E0BB-2BB6-81D4-BF2C518A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B985542-F126-34D9-8E3D-30AAE0B6D477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42C4685-2844-3D02-2A67-34192AF9EFC6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829461A-9589-6D3E-5162-C998CAE2826F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874E3AC-846A-9D24-E4AA-17B5961BFCEA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4784978-BC0E-4A12-943C-D83A6C67B57A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C68D1C-1ED5-F809-F8CC-436A24BD0AE9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383F83-9E4E-D8AC-0BE6-7A01BF6D1EF9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1AEB17F-7FBC-E479-F790-F456BF65E9E4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前回の問題：話者のタグ付けがうまくいかない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A1EECC1-40B1-40E5-CB52-8909CFA64BF8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75D46B3-B0DF-728C-E142-0349B1CF3AA4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0" name="図 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1D0EA21-780A-F3A8-F209-7876B81798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4"/>
          <a:stretch>
            <a:fillRect/>
          </a:stretch>
        </p:blipFill>
        <p:spPr>
          <a:xfrm>
            <a:off x="10332473" y="2381820"/>
            <a:ext cx="6583927" cy="6847899"/>
          </a:xfrm>
          <a:prstGeom prst="rect">
            <a:avLst/>
          </a:prstGeom>
        </p:spPr>
      </p:pic>
      <p:sp>
        <p:nvSpPr>
          <p:cNvPr id="15" name="左中かっこ 14">
            <a:extLst>
              <a:ext uri="{FF2B5EF4-FFF2-40B4-BE49-F238E27FC236}">
                <a16:creationId xmlns:a16="http://schemas.microsoft.com/office/drawing/2014/main" id="{1E925EAA-782C-1FD0-21F1-01E54537FFB1}"/>
              </a:ext>
            </a:extLst>
          </p:cNvPr>
          <p:cNvSpPr/>
          <p:nvPr/>
        </p:nvSpPr>
        <p:spPr>
          <a:xfrm>
            <a:off x="9829800" y="4914901"/>
            <a:ext cx="502672" cy="1904994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左中かっこ 15">
            <a:extLst>
              <a:ext uri="{FF2B5EF4-FFF2-40B4-BE49-F238E27FC236}">
                <a16:creationId xmlns:a16="http://schemas.microsoft.com/office/drawing/2014/main" id="{444E7167-928D-96B3-58D8-48466C7B4AB1}"/>
              </a:ext>
            </a:extLst>
          </p:cNvPr>
          <p:cNvSpPr/>
          <p:nvPr/>
        </p:nvSpPr>
        <p:spPr>
          <a:xfrm>
            <a:off x="9829798" y="6963673"/>
            <a:ext cx="502673" cy="1904995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83E643-E73C-6B58-DAD9-50724EF04879}"/>
              </a:ext>
            </a:extLst>
          </p:cNvPr>
          <p:cNvSpPr txBox="1"/>
          <p:nvPr/>
        </p:nvSpPr>
        <p:spPr>
          <a:xfrm>
            <a:off x="1282599" y="4389851"/>
            <a:ext cx="847058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>
                <a:solidFill>
                  <a:srgbClr val="C00000"/>
                </a:solidFill>
              </a:rPr>
              <a:t>全ての発話内容が話者タグだけ変化して格納している</a:t>
            </a:r>
            <a:endParaRPr kumimoji="1" lang="en-US" altLang="ja-JP" sz="2800" b="1" u="sng" dirty="0">
              <a:solidFill>
                <a:srgbClr val="C00000"/>
              </a:solidFill>
            </a:endParaRP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【</a:t>
            </a:r>
            <a:r>
              <a:rPr kumimoji="1" lang="ja-JP" altLang="en-US" sz="2400"/>
              <a:t>本来の出力イメージ</a:t>
            </a:r>
            <a:r>
              <a:rPr kumimoji="1" lang="en-US" altLang="ja-JP" sz="2400" dirty="0"/>
              <a:t>】</a:t>
            </a:r>
          </a:p>
          <a:p>
            <a:r>
              <a:rPr kumimoji="1" lang="ja-JP" altLang="en-US" sz="2400"/>
              <a:t>話者</a:t>
            </a:r>
            <a:r>
              <a:rPr kumimoji="1" lang="en-US" altLang="ja-JP" sz="2400" dirty="0"/>
              <a:t> 0</a:t>
            </a:r>
            <a:r>
              <a:rPr kumimoji="1" lang="ja-JP" altLang="en-US" sz="2400"/>
              <a:t>：明日はミーティングです</a:t>
            </a:r>
            <a:endParaRPr kumimoji="1" lang="en-US" altLang="ja-JP" sz="2400" dirty="0"/>
          </a:p>
          <a:p>
            <a:r>
              <a:rPr kumimoji="1" lang="ja-JP" altLang="en-US" sz="2400"/>
              <a:t>話者</a:t>
            </a:r>
            <a:r>
              <a:rPr kumimoji="1" lang="en-US" altLang="ja-JP" sz="2400" dirty="0"/>
              <a:t> 1</a:t>
            </a:r>
            <a:r>
              <a:rPr kumimoji="1" lang="ja-JP" altLang="en-US" sz="2400"/>
              <a:t>：識別できないね</a:t>
            </a:r>
            <a:endParaRPr kumimoji="1" lang="en-US" altLang="ja-JP" sz="2400" dirty="0"/>
          </a:p>
          <a:p>
            <a:r>
              <a:rPr kumimoji="1" lang="ja-JP" altLang="en-US" sz="2400"/>
              <a:t>話者</a:t>
            </a:r>
            <a:r>
              <a:rPr kumimoji="1" lang="en-US" altLang="ja-JP" sz="2400" dirty="0"/>
              <a:t> 0</a:t>
            </a:r>
            <a:r>
              <a:rPr kumimoji="1" lang="ja-JP" altLang="en-US" sz="2400"/>
              <a:t>：悲しいです</a:t>
            </a:r>
            <a:endParaRPr kumimoji="1" lang="en-US" altLang="ja-JP" sz="2400" dirty="0"/>
          </a:p>
        </p:txBody>
      </p:sp>
      <p:pic>
        <p:nvPicPr>
          <p:cNvPr id="19" name="357388.mp3">
            <a:hlinkClick r:id="" action="ppaction://media"/>
            <a:extLst>
              <a:ext uri="{FF2B5EF4-FFF2-40B4-BE49-F238E27FC236}">
                <a16:creationId xmlns:a16="http://schemas.microsoft.com/office/drawing/2014/main" id="{B31AE011-4749-CB40-FDBB-F2A7442CD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62400" y="7448639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1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7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8797-A8EC-98E9-E0F2-036DDB26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44FE7EF-93A0-9A84-FC76-A9303EA5EAE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C02359-FBD3-A84A-10D1-CDAB8E97DB15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0AF9ED2-6CD1-59B1-5F86-A5343B36F6B3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F830F63-90C3-F71A-995E-52A11D2F44AD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BBF1B99-98EF-999F-0A3B-538CC5D56FC2}"/>
              </a:ext>
            </a:extLst>
          </p:cNvPr>
          <p:cNvGrpSpPr/>
          <p:nvPr/>
        </p:nvGrpSpPr>
        <p:grpSpPr>
          <a:xfrm>
            <a:off x="1282599" y="66808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609A523-3716-4036-8A8D-CCEBF17490F6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BF532D5-F4C6-75F7-1226-29232ECA878C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B017EAB-D478-2A1D-251B-FC24CF95222E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今回実装した解決策：</a:t>
            </a:r>
            <a:r>
              <a:rPr lang="en-US" altLang="ja-JP" sz="3500" b="1" spc="175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wav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ファイルをユーザーごとに作成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D63F252-E35D-E749-78EE-AD01E72ADBFD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4C0F9213-5EB9-78E5-3303-2C3AD1A8A412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A9C3034-3AFA-4C78-2AEB-B12D7E001E8A}"/>
              </a:ext>
            </a:extLst>
          </p:cNvPr>
          <p:cNvSpPr txBox="1"/>
          <p:nvPr/>
        </p:nvSpPr>
        <p:spPr>
          <a:xfrm>
            <a:off x="1282599" y="2825525"/>
            <a:ext cx="1102269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C00000"/>
                </a:solidFill>
              </a:rPr>
              <a:t>wav</a:t>
            </a:r>
            <a:r>
              <a:rPr kumimoji="1" lang="ja-JP" altLang="en-US" sz="2800" b="1">
                <a:solidFill>
                  <a:srgbClr val="C00000"/>
                </a:solidFill>
              </a:rPr>
              <a:t>ファイルをユーザーごとに分けたら全解決じゃん</a:t>
            </a:r>
            <a:endParaRPr kumimoji="1" lang="en-US" altLang="ja-JP" sz="2800" b="1" dirty="0">
              <a:solidFill>
                <a:srgbClr val="C00000"/>
              </a:solidFill>
            </a:endParaRPr>
          </a:p>
          <a:p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ja-JP" altLang="en-US" sz="2800"/>
              <a:t>入力デバイスをユーザーごとに分ける</a:t>
            </a:r>
            <a:endParaRPr kumimoji="1" lang="en-US" altLang="ja-JP" sz="2800" dirty="0"/>
          </a:p>
          <a:p>
            <a:r>
              <a:rPr kumimoji="1" lang="en-US" altLang="ja-JP" sz="2800" dirty="0"/>
              <a:t>			</a:t>
            </a:r>
            <a:r>
              <a:rPr kumimoji="1" lang="ja-JP" altLang="en-US" sz="2800"/>
              <a:t>→</a:t>
            </a:r>
            <a:r>
              <a:rPr kumimoji="1" lang="en-US" altLang="ja-JP" sz="2800" dirty="0"/>
              <a:t>	</a:t>
            </a:r>
            <a:r>
              <a:rPr kumimoji="1" lang="ja-JP" altLang="en-US" sz="2800"/>
              <a:t>話者分離の必要なし！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ja-JP" altLang="en-US" sz="2800"/>
              <a:t>入力デバイスごとに</a:t>
            </a:r>
            <a:r>
              <a:rPr kumimoji="1" lang="en-US" altLang="ja-JP" sz="2800" dirty="0" err="1"/>
              <a:t>account_id</a:t>
            </a:r>
            <a:r>
              <a:rPr kumimoji="1" lang="en-US" altLang="ja-JP" sz="2800" dirty="0"/>
              <a:t>(=</a:t>
            </a:r>
            <a:r>
              <a:rPr kumimoji="1" lang="ja-JP" altLang="en-US" sz="2800"/>
              <a:t>ユーザー登録時に作成済</a:t>
            </a:r>
            <a:r>
              <a:rPr kumimoji="1" lang="en-US" altLang="ja-JP" sz="2800" dirty="0"/>
              <a:t>)</a:t>
            </a:r>
            <a:r>
              <a:rPr kumimoji="1" lang="ja-JP" altLang="en-US" sz="2800"/>
              <a:t>を入力させる</a:t>
            </a:r>
            <a:endParaRPr kumimoji="1" lang="en-US" altLang="ja-JP" sz="2800" dirty="0"/>
          </a:p>
          <a:p>
            <a:r>
              <a:rPr kumimoji="1" lang="en-US" altLang="ja-JP" sz="2800" dirty="0"/>
              <a:t>			</a:t>
            </a:r>
            <a:r>
              <a:rPr kumimoji="1" lang="ja-JP" altLang="en-US" sz="2800"/>
              <a:t>→</a:t>
            </a:r>
            <a:r>
              <a:rPr kumimoji="1" lang="en-US" altLang="ja-JP" sz="2800" dirty="0"/>
              <a:t>	</a:t>
            </a:r>
            <a:r>
              <a:rPr kumimoji="1" lang="ja-JP" altLang="en-US" sz="2800"/>
              <a:t>話者識別の必要なし！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1453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AD5002-4BB4-2211-0E8A-6AC64E3D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AF312F-D401-5633-5FD6-70E23861EFC4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C0ED546-C0ED-C420-0C5B-EA623EE958D3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113394B-F97F-5F64-3933-AD805D66533E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D58FA50-42B2-BD0F-7FB0-46350DC7D8D3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9D5182E-B4BF-971C-5FE0-9844E477CA07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479DADC-052B-A1A5-DEC3-DAFC5EC5F0B0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4163759-408E-DA88-761F-C6346DC18BC1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E5D4D31-71CF-A32A-7709-B866A3FC8B09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話者のタグ付けがうまくいかない　の原因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34F7AF-94EE-7BA1-9B30-2DD95595D94F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C406EA36-A192-5013-FFDF-B7AC6D4D5A35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914C12-0538-6ABD-663A-199CE6540CE9}"/>
              </a:ext>
            </a:extLst>
          </p:cNvPr>
          <p:cNvSpPr txBox="1"/>
          <p:nvPr/>
        </p:nvSpPr>
        <p:spPr>
          <a:xfrm>
            <a:off x="1350187" y="2442734"/>
            <a:ext cx="17077304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/>
              <a:t>Gemni</a:t>
            </a:r>
            <a:r>
              <a:rPr kumimoji="1" lang="ja-JP" altLang="en-US" sz="2800"/>
              <a:t>に原因の要因を聞いてみた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①</a:t>
            </a:r>
            <a:r>
              <a:rPr kumimoji="1" lang="ja-JP" altLang="en-US" sz="2800" b="1" u="sng">
                <a:solidFill>
                  <a:schemeClr val="tx2"/>
                </a:solidFill>
              </a:rPr>
              <a:t>最小</a:t>
            </a:r>
            <a:r>
              <a:rPr kumimoji="1" lang="en-US" altLang="ja-JP" sz="2800" b="1" u="sng" dirty="0">
                <a:solidFill>
                  <a:schemeClr val="tx2"/>
                </a:solidFill>
              </a:rPr>
              <a:t>or</a:t>
            </a:r>
            <a:r>
              <a:rPr kumimoji="1" lang="ja-JP" altLang="en-US" sz="2800" b="1" u="sng">
                <a:solidFill>
                  <a:schemeClr val="tx2"/>
                </a:solidFill>
              </a:rPr>
              <a:t>最大の発話者数に合わせようとしている</a:t>
            </a:r>
            <a:br>
              <a:rPr kumimoji="1" lang="en-US" altLang="ja-JP" sz="2800" dirty="0"/>
            </a:br>
            <a:r>
              <a:rPr kumimoji="1" lang="en-US" altLang="ja-JP" sz="2800" dirty="0"/>
              <a:t>	</a:t>
            </a:r>
            <a:r>
              <a:rPr kumimoji="1" lang="ja-JP" altLang="en-US" sz="2800"/>
              <a:t>→最小発話者数</a:t>
            </a:r>
            <a:r>
              <a:rPr kumimoji="1" lang="en-US" altLang="ja-JP" sz="2800" dirty="0"/>
              <a:t>=</a:t>
            </a:r>
            <a:r>
              <a:rPr kumimoji="1" lang="ja-JP" altLang="en-US" sz="2800"/>
              <a:t>最大発話者数</a:t>
            </a:r>
            <a:r>
              <a:rPr kumimoji="1" lang="en-US" altLang="ja-JP" sz="2800" dirty="0"/>
              <a:t>=2</a:t>
            </a:r>
            <a:r>
              <a:rPr kumimoji="1" lang="ja-JP" altLang="en-US" sz="2800"/>
              <a:t>に設定しても失敗</a:t>
            </a:r>
            <a:r>
              <a:rPr kumimoji="1" lang="en-US" altLang="ja-JP" sz="2800" dirty="0"/>
              <a:t>...</a:t>
            </a:r>
            <a:r>
              <a:rPr kumimoji="1" lang="ja-JP" altLang="en-US" sz="2800"/>
              <a:t>。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②</a:t>
            </a:r>
            <a:r>
              <a:rPr kumimoji="1" lang="ja-JP" altLang="en-US" sz="2800" b="1" u="sng">
                <a:solidFill>
                  <a:schemeClr val="tx2"/>
                </a:solidFill>
              </a:rPr>
              <a:t>機械音声から特徴を抽出できない</a:t>
            </a:r>
            <a:endParaRPr kumimoji="1" lang="en-US" altLang="ja-JP" sz="2800" b="1" u="sng" dirty="0">
              <a:solidFill>
                <a:schemeClr val="tx2"/>
              </a:solidFill>
            </a:endParaRPr>
          </a:p>
          <a:p>
            <a:r>
              <a:rPr kumimoji="1" lang="en-US" altLang="ja-JP" sz="2800" dirty="0"/>
              <a:t>	</a:t>
            </a:r>
            <a:r>
              <a:rPr kumimoji="1" lang="ja-JP" altLang="en-US" sz="2800"/>
              <a:t>→人が発話した音声データでも失敗</a:t>
            </a:r>
            <a:r>
              <a:rPr kumimoji="1" lang="en-US" altLang="ja-JP" sz="2800" dirty="0"/>
              <a:t>...</a:t>
            </a:r>
            <a:r>
              <a:rPr kumimoji="1" lang="ja-JP" altLang="en-US" sz="2800"/>
              <a:t>。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③</a:t>
            </a:r>
            <a:r>
              <a:rPr kumimoji="1" lang="ja-JP" altLang="en-US" sz="2800" b="1" u="sng">
                <a:solidFill>
                  <a:schemeClr val="tx2"/>
                </a:solidFill>
              </a:rPr>
              <a:t>音声データの詳細設定のミス</a:t>
            </a:r>
            <a:r>
              <a:rPr kumimoji="1" lang="en-US" altLang="ja-JP" sz="2800" b="1" u="sng" dirty="0">
                <a:solidFill>
                  <a:schemeClr val="tx2"/>
                </a:solidFill>
              </a:rPr>
              <a:t>(e.g.)</a:t>
            </a:r>
            <a:r>
              <a:rPr kumimoji="1" lang="ja-JP" altLang="en-US" sz="2800" b="1" u="sng">
                <a:solidFill>
                  <a:schemeClr val="tx2"/>
                </a:solidFill>
              </a:rPr>
              <a:t>サンプリングレート，チャンネル数など</a:t>
            </a:r>
            <a:endParaRPr kumimoji="1" lang="en-US" altLang="ja-JP" sz="2800" b="1" u="sng" dirty="0">
              <a:solidFill>
                <a:schemeClr val="tx2"/>
              </a:solidFill>
            </a:endParaRPr>
          </a:p>
          <a:p>
            <a:r>
              <a:rPr kumimoji="1" lang="en-US" altLang="ja-JP" sz="2800" dirty="0"/>
              <a:t>	</a:t>
            </a:r>
            <a:r>
              <a:rPr kumimoji="1" lang="ja-JP" altLang="en-US" sz="2800"/>
              <a:t>→問題がないことを確認済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③</a:t>
            </a:r>
            <a:r>
              <a:rPr lang="en-US" altLang="ja-JP" sz="2800" b="1" u="sng" dirty="0">
                <a:solidFill>
                  <a:schemeClr val="tx2"/>
                </a:solidFill>
              </a:rPr>
              <a:t>Google Cloud Speech-to-Text API</a:t>
            </a:r>
            <a:r>
              <a:rPr lang="ja-JP" altLang="en-US" sz="2800" b="1" u="sng">
                <a:solidFill>
                  <a:schemeClr val="tx2"/>
                </a:solidFill>
              </a:rPr>
              <a:t>のダイアライゼーション機能は不適切</a:t>
            </a:r>
            <a:endParaRPr lang="en-US" altLang="ja-JP" sz="2800" b="1" u="sng" dirty="0">
              <a:solidFill>
                <a:schemeClr val="tx2"/>
              </a:solidFill>
            </a:endParaRPr>
          </a:p>
          <a:p>
            <a:r>
              <a:rPr lang="ja-JP" altLang="en-US" sz="2800"/>
              <a:t>　　</a:t>
            </a:r>
            <a:r>
              <a:rPr lang="en-US" altLang="ja-JP" sz="2800" dirty="0"/>
              <a:t>Gemini</a:t>
            </a:r>
            <a:r>
              <a:rPr lang="ja-JP" altLang="en-US" sz="2800"/>
              <a:t>「上記の方法でも話者分離がうまくいかない場合、</a:t>
            </a:r>
            <a:r>
              <a:rPr lang="en-US" altLang="ja-JP" sz="2800" dirty="0"/>
              <a:t>Google Cloud Speech-to-Text API</a:t>
            </a:r>
            <a:r>
              <a:rPr lang="ja-JP" altLang="en-US" sz="2800"/>
              <a:t>の話者分離機能が、</a:t>
            </a:r>
            <a:endParaRPr lang="en-US" altLang="ja-JP" sz="2800" dirty="0"/>
          </a:p>
          <a:p>
            <a:r>
              <a:rPr lang="en-US" altLang="ja-JP" sz="2800" b="1" dirty="0">
                <a:solidFill>
                  <a:srgbClr val="C00000"/>
                </a:solidFill>
              </a:rPr>
              <a:t>	</a:t>
            </a:r>
            <a:r>
              <a:rPr lang="ja-JP" altLang="en-US" sz="2800" b="1">
                <a:solidFill>
                  <a:srgbClr val="C00000"/>
                </a:solidFill>
              </a:rPr>
              <a:t>　　　</a:t>
            </a:r>
            <a:r>
              <a:rPr lang="en-US" altLang="ja-JP" sz="2800" b="1" dirty="0">
                <a:solidFill>
                  <a:srgbClr val="C00000"/>
                </a:solidFill>
              </a:rPr>
              <a:t> </a:t>
            </a:r>
            <a:r>
              <a:rPr lang="ja-JP" altLang="en-US" sz="2800" b="1">
                <a:solidFill>
                  <a:srgbClr val="C00000"/>
                </a:solidFill>
              </a:rPr>
              <a:t>あなたの目的や音声データの特性に対して、現状では十分な精度を提供できない</a:t>
            </a:r>
            <a:endParaRPr lang="en-US" altLang="ja-JP" sz="2800" b="1" dirty="0">
              <a:solidFill>
                <a:srgbClr val="C00000"/>
              </a:solidFill>
            </a:endParaRPr>
          </a:p>
          <a:p>
            <a:r>
              <a:rPr lang="en-US" altLang="ja-JP" sz="2800" b="1" dirty="0">
                <a:solidFill>
                  <a:srgbClr val="C00000"/>
                </a:solidFill>
              </a:rPr>
              <a:t>	</a:t>
            </a:r>
            <a:r>
              <a:rPr lang="ja-JP" altLang="en-US" sz="2800" b="1">
                <a:solidFill>
                  <a:srgbClr val="C00000"/>
                </a:solidFill>
              </a:rPr>
              <a:t>　　　</a:t>
            </a:r>
            <a:r>
              <a:rPr lang="en-US" altLang="ja-JP" sz="2800" b="1" dirty="0">
                <a:solidFill>
                  <a:srgbClr val="C00000"/>
                </a:solidFill>
              </a:rPr>
              <a:t> </a:t>
            </a:r>
            <a:r>
              <a:rPr lang="ja-JP" altLang="en-US" sz="2800"/>
              <a:t>と判断せざるを得ません。」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14466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0208D6-8E36-E467-5E92-5979E7FC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FB5D9B-6C55-DB01-CF7D-84890102EFF0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C991F7-523C-1525-6D67-A1DC8C57251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C6C5DC7-031A-ADEB-F2AB-EA3CDABCAB0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33CECEC-DAF2-6083-B603-1C5AACD70FFE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B7E2A20-ED8E-63AF-B831-FB764F718CF3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2113A07-FF1A-E73B-5B4B-B84F10977321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CC4BCB-5190-1ABA-BA4C-5389A439C0B2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54CDA2D-F4C6-86C4-D189-ED5FD04DEE83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データ作成・変換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45A17B0-5F54-C5B4-7D2C-81B0F88E072B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A600FBBF-7463-93F1-0FB5-791239365EBF}"/>
              </a:ext>
            </a:extLst>
          </p:cNvPr>
          <p:cNvGraphicFramePr>
            <a:graphicFrameLocks noGrp="1"/>
          </p:cNvGraphicFramePr>
          <p:nvPr/>
        </p:nvGraphicFramePr>
        <p:xfrm>
          <a:off x="7935297" y="4229100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音文字起こしデータを</a:t>
                      </a: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GCS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ja-JP" altLang="en-US" sz="2800" b="1">
                        <a:solidFill>
                          <a:srgbClr val="C00000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そもそも，文字起こしのコードはどうやって実行する</a:t>
                      </a:r>
                      <a:r>
                        <a:rPr kumimoji="1" lang="en-US" altLang="ja-JP" sz="2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...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endParaRPr kumimoji="1" lang="en-US" altLang="ja-JP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8F4A169C-4DD1-2639-C05F-A4D899B3283B}"/>
              </a:ext>
            </a:extLst>
          </p:cNvPr>
          <p:cNvGrpSpPr/>
          <p:nvPr/>
        </p:nvGrpSpPr>
        <p:grpSpPr>
          <a:xfrm>
            <a:off x="856856" y="4474062"/>
            <a:ext cx="1855186" cy="2078502"/>
            <a:chOff x="7213805" y="3006543"/>
            <a:chExt cx="1855186" cy="2078502"/>
          </a:xfrm>
        </p:grpSpPr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E0250CED-C08C-C438-5E12-933F7B56A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1B714C1-2206-3A3C-4E34-350CB4E7CC8D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0803E1B1-8DF4-BCB3-B27F-5AEA4BD298C5}"/>
              </a:ext>
            </a:extLst>
          </p:cNvPr>
          <p:cNvGrpSpPr/>
          <p:nvPr/>
        </p:nvGrpSpPr>
        <p:grpSpPr>
          <a:xfrm>
            <a:off x="4963497" y="4497200"/>
            <a:ext cx="2529860" cy="2055363"/>
            <a:chOff x="11486205" y="3006543"/>
            <a:chExt cx="2529860" cy="2055363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5B9A9A67-A9E1-98C9-02BF-BBBAE72D26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6275DAE-80D1-2043-CEB6-2EDB1FEA18FE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4542BE4-1539-BFEF-5FA3-8EA7E70C9B53}"/>
              </a:ext>
            </a:extLst>
          </p:cNvPr>
          <p:cNvCxnSpPr>
            <a:cxnSpLocks/>
          </p:cNvCxnSpPr>
          <p:nvPr/>
        </p:nvCxnSpPr>
        <p:spPr>
          <a:xfrm flipH="1">
            <a:off x="3237350" y="5580231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グラフィックス 42" descr="レシート 単色塗りつぶし">
            <a:extLst>
              <a:ext uri="{FF2B5EF4-FFF2-40B4-BE49-F238E27FC236}">
                <a16:creationId xmlns:a16="http://schemas.microsoft.com/office/drawing/2014/main" id="{94834239-B1A9-DFD3-4F84-D8906459B1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20497" y="5300701"/>
            <a:ext cx="654366" cy="654366"/>
          </a:xfrm>
          <a:prstGeom prst="rect">
            <a:avLst/>
          </a:prstGeom>
        </p:spPr>
      </p:pic>
      <p:sp>
        <p:nvSpPr>
          <p:cNvPr id="11" name="AutoShape 6">
            <a:extLst>
              <a:ext uri="{FF2B5EF4-FFF2-40B4-BE49-F238E27FC236}">
                <a16:creationId xmlns:a16="http://schemas.microsoft.com/office/drawing/2014/main" id="{B9B686C5-DAA9-C2FD-DC9F-81B27580DB58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440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C3BDE5-03A8-6C95-D679-D2A538C1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9E2E48-AF92-216A-1002-DEA3E5A9E68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447D6A-BFDC-3745-CF2C-34904286CA5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4C651D9-1EE6-1C7D-2CC7-882C9FB9CCD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A204C76-E99B-5105-57AD-276FBC2E2BA9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E0B9951-ED97-3CC3-AB3F-A74BEF52AFF0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FA54D60-D1DF-C503-E758-A1725B7F1E9D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72C7E5-654D-DF39-59DB-24874AF2E09F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9194DF2-DB27-739C-6E37-96485FF3B90B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9381A37-1F11-39F9-EF48-75AAA5BA2057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データ管理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64EC89-5EA3-CF77-5FE7-3A3D5E46BF7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49E536C-E48E-DABD-3BE9-1BA026077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02065"/>
              </p:ext>
            </p:extLst>
          </p:nvPr>
        </p:nvGraphicFramePr>
        <p:xfrm>
          <a:off x="7772400" y="2694232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SQLite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en-US" altLang="ja-JP" sz="2800" b="0" kern="1200" dirty="0">
                        <a:solidFill>
                          <a:schemeClr val="dk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Django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と同様のデータベースに繋げる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(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)</a:t>
                      </a:r>
                      <a:endParaRPr kumimoji="1" lang="en-US" altLang="ja-JP" sz="11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2CD41FB1-EFD5-1397-77AA-B96564880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35547"/>
              </p:ext>
            </p:extLst>
          </p:nvPr>
        </p:nvGraphicFramePr>
        <p:xfrm>
          <a:off x="7772400" y="5976899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ユーザーに表示する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 err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Transcript.objects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を使えばすぐ実装可能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algn="r"/>
                      <a:r>
                        <a:rPr kumimoji="1" lang="ja-JP" altLang="en-US" sz="1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っぽいです</a:t>
                      </a:r>
                      <a:endParaRPr kumimoji="1" lang="en-US" altLang="ja-JP" sz="1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E267013-1DA3-68D7-4223-E1883A6C7627}"/>
              </a:ext>
            </a:extLst>
          </p:cNvPr>
          <p:cNvGrpSpPr/>
          <p:nvPr/>
        </p:nvGrpSpPr>
        <p:grpSpPr>
          <a:xfrm>
            <a:off x="5335892" y="3104658"/>
            <a:ext cx="1426106" cy="1909783"/>
            <a:chOff x="7173083" y="6753785"/>
            <a:chExt cx="1426106" cy="1909783"/>
          </a:xfrm>
        </p:grpSpPr>
        <p:pic>
          <p:nvPicPr>
            <p:cNvPr id="15" name="グラフィックス 14" descr="データベース 枠線">
              <a:extLst>
                <a:ext uri="{FF2B5EF4-FFF2-40B4-BE49-F238E27FC236}">
                  <a16:creationId xmlns:a16="http://schemas.microsoft.com/office/drawing/2014/main" id="{778D5D55-CE0E-F400-3189-B8508308B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BC8DBA3-11C2-1B62-EA18-F386D12076D1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7DA34DF-146F-C9A0-E9B7-8ED419B0DB69}"/>
              </a:ext>
            </a:extLst>
          </p:cNvPr>
          <p:cNvGrpSpPr/>
          <p:nvPr/>
        </p:nvGrpSpPr>
        <p:grpSpPr>
          <a:xfrm>
            <a:off x="1170950" y="2884197"/>
            <a:ext cx="2113079" cy="2604998"/>
            <a:chOff x="2728937" y="6122140"/>
            <a:chExt cx="2113079" cy="2604998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2215DF6-67D0-F733-98B0-99DF11F5726C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F4537C-5863-7DFA-7264-89E965F64122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D0785E0-C73D-AC0A-8E89-FDF39811FB1D}"/>
              </a:ext>
            </a:extLst>
          </p:cNvPr>
          <p:cNvCxnSpPr>
            <a:cxnSpLocks/>
          </p:cNvCxnSpPr>
          <p:nvPr/>
        </p:nvCxnSpPr>
        <p:spPr>
          <a:xfrm>
            <a:off x="3191965" y="3633228"/>
            <a:ext cx="225569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グラフィックス 21" descr="コメント: ハート 単色塗りつぶし">
            <a:extLst>
              <a:ext uri="{FF2B5EF4-FFF2-40B4-BE49-F238E27FC236}">
                <a16:creationId xmlns:a16="http://schemas.microsoft.com/office/drawing/2014/main" id="{B88F2DFF-E4E2-61DB-05E6-32C0F63C5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7774" y="3129872"/>
            <a:ext cx="821125" cy="82112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4EBCFBFC-6885-A848-172A-FD3F28BFB899}"/>
              </a:ext>
            </a:extLst>
          </p:cNvPr>
          <p:cNvGrpSpPr/>
          <p:nvPr/>
        </p:nvGrpSpPr>
        <p:grpSpPr>
          <a:xfrm>
            <a:off x="3157427" y="6447252"/>
            <a:ext cx="1162383" cy="1776969"/>
            <a:chOff x="2197288" y="6628760"/>
            <a:chExt cx="1278614" cy="1734867"/>
          </a:xfrm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C9067BB2-953E-C7DB-7BDC-3D2B695850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042" y="6628760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DCD1096-08D3-BB85-72AE-3DDFC9ADF815}"/>
                </a:ext>
              </a:extLst>
            </p:cNvPr>
            <p:cNvSpPr txBox="1"/>
            <p:nvPr/>
          </p:nvSpPr>
          <p:spPr>
            <a:xfrm>
              <a:off x="2197288" y="7901962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13099CA-D63C-1982-8136-953F0BAAA39C}"/>
              </a:ext>
            </a:extLst>
          </p:cNvPr>
          <p:cNvGrpSpPr/>
          <p:nvPr/>
        </p:nvGrpSpPr>
        <p:grpSpPr>
          <a:xfrm>
            <a:off x="383958" y="6283725"/>
            <a:ext cx="1296468" cy="1956129"/>
            <a:chOff x="7173083" y="6753785"/>
            <a:chExt cx="1426106" cy="1909783"/>
          </a:xfrm>
        </p:grpSpPr>
        <p:pic>
          <p:nvPicPr>
            <p:cNvPr id="30" name="グラフィックス 29" descr="データベース 枠線">
              <a:extLst>
                <a:ext uri="{FF2B5EF4-FFF2-40B4-BE49-F238E27FC236}">
                  <a16:creationId xmlns:a16="http://schemas.microsoft.com/office/drawing/2014/main" id="{C4E79F0B-3B02-099E-989F-0C9C609D3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A5C68BB-0E56-4751-4CCA-B60DA2295282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104F69F2-7D08-CA33-568A-FD6FD7C51B71}"/>
              </a:ext>
            </a:extLst>
          </p:cNvPr>
          <p:cNvGrpSpPr/>
          <p:nvPr/>
        </p:nvGrpSpPr>
        <p:grpSpPr>
          <a:xfrm>
            <a:off x="6150174" y="6299613"/>
            <a:ext cx="1523990" cy="1940241"/>
            <a:chOff x="14518479" y="5789880"/>
            <a:chExt cx="1676379" cy="1894271"/>
          </a:xfrm>
        </p:grpSpPr>
        <p:pic>
          <p:nvPicPr>
            <p:cNvPr id="34" name="グラフィックス 33" descr="男性のプロフィール 枠線">
              <a:extLst>
                <a:ext uri="{FF2B5EF4-FFF2-40B4-BE49-F238E27FC236}">
                  <a16:creationId xmlns:a16="http://schemas.microsoft.com/office/drawing/2014/main" id="{2B76B076-0064-B991-87A5-C9B9ED838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E245590-2FB6-2A12-72A2-10441819AB93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60EE49F-2CEF-1609-0E7C-E66B44AD6CD1}"/>
              </a:ext>
            </a:extLst>
          </p:cNvPr>
          <p:cNvCxnSpPr>
            <a:cxnSpLocks/>
          </p:cNvCxnSpPr>
          <p:nvPr/>
        </p:nvCxnSpPr>
        <p:spPr>
          <a:xfrm>
            <a:off x="1586631" y="7108125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グラフィックス 44" descr="コメント: ハート 単色塗りつぶし">
            <a:extLst>
              <a:ext uri="{FF2B5EF4-FFF2-40B4-BE49-F238E27FC236}">
                <a16:creationId xmlns:a16="http://schemas.microsoft.com/office/drawing/2014/main" id="{2DFAEF9F-6478-4B99-E154-6ACC2D1988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7181" y="6591300"/>
            <a:ext cx="841052" cy="841052"/>
          </a:xfrm>
          <a:prstGeom prst="rect">
            <a:avLst/>
          </a:prstGeom>
        </p:spPr>
      </p:pic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54170A-ABF0-3A56-CF2D-565007252B48}"/>
              </a:ext>
            </a:extLst>
          </p:cNvPr>
          <p:cNvCxnSpPr>
            <a:cxnSpLocks/>
          </p:cNvCxnSpPr>
          <p:nvPr/>
        </p:nvCxnSpPr>
        <p:spPr>
          <a:xfrm>
            <a:off x="4658301" y="7127077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コメント: ハート 単色塗りつぶし">
            <a:extLst>
              <a:ext uri="{FF2B5EF4-FFF2-40B4-BE49-F238E27FC236}">
                <a16:creationId xmlns:a16="http://schemas.microsoft.com/office/drawing/2014/main" id="{D37516AF-3AA1-3637-3457-E28F06791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98851" y="6591300"/>
            <a:ext cx="841052" cy="84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4391</TotalTime>
  <Words>652</Words>
  <Application>Microsoft Macintosh PowerPoint</Application>
  <PresentationFormat>ユーザー設定</PresentationFormat>
  <Paragraphs>159</Paragraphs>
  <Slides>9</Slides>
  <Notes>7</Notes>
  <HiddenSlides>3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</vt:lpstr>
      <vt:lpstr>Calibri</vt:lpstr>
      <vt:lpstr>游ゴシック</vt:lpstr>
      <vt:lpstr>游ゴシック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　シンプル　年次報告書　プレゼンテーション</dc:title>
  <cp:lastModifiedBy>Momoko SHIRAKAWA</cp:lastModifiedBy>
  <cp:revision>16</cp:revision>
  <dcterms:created xsi:type="dcterms:W3CDTF">2006-08-16T00:00:00Z</dcterms:created>
  <dcterms:modified xsi:type="dcterms:W3CDTF">2025-06-19T06:19:11Z</dcterms:modified>
  <dc:identifier>DAGn9M6bQfc</dc:identifier>
</cp:coreProperties>
</file>