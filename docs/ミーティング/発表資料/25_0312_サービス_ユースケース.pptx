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"/>
  </p:notesMasterIdLst>
  <p:sldIdLst>
    <p:sldId id="259" r:id="rId2"/>
    <p:sldId id="257" r:id="rId3"/>
    <p:sldId id="258" r:id="rId4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EAF4"/>
    <a:srgbClr val="FAEAF9"/>
    <a:srgbClr val="FFE2F0"/>
    <a:srgbClr val="FFEEC8"/>
    <a:srgbClr val="F8FA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1"/>
    <p:restoredTop sz="90922"/>
  </p:normalViewPr>
  <p:slideViewPr>
    <p:cSldViewPr snapToGrid="0">
      <p:cViewPr varScale="1">
        <p:scale>
          <a:sx n="111" d="100"/>
          <a:sy n="111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25B1A4-3A2E-0A40-A1CF-0DDC1367C614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D309A-C86C-C84E-936A-475060BC51E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450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309A-C86C-C84E-936A-475060BC51E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1917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App runner</a:t>
            </a:r>
            <a:r>
              <a:rPr kumimoji="1" lang="ja-JP" altLang="en-US"/>
              <a:t>でいいと思うけど</a:t>
            </a:r>
            <a:r>
              <a:rPr kumimoji="1" lang="en-US" altLang="ja-JP" dirty="0"/>
              <a:t>....</a:t>
            </a:r>
          </a:p>
          <a:p>
            <a:r>
              <a:rPr kumimoji="1" lang="ja-JP" altLang="en-US"/>
              <a:t>こっちかも：</a:t>
            </a:r>
            <a:r>
              <a:rPr kumimoji="1" lang="en-US" altLang="ja-JP" dirty="0"/>
              <a:t>https://</a:t>
            </a:r>
            <a:r>
              <a:rPr kumimoji="1" lang="en-US" altLang="ja-JP" dirty="0" err="1"/>
              <a:t>cloud.google.com</a:t>
            </a:r>
            <a:r>
              <a:rPr kumimoji="1" lang="en-US" altLang="ja-JP" dirty="0"/>
              <a:t>/</a:t>
            </a:r>
            <a:r>
              <a:rPr kumimoji="1" lang="en-US" altLang="ja-JP" dirty="0" err="1"/>
              <a:t>appengine</a:t>
            </a:r>
            <a:r>
              <a:rPr kumimoji="1" lang="en-US" altLang="ja-JP" dirty="0"/>
              <a:t>/migration-center/run/</a:t>
            </a:r>
            <a:r>
              <a:rPr kumimoji="1" lang="en-US" altLang="ja-JP" dirty="0" err="1"/>
              <a:t>compare-gae-with-run?hl</a:t>
            </a:r>
            <a:r>
              <a:rPr kumimoji="1" lang="en-US" altLang="ja-JP" dirty="0"/>
              <a:t>=ja</a:t>
            </a:r>
          </a:p>
          <a:p>
            <a:r>
              <a:rPr kumimoji="1" lang="ja-JP" altLang="en-US"/>
              <a:t>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5D309A-C86C-C84E-936A-475060BC51E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597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199" y="1122363"/>
            <a:ext cx="91451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3602038"/>
            <a:ext cx="914519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16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3166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709738"/>
            <a:ext cx="1051697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589464"/>
            <a:ext cx="1051697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556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825625"/>
            <a:ext cx="5182275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825625"/>
            <a:ext cx="5182275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0090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65126"/>
            <a:ext cx="1051697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681163"/>
            <a:ext cx="515845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505075"/>
            <a:ext cx="5158459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681163"/>
            <a:ext cx="518386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505075"/>
            <a:ext cx="5183863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52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345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88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987426"/>
            <a:ext cx="617300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9556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57200"/>
            <a:ext cx="39327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987426"/>
            <a:ext cx="6173004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2057400"/>
            <a:ext cx="39327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98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2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65125"/>
            <a:ext cx="2629242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65125"/>
            <a:ext cx="7735307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4409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2DA3A-59BE-154D-91A0-17E908754C91}" type="datetimeFigureOut">
              <a:rPr kumimoji="1" lang="ja-JP" altLang="en-US" smtClean="0"/>
              <a:t>2025/3/12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949BD-3D66-C847-BC8D-0ABE83F11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218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328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328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7128" y="3984"/>
            <a:ext cx="9377853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571" y="3985"/>
            <a:ext cx="9774039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35388A5-1ABD-030E-C0FF-963175DBD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0762" y="1797910"/>
            <a:ext cx="7671758" cy="3855098"/>
          </a:xfrm>
        </p:spPr>
        <p:txBody>
          <a:bodyPr anchor="b">
            <a:normAutofit/>
          </a:bodyPr>
          <a:lstStyle/>
          <a:p>
            <a:br>
              <a:rPr lang="en-US" altLang="ja-JP" sz="2800" b="1" i="0" dirty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ja-JP" altLang="en-US" sz="3200" b="1" i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パーソナライズされた話題提供モデルの</a:t>
            </a:r>
            <a:br>
              <a:rPr lang="en-US" altLang="ja-JP" sz="3200" b="1" i="0" dirty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ja-JP" altLang="en-US" sz="3200" b="1" i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アプリケーション化に向けて</a:t>
            </a:r>
            <a:br>
              <a:rPr lang="en-US" altLang="ja-JP" sz="2800" b="1" i="0" dirty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lang="ja-JP" altLang="en-US" sz="2800" b="0" i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ユースケース</a:t>
            </a:r>
            <a:r>
              <a:rPr lang="en-US" altLang="ja-JP" sz="2800" dirty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 / </a:t>
            </a:r>
            <a:r>
              <a:rPr lang="ja-JP" altLang="en-US" sz="2800" b="0" i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ターゲット</a:t>
            </a:r>
            <a:r>
              <a:rPr lang="en-US" altLang="ja-JP" sz="2800" b="0" i="0" dirty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 / </a:t>
            </a:r>
            <a:r>
              <a:rPr lang="ja-JP" altLang="en-US" sz="2800" b="0" i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  <a:t>要素技術</a:t>
            </a:r>
            <a:br>
              <a:rPr lang="en-US" altLang="ja-JP" sz="2500" b="0" i="0" dirty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br>
              <a:rPr lang="en-US" altLang="ja-JP" sz="2500" b="0" i="0" dirty="0">
                <a:solidFill>
                  <a:schemeClr val="tx2"/>
                </a:solidFill>
                <a:effectLst/>
                <a:latin typeface="Yu Gothic" panose="020B0400000000000000" pitchFamily="34" charset="-128"/>
                <a:ea typeface="Yu Gothic" panose="020B0400000000000000" pitchFamily="34" charset="-128"/>
              </a:rPr>
            </a:br>
            <a:br>
              <a:rPr kumimoji="1" lang="en-US" altLang="ja-JP" sz="2400" dirty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</a:br>
            <a:r>
              <a:rPr kumimoji="1" lang="en-US" altLang="ja-JP" sz="1800" dirty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CA Tech Lounge ML/DS</a:t>
            </a:r>
            <a:r>
              <a:rPr lang="ja-JP" altLang="en-US" sz="1800" dirty="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　</a:t>
            </a:r>
            <a:r>
              <a:rPr lang="ja-JP" altLang="en-US" sz="18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白川桃子</a:t>
            </a:r>
            <a:br>
              <a:rPr kumimoji="1" lang="ja-JP" altLang="en-US" sz="2800">
                <a:solidFill>
                  <a:schemeClr val="tx2"/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</a:br>
            <a:endParaRPr kumimoji="1" lang="ja-JP" altLang="en-US" sz="2500">
              <a:solidFill>
                <a:schemeClr val="tx2"/>
              </a:solidFill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5275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6988" y="4683666"/>
            <a:ext cx="2515275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61320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円/楕円 36">
            <a:extLst>
              <a:ext uri="{FF2B5EF4-FFF2-40B4-BE49-F238E27FC236}">
                <a16:creationId xmlns:a16="http://schemas.microsoft.com/office/drawing/2014/main" id="{54349AF4-02DD-6DA6-6D4C-18BC357FD695}"/>
              </a:ext>
            </a:extLst>
          </p:cNvPr>
          <p:cNvSpPr>
            <a:spLocks noChangeAspect="1"/>
          </p:cNvSpPr>
          <p:nvPr/>
        </p:nvSpPr>
        <p:spPr>
          <a:xfrm>
            <a:off x="521132" y="2065728"/>
            <a:ext cx="1685143" cy="1685143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32000">
                <a:schemeClr val="tx2">
                  <a:lumMod val="10000"/>
                  <a:lumOff val="9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74A8B781-F225-0A53-7561-2168C48D5207}"/>
              </a:ext>
            </a:extLst>
          </p:cNvPr>
          <p:cNvSpPr>
            <a:spLocks noChangeAspect="1"/>
          </p:cNvSpPr>
          <p:nvPr/>
        </p:nvSpPr>
        <p:spPr>
          <a:xfrm>
            <a:off x="9898822" y="2019988"/>
            <a:ext cx="1769329" cy="1769329"/>
          </a:xfrm>
          <a:prstGeom prst="ellipse">
            <a:avLst/>
          </a:prstGeom>
          <a:gradFill flip="none" rotWithShape="1">
            <a:gsLst>
              <a:gs pos="100000">
                <a:schemeClr val="bg1"/>
              </a:gs>
              <a:gs pos="32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17F195DF-B662-9286-221F-6919BFB271D5}"/>
              </a:ext>
            </a:extLst>
          </p:cNvPr>
          <p:cNvCxnSpPr>
            <a:cxnSpLocks/>
          </p:cNvCxnSpPr>
          <p:nvPr/>
        </p:nvCxnSpPr>
        <p:spPr>
          <a:xfrm>
            <a:off x="6046398" y="864494"/>
            <a:ext cx="0" cy="49011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フローチャート: 端子 6">
            <a:extLst>
              <a:ext uri="{FF2B5EF4-FFF2-40B4-BE49-F238E27FC236}">
                <a16:creationId xmlns:a16="http://schemas.microsoft.com/office/drawing/2014/main" id="{1E296B4E-F8AE-E0EB-488B-D07A37DD68E8}"/>
              </a:ext>
            </a:extLst>
          </p:cNvPr>
          <p:cNvSpPr/>
          <p:nvPr/>
        </p:nvSpPr>
        <p:spPr>
          <a:xfrm>
            <a:off x="3328293" y="256353"/>
            <a:ext cx="3990409" cy="608141"/>
          </a:xfrm>
          <a:prstGeom prst="flowChartTerminator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ログイン</a:t>
            </a:r>
          </a:p>
        </p:txBody>
      </p:sp>
      <p:pic>
        <p:nvPicPr>
          <p:cNvPr id="5" name="グラフィックス 4" descr="男性のプロフィール 単色塗りつぶし">
            <a:extLst>
              <a:ext uri="{FF2B5EF4-FFF2-40B4-BE49-F238E27FC236}">
                <a16:creationId xmlns:a16="http://schemas.microsoft.com/office/drawing/2014/main" id="{DF8C44DC-41EB-9BCB-B656-C0041E78C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503" y="1695076"/>
            <a:ext cx="1769337" cy="176933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04F6FF-4E41-E044-AF93-C0A23507F67F}"/>
              </a:ext>
            </a:extLst>
          </p:cNvPr>
          <p:cNvSpPr txBox="1"/>
          <p:nvPr/>
        </p:nvSpPr>
        <p:spPr>
          <a:xfrm>
            <a:off x="611466" y="3286094"/>
            <a:ext cx="1685144" cy="400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/>
              <a:t>ユーザー</a:t>
            </a:r>
          </a:p>
        </p:txBody>
      </p:sp>
      <p:pic>
        <p:nvPicPr>
          <p:cNvPr id="10" name="グラフィックス 9" descr="男性のプロフィール 単色塗りつぶし">
            <a:extLst>
              <a:ext uri="{FF2B5EF4-FFF2-40B4-BE49-F238E27FC236}">
                <a16:creationId xmlns:a16="http://schemas.microsoft.com/office/drawing/2014/main" id="{BD140972-F520-6AFE-EB85-67974B0EF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4261" y="1701458"/>
            <a:ext cx="1769336" cy="176933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8C7AC5A-FAEB-74E2-EBF5-AA0E356FDD84}"/>
              </a:ext>
            </a:extLst>
          </p:cNvPr>
          <p:cNvSpPr txBox="1"/>
          <p:nvPr/>
        </p:nvSpPr>
        <p:spPr>
          <a:xfrm>
            <a:off x="9940916" y="3315079"/>
            <a:ext cx="1685143" cy="400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/>
              <a:t>管理者</a:t>
            </a:r>
            <a:endParaRPr lang="en-US" altLang="ja-JP" sz="2000" b="1" dirty="0"/>
          </a:p>
        </p:txBody>
      </p:sp>
      <p:sp>
        <p:nvSpPr>
          <p:cNvPr id="12" name="フローチャート: 端子 11">
            <a:extLst>
              <a:ext uri="{FF2B5EF4-FFF2-40B4-BE49-F238E27FC236}">
                <a16:creationId xmlns:a16="http://schemas.microsoft.com/office/drawing/2014/main" id="{14A4E3E2-5312-0EE5-537B-68F3F1708160}"/>
              </a:ext>
            </a:extLst>
          </p:cNvPr>
          <p:cNvSpPr/>
          <p:nvPr/>
        </p:nvSpPr>
        <p:spPr>
          <a:xfrm>
            <a:off x="5365783" y="3317698"/>
            <a:ext cx="3990409" cy="810938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会話のテキストデータを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algn="ctr"/>
            <a:r>
              <a:rPr lang="ja-JP" altLang="en-US" sz="2000">
                <a:solidFill>
                  <a:schemeClr val="tx1"/>
                </a:solidFill>
              </a:rPr>
              <a:t>取得</a:t>
            </a:r>
            <a:r>
              <a:rPr lang="en-US" altLang="ja-JP" sz="2000" dirty="0">
                <a:solidFill>
                  <a:schemeClr val="tx1"/>
                </a:solidFill>
              </a:rPr>
              <a:t>/</a:t>
            </a:r>
            <a:r>
              <a:rPr lang="ja-JP" altLang="en-US" sz="2000">
                <a:solidFill>
                  <a:schemeClr val="tx1"/>
                </a:solidFill>
              </a:rPr>
              <a:t>分析</a:t>
            </a:r>
          </a:p>
        </p:txBody>
      </p:sp>
      <p:sp>
        <p:nvSpPr>
          <p:cNvPr id="13" name="フローチャート: 端子 12">
            <a:extLst>
              <a:ext uri="{FF2B5EF4-FFF2-40B4-BE49-F238E27FC236}">
                <a16:creationId xmlns:a16="http://schemas.microsoft.com/office/drawing/2014/main" id="{6D1839F8-53CE-E9B0-A760-9E9128C0E5C7}"/>
              </a:ext>
            </a:extLst>
          </p:cNvPr>
          <p:cNvSpPr/>
          <p:nvPr/>
        </p:nvSpPr>
        <p:spPr>
          <a:xfrm>
            <a:off x="5365783" y="4541681"/>
            <a:ext cx="3990409" cy="810938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興味関心ラベル</a:t>
            </a:r>
            <a:r>
              <a:rPr lang="en-US" altLang="ja-JP" sz="2000" dirty="0">
                <a:solidFill>
                  <a:schemeClr val="tx1"/>
                </a:solidFill>
              </a:rPr>
              <a:t>,</a:t>
            </a:r>
            <a:r>
              <a:rPr lang="ja-JP" altLang="en-US" sz="2000">
                <a:solidFill>
                  <a:schemeClr val="tx1"/>
                </a:solidFill>
              </a:rPr>
              <a:t>スコアを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algn="ctr"/>
            <a:r>
              <a:rPr lang="ja-JP" altLang="en-US" sz="2000">
                <a:solidFill>
                  <a:schemeClr val="tx1"/>
                </a:solidFill>
              </a:rPr>
              <a:t>ユーザー毎に付与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14" name="フローチャート: 端子 13">
            <a:extLst>
              <a:ext uri="{FF2B5EF4-FFF2-40B4-BE49-F238E27FC236}">
                <a16:creationId xmlns:a16="http://schemas.microsoft.com/office/drawing/2014/main" id="{742F47B0-E9CE-409B-AEAB-739530612689}"/>
              </a:ext>
            </a:extLst>
          </p:cNvPr>
          <p:cNvSpPr/>
          <p:nvPr/>
        </p:nvSpPr>
        <p:spPr>
          <a:xfrm>
            <a:off x="5365783" y="2296512"/>
            <a:ext cx="3990409" cy="608141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会話を録音</a:t>
            </a:r>
          </a:p>
        </p:txBody>
      </p:sp>
      <p:sp>
        <p:nvSpPr>
          <p:cNvPr id="15" name="フローチャート: 端子 14">
            <a:extLst>
              <a:ext uri="{FF2B5EF4-FFF2-40B4-BE49-F238E27FC236}">
                <a16:creationId xmlns:a16="http://schemas.microsoft.com/office/drawing/2014/main" id="{177093C9-D464-B384-BAC3-E3C662B3C371}"/>
              </a:ext>
            </a:extLst>
          </p:cNvPr>
          <p:cNvSpPr/>
          <p:nvPr/>
        </p:nvSpPr>
        <p:spPr>
          <a:xfrm>
            <a:off x="5365783" y="5765664"/>
            <a:ext cx="3990409" cy="810938"/>
          </a:xfrm>
          <a:prstGeom prst="flowChartTerminator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ラベル</a:t>
            </a:r>
            <a:r>
              <a:rPr lang="en-US" altLang="ja-JP" sz="2000" dirty="0">
                <a:solidFill>
                  <a:schemeClr val="tx1"/>
                </a:solidFill>
              </a:rPr>
              <a:t>,</a:t>
            </a:r>
            <a:r>
              <a:rPr lang="ja-JP" altLang="en-US" sz="2000">
                <a:solidFill>
                  <a:schemeClr val="tx1"/>
                </a:solidFill>
              </a:rPr>
              <a:t>スコアを基に</a:t>
            </a:r>
            <a:endParaRPr lang="en-US" altLang="ja-JP" sz="2000" dirty="0">
              <a:solidFill>
                <a:schemeClr val="tx1"/>
              </a:solidFill>
            </a:endParaRPr>
          </a:p>
          <a:p>
            <a:pPr algn="ctr"/>
            <a:r>
              <a:rPr lang="ja-JP" altLang="en-US" sz="2000">
                <a:solidFill>
                  <a:schemeClr val="tx1"/>
                </a:solidFill>
              </a:rPr>
              <a:t>マッチング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16" name="フローチャート: 端子 15">
            <a:extLst>
              <a:ext uri="{FF2B5EF4-FFF2-40B4-BE49-F238E27FC236}">
                <a16:creationId xmlns:a16="http://schemas.microsoft.com/office/drawing/2014/main" id="{D11953D4-4B67-327E-BCCF-9503D3605E9B}"/>
              </a:ext>
            </a:extLst>
          </p:cNvPr>
          <p:cNvSpPr/>
          <p:nvPr/>
        </p:nvSpPr>
        <p:spPr>
          <a:xfrm>
            <a:off x="3328293" y="1277539"/>
            <a:ext cx="3990409" cy="605928"/>
          </a:xfrm>
          <a:prstGeom prst="flowChartTerminator">
            <a:avLst/>
          </a:prstGeom>
          <a:solidFill>
            <a:schemeClr val="tx2">
              <a:lumMod val="10000"/>
              <a:lumOff val="9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>
                <a:solidFill>
                  <a:schemeClr val="tx1"/>
                </a:solidFill>
              </a:rPr>
              <a:t>マッチングした人と会話</a:t>
            </a:r>
          </a:p>
        </p:txBody>
      </p:sp>
      <p:cxnSp>
        <p:nvCxnSpPr>
          <p:cNvPr id="24" name="カギ線コネクタ 23">
            <a:extLst>
              <a:ext uri="{FF2B5EF4-FFF2-40B4-BE49-F238E27FC236}">
                <a16:creationId xmlns:a16="http://schemas.microsoft.com/office/drawing/2014/main" id="{C403BE1B-1086-0B51-85F5-0E2B4FE87B44}"/>
              </a:ext>
            </a:extLst>
          </p:cNvPr>
          <p:cNvCxnSpPr>
            <a:cxnSpLocks/>
            <a:stCxn id="15" idx="1"/>
            <a:endCxn id="16" idx="1"/>
          </p:cNvCxnSpPr>
          <p:nvPr/>
        </p:nvCxnSpPr>
        <p:spPr>
          <a:xfrm rot="10800000">
            <a:off x="3328293" y="1580503"/>
            <a:ext cx="2037490" cy="4590630"/>
          </a:xfrm>
          <a:prstGeom prst="bentConnector3">
            <a:avLst>
              <a:gd name="adj1" fmla="val 133927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1BFD79F-487A-A4F1-5A33-53E2413558E1}"/>
              </a:ext>
            </a:extLst>
          </p:cNvPr>
          <p:cNvSpPr txBox="1"/>
          <p:nvPr/>
        </p:nvSpPr>
        <p:spPr>
          <a:xfrm>
            <a:off x="7392274" y="25520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>
                <a:solidFill>
                  <a:srgbClr val="002060"/>
                </a:solidFill>
              </a:rPr>
              <a:t>アプリケーションのユースケース</a:t>
            </a:r>
          </a:p>
        </p:txBody>
      </p:sp>
    </p:spTree>
    <p:extLst>
      <p:ext uri="{BB962C8B-B14F-4D97-AF65-F5344CB8AC3E}">
        <p14:creationId xmlns:p14="http://schemas.microsoft.com/office/powerpoint/2010/main" val="250439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0119255-AA8D-FF19-775B-5FB2774DAD9B}"/>
              </a:ext>
            </a:extLst>
          </p:cNvPr>
          <p:cNvSpPr txBox="1"/>
          <p:nvPr/>
        </p:nvSpPr>
        <p:spPr>
          <a:xfrm>
            <a:off x="6225287" y="0"/>
            <a:ext cx="5968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>
                <a:solidFill>
                  <a:srgbClr val="002060"/>
                </a:solidFill>
              </a:rPr>
              <a:t>アプリケーションのターゲット</a:t>
            </a:r>
            <a:r>
              <a:rPr kumimoji="1" lang="en-US" altLang="ja-JP" sz="2400" b="1" u="sng" dirty="0">
                <a:solidFill>
                  <a:srgbClr val="002060"/>
                </a:solidFill>
              </a:rPr>
              <a:t> / </a:t>
            </a:r>
            <a:r>
              <a:rPr kumimoji="1" lang="ja-JP" altLang="en-US" sz="2400" b="1" u="sng">
                <a:solidFill>
                  <a:srgbClr val="002060"/>
                </a:solidFill>
              </a:rPr>
              <a:t>要素技術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C02045F9-F4D5-E465-97C9-B26551645131}"/>
              </a:ext>
            </a:extLst>
          </p:cNvPr>
          <p:cNvSpPr/>
          <p:nvPr/>
        </p:nvSpPr>
        <p:spPr>
          <a:xfrm>
            <a:off x="411374" y="1167228"/>
            <a:ext cx="4470341" cy="5159829"/>
          </a:xfrm>
          <a:prstGeom prst="roundRect">
            <a:avLst/>
          </a:prstGeom>
          <a:solidFill>
            <a:srgbClr val="FFEE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u="sng">
                <a:solidFill>
                  <a:schemeClr val="tx1"/>
                </a:solidFill>
              </a:rPr>
              <a:t>ユーザーターゲット</a:t>
            </a:r>
            <a:endParaRPr kumimoji="1" lang="en-US" altLang="ja-JP" sz="2400" b="1" u="sng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sz="2000" b="1">
                <a:solidFill>
                  <a:schemeClr val="tx1"/>
                </a:solidFill>
              </a:rPr>
              <a:t>環境</a:t>
            </a:r>
            <a:endParaRPr kumimoji="1" lang="en-US" altLang="ja-JP" sz="2000" b="1" dirty="0">
              <a:solidFill>
                <a:schemeClr val="tx1"/>
              </a:solidFill>
            </a:endParaRPr>
          </a:p>
          <a:p>
            <a:r>
              <a:rPr kumimoji="1" lang="ja-JP" altLang="en-US">
                <a:solidFill>
                  <a:schemeClr val="tx1"/>
                </a:solidFill>
              </a:rPr>
              <a:t>ネットが問題なく利用できる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>
                <a:solidFill>
                  <a:schemeClr val="tx1"/>
                </a:solidFill>
              </a:rPr>
              <a:t>物理的な場所は制約なし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</a:p>
          <a:p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sz="2000" b="1">
                <a:solidFill>
                  <a:schemeClr val="tx1"/>
                </a:solidFill>
              </a:rPr>
              <a:t>年齢</a:t>
            </a:r>
            <a:endParaRPr kumimoji="1" lang="en-US" altLang="ja-JP" sz="2000" b="1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10〜20</a:t>
            </a:r>
            <a:r>
              <a:rPr kumimoji="1" lang="ja-JP" altLang="en-US">
                <a:solidFill>
                  <a:schemeClr val="tx1"/>
                </a:solidFill>
              </a:rPr>
              <a:t>代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>
                <a:solidFill>
                  <a:schemeClr val="tx1"/>
                </a:solidFill>
              </a:rPr>
              <a:t>アンケート結果より需要が見込める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</a:p>
          <a:p>
            <a:r>
              <a:rPr kumimoji="1" lang="en-US" altLang="ja-JP" dirty="0">
                <a:solidFill>
                  <a:schemeClr val="tx1"/>
                </a:solidFill>
              </a:rPr>
              <a:t>(</a:t>
            </a:r>
            <a:r>
              <a:rPr kumimoji="1" lang="ja-JP" altLang="en-US">
                <a:solidFill>
                  <a:schemeClr val="tx1"/>
                </a:solidFill>
              </a:rPr>
              <a:t>オンラインサービスを十分に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>
                <a:solidFill>
                  <a:schemeClr val="tx1"/>
                </a:solidFill>
              </a:rPr>
              <a:t>活用できる能力が平均的に高い</a:t>
            </a:r>
            <a:r>
              <a:rPr kumimoji="1" lang="en-US" altLang="ja-JP" dirty="0">
                <a:solidFill>
                  <a:schemeClr val="tx1"/>
                </a:solidFill>
              </a:rPr>
              <a:t>)</a:t>
            </a:r>
          </a:p>
          <a:p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sz="2000" b="1">
                <a:solidFill>
                  <a:schemeClr val="tx1"/>
                </a:solidFill>
              </a:rPr>
              <a:t>心理</a:t>
            </a:r>
            <a:endParaRPr kumimoji="1" lang="en-US" altLang="ja-JP" sz="2000" b="1" dirty="0">
              <a:solidFill>
                <a:schemeClr val="tx1"/>
              </a:solidFill>
            </a:endParaRPr>
          </a:p>
          <a:p>
            <a:r>
              <a:rPr kumimoji="1" lang="ja-JP" altLang="en-US">
                <a:solidFill>
                  <a:schemeClr val="tx1"/>
                </a:solidFill>
              </a:rPr>
              <a:t>・おしゃべりが好きだけど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>
                <a:solidFill>
                  <a:schemeClr val="tx1"/>
                </a:solidFill>
              </a:rPr>
              <a:t>　何を話せばいいかわからない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>
                <a:solidFill>
                  <a:schemeClr val="tx1"/>
                </a:solidFill>
              </a:rPr>
              <a:t>・趣味嗜好が合う人と会話がしたい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38A6F9C9-A57A-C3DE-C9CF-4192E65E3287}"/>
              </a:ext>
            </a:extLst>
          </p:cNvPr>
          <p:cNvSpPr/>
          <p:nvPr/>
        </p:nvSpPr>
        <p:spPr>
          <a:xfrm>
            <a:off x="5388871" y="1167227"/>
            <a:ext cx="6542574" cy="5159829"/>
          </a:xfrm>
          <a:prstGeom prst="roundRect">
            <a:avLst/>
          </a:prstGeom>
          <a:solidFill>
            <a:srgbClr val="FBEA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u="sng">
                <a:solidFill>
                  <a:schemeClr val="tx1"/>
                </a:solidFill>
              </a:rPr>
              <a:t>要素技術</a:t>
            </a:r>
            <a:endParaRPr kumimoji="1" lang="en-US" altLang="ja-JP" sz="2400" b="1" u="sng" dirty="0">
              <a:solidFill>
                <a:schemeClr val="tx1"/>
              </a:solidFill>
            </a:endParaRPr>
          </a:p>
          <a:p>
            <a:pPr algn="ctr"/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sz="2000" b="1">
                <a:solidFill>
                  <a:schemeClr val="tx1"/>
                </a:solidFill>
              </a:rPr>
              <a:t>データ収集</a:t>
            </a:r>
            <a:r>
              <a:rPr kumimoji="1" lang="en-US" altLang="ja-JP" sz="2000" b="1" dirty="0">
                <a:solidFill>
                  <a:schemeClr val="tx1"/>
                </a:solidFill>
              </a:rPr>
              <a:t> / </a:t>
            </a:r>
            <a:r>
              <a:rPr kumimoji="1" lang="ja-JP" altLang="en-US" sz="2000" b="1">
                <a:solidFill>
                  <a:schemeClr val="tx1"/>
                </a:solidFill>
              </a:rPr>
              <a:t>前処理</a:t>
            </a:r>
            <a:endParaRPr kumimoji="1" lang="en-US" altLang="ja-JP" sz="2000" b="1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	</a:t>
            </a:r>
            <a:r>
              <a:rPr kumimoji="1" lang="ja-JP" altLang="en-US">
                <a:solidFill>
                  <a:schemeClr val="tx1"/>
                </a:solidFill>
              </a:rPr>
              <a:t>・ユーザー情報取得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	</a:t>
            </a:r>
            <a:r>
              <a:rPr kumimoji="1" lang="ja-JP" altLang="en-US">
                <a:solidFill>
                  <a:schemeClr val="tx1"/>
                </a:solidFill>
              </a:rPr>
              <a:t>・会話データ取得</a:t>
            </a:r>
            <a:r>
              <a:rPr kumimoji="1" lang="en-US" altLang="ja-JP" dirty="0">
                <a:solidFill>
                  <a:schemeClr val="tx1"/>
                </a:solidFill>
              </a:rPr>
              <a:t> </a:t>
            </a:r>
            <a:r>
              <a:rPr kumimoji="1" lang="en-US" altLang="ja-JP" b="1" dirty="0">
                <a:solidFill>
                  <a:srgbClr val="C00000"/>
                </a:solidFill>
              </a:rPr>
              <a:t>– Google Cloud Speech-to-Text</a:t>
            </a:r>
          </a:p>
          <a:p>
            <a:r>
              <a:rPr kumimoji="1" lang="en-US" altLang="ja-JP" dirty="0">
                <a:solidFill>
                  <a:schemeClr val="tx1"/>
                </a:solidFill>
              </a:rPr>
              <a:t>	</a:t>
            </a:r>
            <a:r>
              <a:rPr kumimoji="1" lang="ja-JP" altLang="en-US">
                <a:solidFill>
                  <a:schemeClr val="tx1"/>
                </a:solidFill>
              </a:rPr>
              <a:t>・データ前処理</a:t>
            </a:r>
            <a:endParaRPr kumimoji="1" lang="en-US" altLang="ja-JP" dirty="0">
              <a:solidFill>
                <a:schemeClr val="tx1"/>
              </a:solidFill>
            </a:endParaRPr>
          </a:p>
          <a:p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sz="2000" b="1">
                <a:solidFill>
                  <a:schemeClr val="tx1"/>
                </a:solidFill>
              </a:rPr>
              <a:t>自然言語処理</a:t>
            </a:r>
            <a:r>
              <a:rPr kumimoji="1" lang="en-US" altLang="ja-JP" sz="2000" b="1" dirty="0">
                <a:solidFill>
                  <a:schemeClr val="tx1"/>
                </a:solidFill>
              </a:rPr>
              <a:t> / </a:t>
            </a:r>
            <a:r>
              <a:rPr kumimoji="1" lang="ja-JP" altLang="en-US" sz="2000" b="1">
                <a:solidFill>
                  <a:schemeClr val="tx1"/>
                </a:solidFill>
              </a:rPr>
              <a:t>機械学習</a:t>
            </a:r>
            <a:endParaRPr kumimoji="1" lang="en-US" altLang="ja-JP" sz="2000" b="1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	</a:t>
            </a:r>
            <a:r>
              <a:rPr kumimoji="1" lang="ja-JP" altLang="en-US">
                <a:solidFill>
                  <a:schemeClr val="tx1"/>
                </a:solidFill>
              </a:rPr>
              <a:t>・会話ラベリング</a:t>
            </a:r>
            <a:r>
              <a:rPr kumimoji="1" lang="en-US" altLang="ja-JP" dirty="0">
                <a:solidFill>
                  <a:schemeClr val="tx1"/>
                </a:solidFill>
              </a:rPr>
              <a:t>– zero shot learning</a:t>
            </a:r>
          </a:p>
          <a:p>
            <a:r>
              <a:rPr kumimoji="1" lang="en-US" altLang="ja-JP" dirty="0">
                <a:solidFill>
                  <a:schemeClr val="tx1"/>
                </a:solidFill>
              </a:rPr>
              <a:t>	</a:t>
            </a:r>
            <a:r>
              <a:rPr kumimoji="1" lang="ja-JP" altLang="en-US">
                <a:solidFill>
                  <a:schemeClr val="tx1"/>
                </a:solidFill>
              </a:rPr>
              <a:t>・発話量計算</a:t>
            </a:r>
            <a:r>
              <a:rPr kumimoji="1" lang="en-US" altLang="ja-JP" dirty="0">
                <a:solidFill>
                  <a:schemeClr val="tx1"/>
                </a:solidFill>
              </a:rPr>
              <a:t> – </a:t>
            </a:r>
            <a:r>
              <a:rPr kumimoji="1" lang="en-US" altLang="ja-JP" dirty="0" err="1">
                <a:solidFill>
                  <a:schemeClr val="tx1"/>
                </a:solidFill>
              </a:rPr>
              <a:t>MeCab</a:t>
            </a:r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	</a:t>
            </a:r>
            <a:r>
              <a:rPr kumimoji="1" lang="ja-JP" altLang="en-US">
                <a:solidFill>
                  <a:schemeClr val="tx1"/>
                </a:solidFill>
              </a:rPr>
              <a:t>・感情分析</a:t>
            </a:r>
            <a:r>
              <a:rPr kumimoji="1" lang="en-US" altLang="ja-JP" dirty="0">
                <a:solidFill>
                  <a:schemeClr val="tx1"/>
                </a:solidFill>
              </a:rPr>
              <a:t> – Hugging Face</a:t>
            </a:r>
          </a:p>
          <a:p>
            <a:endParaRPr kumimoji="1" lang="en-US" altLang="ja-JP" dirty="0">
              <a:solidFill>
                <a:schemeClr val="tx1"/>
              </a:solidFill>
            </a:endParaRPr>
          </a:p>
          <a:p>
            <a:r>
              <a:rPr kumimoji="1" lang="ja-JP" altLang="en-US" sz="1800" b="1">
                <a:solidFill>
                  <a:schemeClr val="tx1"/>
                </a:solidFill>
              </a:rPr>
              <a:t>ユーザーマッチング</a:t>
            </a:r>
            <a:endParaRPr kumimoji="1" lang="en-US" altLang="ja-JP" sz="1800" b="1" dirty="0">
              <a:solidFill>
                <a:schemeClr val="tx1"/>
              </a:solidFill>
            </a:endParaRPr>
          </a:p>
          <a:p>
            <a:r>
              <a:rPr kumimoji="1" lang="en-US" altLang="ja-JP" dirty="0">
                <a:solidFill>
                  <a:schemeClr val="tx1"/>
                </a:solidFill>
              </a:rPr>
              <a:t>	</a:t>
            </a:r>
            <a:r>
              <a:rPr kumimoji="1" lang="ja-JP" altLang="en-US">
                <a:solidFill>
                  <a:schemeClr val="tx1"/>
                </a:solidFill>
              </a:rPr>
              <a:t>興味関心スコア計算手法に検討が必要</a:t>
            </a:r>
            <a:endParaRPr kumimoji="1" lang="en-US" altLang="ja-JP" dirty="0">
              <a:solidFill>
                <a:schemeClr val="tx1"/>
              </a:solidFill>
            </a:endParaRPr>
          </a:p>
          <a:p>
            <a:endParaRPr kumimoji="1" lang="en-US" altLang="ja-JP" b="1" dirty="0">
              <a:solidFill>
                <a:schemeClr val="tx1"/>
              </a:solidFill>
            </a:endParaRPr>
          </a:p>
          <a:p>
            <a:r>
              <a:rPr kumimoji="1" lang="ja-JP" altLang="en-US" sz="1800" b="1">
                <a:solidFill>
                  <a:schemeClr val="tx1"/>
                </a:solidFill>
              </a:rPr>
              <a:t>アプリケーション化</a:t>
            </a:r>
            <a:r>
              <a:rPr kumimoji="1" lang="en-US" altLang="ja-JP" sz="1800" b="1" dirty="0">
                <a:solidFill>
                  <a:schemeClr val="tx1"/>
                </a:solidFill>
              </a:rPr>
              <a:t> </a:t>
            </a:r>
            <a:r>
              <a:rPr kumimoji="1" lang="en-US" altLang="ja-JP" sz="1800" b="1" dirty="0">
                <a:solidFill>
                  <a:srgbClr val="C00000"/>
                </a:solidFill>
              </a:rPr>
              <a:t>– App Runner</a:t>
            </a:r>
            <a:r>
              <a:rPr kumimoji="1" lang="ja-JP" altLang="en-US" sz="1800" b="1">
                <a:solidFill>
                  <a:srgbClr val="C00000"/>
                </a:solidFill>
              </a:rPr>
              <a:t>？</a:t>
            </a:r>
            <a:r>
              <a:rPr kumimoji="1" lang="en-US" altLang="ja-JP" sz="1400" b="1" dirty="0">
                <a:solidFill>
                  <a:srgbClr val="C00000"/>
                </a:solidFill>
              </a:rPr>
              <a:t>※</a:t>
            </a:r>
            <a:r>
              <a:rPr kumimoji="1" lang="ja-JP" altLang="en-US" sz="1400" b="1">
                <a:solidFill>
                  <a:srgbClr val="C00000"/>
                </a:solidFill>
              </a:rPr>
              <a:t>オススメありますか？</a:t>
            </a:r>
            <a:endParaRPr kumimoji="1" lang="en-US" altLang="ja-JP" sz="1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4877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429</TotalTime>
  <Words>244</Words>
  <Application>Microsoft Macintosh PowerPoint</Application>
  <PresentationFormat>ユーザー設定</PresentationFormat>
  <Paragraphs>51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游ゴシック</vt:lpstr>
      <vt:lpstr>游ゴシック</vt:lpstr>
      <vt:lpstr>Aptos</vt:lpstr>
      <vt:lpstr>Aptos Display</vt:lpstr>
      <vt:lpstr>Arial</vt:lpstr>
      <vt:lpstr>Office テーマ</vt:lpstr>
      <vt:lpstr> パーソナライズされた話題提供モデルの アプリケーション化に向けて ユースケース / ターゲット / 要素技術   CA Tech Lounge ML/DS　白川桃子 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Momoko SHIRAKAWA</dc:creator>
  <cp:lastModifiedBy>Momoko SHIRAKAWA</cp:lastModifiedBy>
  <cp:revision>40</cp:revision>
  <dcterms:created xsi:type="dcterms:W3CDTF">2025-02-17T11:30:54Z</dcterms:created>
  <dcterms:modified xsi:type="dcterms:W3CDTF">2025-03-12T10:11:03Z</dcterms:modified>
</cp:coreProperties>
</file>