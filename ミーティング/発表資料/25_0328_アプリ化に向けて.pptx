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9" r:id="rId4"/>
    <p:sldId id="288" r:id="rId5"/>
    <p:sldId id="289" r:id="rId6"/>
    <p:sldId id="290" r:id="rId7"/>
    <p:sldId id="291" r:id="rId8"/>
    <p:sldId id="292" r:id="rId9"/>
    <p:sldId id="293" r:id="rId10"/>
    <p:sldId id="294" r:id="rId11"/>
  </p:sldIdLst>
  <p:sldSz cx="18288000" cy="10287000"/>
  <p:notesSz cx="6858000" cy="9144000"/>
  <p:embeddedFontLst>
    <p:embeddedFont>
      <p:font typeface="游ゴシック" panose="020B0400000000000000" pitchFamily="34" charset="-128"/>
      <p:regular r:id="rId13"/>
      <p:bold r:id="rId14"/>
    </p:embeddedFont>
    <p:embeddedFont>
      <p:font typeface="游ゴシック" panose="020B0400000000000000" pitchFamily="34" charset="-128"/>
      <p:regular r:id="rId13"/>
      <p:bold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3D7EE"/>
    <a:srgbClr val="F1D2D5"/>
    <a:srgbClr val="EFDAC6"/>
    <a:srgbClr val="FFFFFF"/>
    <a:srgbClr val="76E2E8"/>
    <a:srgbClr val="E8C375"/>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中間スタイル 3 - アクセント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96" autoAdjust="0"/>
    <p:restoredTop sz="91702" autoAdjust="0"/>
  </p:normalViewPr>
  <p:slideViewPr>
    <p:cSldViewPr>
      <p:cViewPr varScale="1">
        <p:scale>
          <a:sx n="45" d="100"/>
          <a:sy n="45" d="100"/>
        </p:scale>
        <p:origin x="232" y="11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0"/>
    </p:cViewPr>
  </p:sorterViewPr>
  <p:notesViewPr>
    <p:cSldViewPr>
      <p:cViewPr>
        <p:scale>
          <a:sx n="159" d="100"/>
          <a:sy n="159" d="100"/>
        </p:scale>
        <p:origin x="3104" y="1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B6E49A-9F7C-3049-ACEA-810720C80AD0}" type="datetimeFigureOut">
              <a:rPr kumimoji="1" lang="ja-JP" altLang="en-US" smtClean="0"/>
              <a:t>2025/3/28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5AD6EE-294E-B444-B6A1-BB6235F64CE3}" type="slidenum">
              <a:rPr kumimoji="1" lang="ja-JP" altLang="en-US" smtClean="0"/>
              <a:t>‹#›</a:t>
            </a:fld>
            <a:endParaRPr kumimoji="1" lang="ja-JP" altLang="en-US"/>
          </a:p>
        </p:txBody>
      </p:sp>
    </p:spTree>
    <p:extLst>
      <p:ext uri="{BB962C8B-B14F-4D97-AF65-F5344CB8AC3E}">
        <p14:creationId xmlns:p14="http://schemas.microsoft.com/office/powerpoint/2010/main" val="363815228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a:t>
            </a:r>
            <a:r>
              <a:rPr kumimoji="1" lang="ja-JP" altLang="en-US" sz="1200"/>
              <a:t>ダイアライゼーション</a:t>
            </a:r>
            <a:r>
              <a:rPr kumimoji="1" lang="en-US" altLang="ja-JP" sz="1200" dirty="0"/>
              <a:t>:</a:t>
            </a:r>
            <a:r>
              <a:rPr kumimoji="1" lang="ja-JP" altLang="en-US" sz="1200"/>
              <a:t>音声から「いつ，誰が話しているか」を推定する技術</a:t>
            </a:r>
          </a:p>
        </p:txBody>
      </p:sp>
      <p:sp>
        <p:nvSpPr>
          <p:cNvPr id="4" name="スライド番号プレースホルダー 3"/>
          <p:cNvSpPr>
            <a:spLocks noGrp="1"/>
          </p:cNvSpPr>
          <p:nvPr>
            <p:ph type="sldNum" sz="quarter" idx="5"/>
          </p:nvPr>
        </p:nvSpPr>
        <p:spPr/>
        <p:txBody>
          <a:bodyPr/>
          <a:lstStyle/>
          <a:p>
            <a:fld id="{EE5AD6EE-294E-B444-B6A1-BB6235F64CE3}" type="slidenum">
              <a:rPr kumimoji="1" lang="ja-JP" altLang="en-US" smtClean="0"/>
              <a:t>3</a:t>
            </a:fld>
            <a:endParaRPr kumimoji="1" lang="ja-JP" altLang="en-US"/>
          </a:p>
        </p:txBody>
      </p:sp>
    </p:spTree>
    <p:extLst>
      <p:ext uri="{BB962C8B-B14F-4D97-AF65-F5344CB8AC3E}">
        <p14:creationId xmlns:p14="http://schemas.microsoft.com/office/powerpoint/2010/main" val="125881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44B76-152A-6519-90AD-0AD6B23E540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F801699-713A-5C41-5CFB-857AD8EE892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5B521C5-3729-2BB5-DC73-A17950DD026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a:t>
            </a:r>
            <a:r>
              <a:rPr kumimoji="1" lang="ja-JP" altLang="en-US" sz="1200"/>
              <a:t>ダイアライゼーション</a:t>
            </a:r>
            <a:r>
              <a:rPr kumimoji="1" lang="en-US" altLang="ja-JP" sz="1200" dirty="0"/>
              <a:t>:</a:t>
            </a:r>
            <a:r>
              <a:rPr kumimoji="1" lang="ja-JP" altLang="en-US" sz="1200"/>
              <a:t>音声から「いつ，誰が話しているか」を推定する技術</a:t>
            </a:r>
          </a:p>
        </p:txBody>
      </p:sp>
      <p:sp>
        <p:nvSpPr>
          <p:cNvPr id="4" name="スライド番号プレースホルダー 3">
            <a:extLst>
              <a:ext uri="{FF2B5EF4-FFF2-40B4-BE49-F238E27FC236}">
                <a16:creationId xmlns:a16="http://schemas.microsoft.com/office/drawing/2014/main" id="{1BC63BBB-16D1-2CB1-7C21-B5EC3531CCB3}"/>
              </a:ext>
            </a:extLst>
          </p:cNvPr>
          <p:cNvSpPr>
            <a:spLocks noGrp="1"/>
          </p:cNvSpPr>
          <p:nvPr>
            <p:ph type="sldNum" sz="quarter" idx="5"/>
          </p:nvPr>
        </p:nvSpPr>
        <p:spPr/>
        <p:txBody>
          <a:bodyPr/>
          <a:lstStyle/>
          <a:p>
            <a:fld id="{EE5AD6EE-294E-B444-B6A1-BB6235F64CE3}" type="slidenum">
              <a:rPr kumimoji="1" lang="ja-JP" altLang="en-US" smtClean="0"/>
              <a:t>4</a:t>
            </a:fld>
            <a:endParaRPr kumimoji="1" lang="ja-JP" altLang="en-US"/>
          </a:p>
        </p:txBody>
      </p:sp>
    </p:spTree>
    <p:extLst>
      <p:ext uri="{BB962C8B-B14F-4D97-AF65-F5344CB8AC3E}">
        <p14:creationId xmlns:p14="http://schemas.microsoft.com/office/powerpoint/2010/main" val="17963375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58D2A-858B-A4DF-CF4F-67A6F35E87D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4E30155-E2A5-84EA-6963-CE8C12074F4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6E06A15-4A54-CD2B-AAA5-5B29C0C8812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a:p>
        </p:txBody>
      </p:sp>
      <p:sp>
        <p:nvSpPr>
          <p:cNvPr id="4" name="スライド番号プレースホルダー 3">
            <a:extLst>
              <a:ext uri="{FF2B5EF4-FFF2-40B4-BE49-F238E27FC236}">
                <a16:creationId xmlns:a16="http://schemas.microsoft.com/office/drawing/2014/main" id="{778F8A80-E8A2-ED64-1953-E70616D17C46}"/>
              </a:ext>
            </a:extLst>
          </p:cNvPr>
          <p:cNvSpPr>
            <a:spLocks noGrp="1"/>
          </p:cNvSpPr>
          <p:nvPr>
            <p:ph type="sldNum" sz="quarter" idx="5"/>
          </p:nvPr>
        </p:nvSpPr>
        <p:spPr/>
        <p:txBody>
          <a:bodyPr/>
          <a:lstStyle/>
          <a:p>
            <a:fld id="{EE5AD6EE-294E-B444-B6A1-BB6235F64CE3}" type="slidenum">
              <a:rPr kumimoji="1" lang="ja-JP" altLang="en-US" smtClean="0"/>
              <a:t>5</a:t>
            </a:fld>
            <a:endParaRPr kumimoji="1" lang="ja-JP" altLang="en-US"/>
          </a:p>
        </p:txBody>
      </p:sp>
    </p:spTree>
    <p:extLst>
      <p:ext uri="{BB962C8B-B14F-4D97-AF65-F5344CB8AC3E}">
        <p14:creationId xmlns:p14="http://schemas.microsoft.com/office/powerpoint/2010/main" val="16182434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F46D5-A81B-0C8C-E995-0323C59D8FF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9D2B88B-50DE-7C1D-D96E-FEFFACC27FC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EA0B66A-51EA-003A-BD1E-9DBBEDB9B82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t>会話内で分けてくれるだけで，これまでのユーザーのデータと結びつけることができるかはわからない</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t>　→まあやってから考えるか</a:t>
            </a:r>
          </a:p>
        </p:txBody>
      </p:sp>
      <p:sp>
        <p:nvSpPr>
          <p:cNvPr id="4" name="スライド番号プレースホルダー 3">
            <a:extLst>
              <a:ext uri="{FF2B5EF4-FFF2-40B4-BE49-F238E27FC236}">
                <a16:creationId xmlns:a16="http://schemas.microsoft.com/office/drawing/2014/main" id="{A9BFD115-A5FC-9172-2B1B-3E5088CABA20}"/>
              </a:ext>
            </a:extLst>
          </p:cNvPr>
          <p:cNvSpPr>
            <a:spLocks noGrp="1"/>
          </p:cNvSpPr>
          <p:nvPr>
            <p:ph type="sldNum" sz="quarter" idx="5"/>
          </p:nvPr>
        </p:nvSpPr>
        <p:spPr/>
        <p:txBody>
          <a:bodyPr/>
          <a:lstStyle/>
          <a:p>
            <a:fld id="{EE5AD6EE-294E-B444-B6A1-BB6235F64CE3}" type="slidenum">
              <a:rPr kumimoji="1" lang="ja-JP" altLang="en-US" smtClean="0"/>
              <a:t>6</a:t>
            </a:fld>
            <a:endParaRPr kumimoji="1" lang="ja-JP" altLang="en-US"/>
          </a:p>
        </p:txBody>
      </p:sp>
    </p:spTree>
    <p:extLst>
      <p:ext uri="{BB962C8B-B14F-4D97-AF65-F5344CB8AC3E}">
        <p14:creationId xmlns:p14="http://schemas.microsoft.com/office/powerpoint/2010/main" val="18649270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8B851-7E98-6992-709D-56079880F55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157FB93-7794-672B-78D5-1131745CB4A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4862096-7BA7-87D7-054F-5AAE433303D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App Engine –</a:t>
            </a:r>
            <a:r>
              <a:rPr kumimoji="1" lang="ja-JP" altLang="en-US" sz="1200"/>
              <a:t>進化→</a:t>
            </a:r>
            <a:r>
              <a:rPr kumimoji="1" lang="en-US" altLang="ja-JP" sz="1200" dirty="0"/>
              <a:t> Cloud Run</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t>デプロイ：アプリとかソフトウェアをサーバー上に配置して利用できる状態にする作業</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t>ランタイム環境：プログラムが実行されるための基盤となるソフトウェアや環境のこと</a:t>
            </a:r>
          </a:p>
        </p:txBody>
      </p:sp>
      <p:sp>
        <p:nvSpPr>
          <p:cNvPr id="4" name="スライド番号プレースホルダー 3">
            <a:extLst>
              <a:ext uri="{FF2B5EF4-FFF2-40B4-BE49-F238E27FC236}">
                <a16:creationId xmlns:a16="http://schemas.microsoft.com/office/drawing/2014/main" id="{F541D288-22F9-E7C5-1E02-5C8A7B0653C2}"/>
              </a:ext>
            </a:extLst>
          </p:cNvPr>
          <p:cNvSpPr>
            <a:spLocks noGrp="1"/>
          </p:cNvSpPr>
          <p:nvPr>
            <p:ph type="sldNum" sz="quarter" idx="5"/>
          </p:nvPr>
        </p:nvSpPr>
        <p:spPr/>
        <p:txBody>
          <a:bodyPr/>
          <a:lstStyle/>
          <a:p>
            <a:fld id="{EE5AD6EE-294E-B444-B6A1-BB6235F64CE3}" type="slidenum">
              <a:rPr kumimoji="1" lang="ja-JP" altLang="en-US" smtClean="0"/>
              <a:t>7</a:t>
            </a:fld>
            <a:endParaRPr kumimoji="1" lang="ja-JP" altLang="en-US"/>
          </a:p>
        </p:txBody>
      </p:sp>
    </p:spTree>
    <p:extLst>
      <p:ext uri="{BB962C8B-B14F-4D97-AF65-F5344CB8AC3E}">
        <p14:creationId xmlns:p14="http://schemas.microsoft.com/office/powerpoint/2010/main" val="32498545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5F240-D54E-EE4B-B2FD-336774A7EC3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4271BFF-3B8F-00A9-9BCA-A19F585D226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6DA2E4C-FCD4-C0B0-C513-87CDD963ADB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a:p>
        </p:txBody>
      </p:sp>
      <p:sp>
        <p:nvSpPr>
          <p:cNvPr id="4" name="スライド番号プレースホルダー 3">
            <a:extLst>
              <a:ext uri="{FF2B5EF4-FFF2-40B4-BE49-F238E27FC236}">
                <a16:creationId xmlns:a16="http://schemas.microsoft.com/office/drawing/2014/main" id="{5B0A6C0E-6348-F7CF-3F6A-39C833AE046B}"/>
              </a:ext>
            </a:extLst>
          </p:cNvPr>
          <p:cNvSpPr>
            <a:spLocks noGrp="1"/>
          </p:cNvSpPr>
          <p:nvPr>
            <p:ph type="sldNum" sz="quarter" idx="5"/>
          </p:nvPr>
        </p:nvSpPr>
        <p:spPr/>
        <p:txBody>
          <a:bodyPr/>
          <a:lstStyle/>
          <a:p>
            <a:fld id="{EE5AD6EE-294E-B444-B6A1-BB6235F64CE3}" type="slidenum">
              <a:rPr kumimoji="1" lang="ja-JP" altLang="en-US" smtClean="0"/>
              <a:t>8</a:t>
            </a:fld>
            <a:endParaRPr kumimoji="1" lang="ja-JP" altLang="en-US"/>
          </a:p>
        </p:txBody>
      </p:sp>
    </p:spTree>
    <p:extLst>
      <p:ext uri="{BB962C8B-B14F-4D97-AF65-F5344CB8AC3E}">
        <p14:creationId xmlns:p14="http://schemas.microsoft.com/office/powerpoint/2010/main" val="5341317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17338-3FD8-A1F1-F928-5AF03A0906E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EDF9052-52D9-BB42-F8F1-4102CF27FC9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AB6BCB7-C672-FAF9-4919-51026259856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Django</a:t>
            </a:r>
            <a:r>
              <a:rPr kumimoji="1" lang="ja-JP" altLang="en-US" sz="1200"/>
              <a:t>：</a:t>
            </a:r>
            <a:r>
              <a:rPr kumimoji="1" lang="en-US" altLang="ja-JP" sz="1200" dirty="0"/>
              <a:t>python</a:t>
            </a:r>
            <a:r>
              <a:rPr kumimoji="1" lang="ja-JP" altLang="en-US" sz="1200"/>
              <a:t>で開発されたウェブアプリケーションのフレームワーク．めちゃもちゃ簡単らしい．</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RDB</a:t>
            </a:r>
            <a:r>
              <a:rPr kumimoji="1" lang="ja-JP" altLang="en-US" sz="1200"/>
              <a:t>：リレーショナルデータベース，</a:t>
            </a:r>
            <a:r>
              <a:rPr kumimoji="1" lang="en-US" altLang="ja-JP" sz="1200" dirty="0"/>
              <a:t>excel</a:t>
            </a:r>
            <a:r>
              <a:rPr kumimoji="1" lang="ja-JP" altLang="en-US" sz="1200"/>
              <a:t>形式でデータを管理できる</a:t>
            </a:r>
            <a:endParaRPr kumimoji="1" lang="en-US" altLang="ja-JP" sz="1200" dirty="0"/>
          </a:p>
        </p:txBody>
      </p:sp>
      <p:sp>
        <p:nvSpPr>
          <p:cNvPr id="4" name="スライド番号プレースホルダー 3">
            <a:extLst>
              <a:ext uri="{FF2B5EF4-FFF2-40B4-BE49-F238E27FC236}">
                <a16:creationId xmlns:a16="http://schemas.microsoft.com/office/drawing/2014/main" id="{CA8A1F7F-39D5-0846-F319-23AD7B8ABB73}"/>
              </a:ext>
            </a:extLst>
          </p:cNvPr>
          <p:cNvSpPr>
            <a:spLocks noGrp="1"/>
          </p:cNvSpPr>
          <p:nvPr>
            <p:ph type="sldNum" sz="quarter" idx="5"/>
          </p:nvPr>
        </p:nvSpPr>
        <p:spPr/>
        <p:txBody>
          <a:bodyPr/>
          <a:lstStyle/>
          <a:p>
            <a:fld id="{EE5AD6EE-294E-B444-B6A1-BB6235F64CE3}" type="slidenum">
              <a:rPr kumimoji="1" lang="ja-JP" altLang="en-US" smtClean="0"/>
              <a:t>9</a:t>
            </a:fld>
            <a:endParaRPr kumimoji="1" lang="ja-JP" altLang="en-US"/>
          </a:p>
        </p:txBody>
      </p:sp>
    </p:spTree>
    <p:extLst>
      <p:ext uri="{BB962C8B-B14F-4D97-AF65-F5344CB8AC3E}">
        <p14:creationId xmlns:p14="http://schemas.microsoft.com/office/powerpoint/2010/main" val="11836614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78550-9FE6-9AA7-C75E-39986424D5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36B9874-66DE-F0EB-E40D-3CBCE41A72E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DD5A57C-1F6C-F27A-0DE0-90F47EF5C9D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a:p>
        </p:txBody>
      </p:sp>
      <p:sp>
        <p:nvSpPr>
          <p:cNvPr id="4" name="スライド番号プレースホルダー 3">
            <a:extLst>
              <a:ext uri="{FF2B5EF4-FFF2-40B4-BE49-F238E27FC236}">
                <a16:creationId xmlns:a16="http://schemas.microsoft.com/office/drawing/2014/main" id="{DC09EFA0-2AA3-1E16-DB47-38EC892A80D2}"/>
              </a:ext>
            </a:extLst>
          </p:cNvPr>
          <p:cNvSpPr>
            <a:spLocks noGrp="1"/>
          </p:cNvSpPr>
          <p:nvPr>
            <p:ph type="sldNum" sz="quarter" idx="5"/>
          </p:nvPr>
        </p:nvSpPr>
        <p:spPr/>
        <p:txBody>
          <a:bodyPr/>
          <a:lstStyle/>
          <a:p>
            <a:fld id="{EE5AD6EE-294E-B444-B6A1-BB6235F64CE3}" type="slidenum">
              <a:rPr kumimoji="1" lang="ja-JP" altLang="en-US" smtClean="0"/>
              <a:t>10</a:t>
            </a:fld>
            <a:endParaRPr kumimoji="1" lang="ja-JP" altLang="en-US"/>
          </a:p>
        </p:txBody>
      </p:sp>
    </p:spTree>
    <p:extLst>
      <p:ext uri="{BB962C8B-B14F-4D97-AF65-F5344CB8AC3E}">
        <p14:creationId xmlns:p14="http://schemas.microsoft.com/office/powerpoint/2010/main" val="22884355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7D85FED-ED66-8C4F-AB11-B7FA969DE41C}" type="datetime1">
              <a:rPr lang="ja-JP" altLang="en-US" smtClean="0"/>
              <a:t>2025/3/28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E860B2-1577-2B46-A795-7AAAFCB769DE}" type="datetime1">
              <a:rPr lang="ja-JP" altLang="en-US" smtClean="0"/>
              <a:t>2025/3/28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233653-DAD6-7A45-9192-97A4D141F30E}" type="datetime1">
              <a:rPr lang="ja-JP" altLang="en-US" smtClean="0"/>
              <a:t>2025/3/28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D55574E-6286-344E-94ED-852070F7CEF7}" type="datetime1">
              <a:rPr lang="ja-JP" altLang="en-US" smtClean="0"/>
              <a:t>2025/3/28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F0FEF00-9C40-7147-8D00-9EE2812D9260}" type="datetime1">
              <a:rPr lang="ja-JP" altLang="en-US" smtClean="0"/>
              <a:t>2025/3/28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B6492CC-124F-CC40-84DC-B9329E7D9E8B}" type="datetime1">
              <a:rPr lang="ja-JP" altLang="en-US" smtClean="0"/>
              <a:t>2025/3/28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79DB79-2E9B-4C44-A2AC-77F8786A33A7}" type="datetime1">
              <a:rPr lang="ja-JP" altLang="en-US" smtClean="0"/>
              <a:t>2025/3/28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16154400" y="9921875"/>
            <a:ext cx="2133600" cy="365125"/>
          </a:xfrm>
        </p:spPr>
        <p:txBody>
          <a:bodyPr/>
          <a:lstStyle>
            <a:lvl1pPr>
              <a:defRPr sz="2000" baseline="0">
                <a:solidFill>
                  <a:sysClr val="windowText" lastClr="000000"/>
                </a:solidFill>
              </a:defRPr>
            </a:lvl1p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5BFE2C9-AEC0-AC4D-AB04-30B8F37FD81A}" type="datetime1">
              <a:rPr lang="ja-JP" altLang="en-US" smtClean="0"/>
              <a:t>2025/3/28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94ABAD7-EA53-B14B-915F-1158EBE458ED}" type="datetime1">
              <a:rPr lang="ja-JP" altLang="en-US" smtClean="0"/>
              <a:t>2025/3/28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DF53314-FBBB-784E-BF4F-AEE53026D3D7}" type="datetime1">
              <a:rPr lang="ja-JP" altLang="en-US" smtClean="0"/>
              <a:t>2025/3/28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AD167B2-4E5F-6541-BE14-955542617E83}" type="datetime1">
              <a:rPr lang="ja-JP" altLang="en-US" smtClean="0"/>
              <a:t>2025/3/28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962905-1396-3243-BC00-0576FB8CACD3}" type="datetime1">
              <a:rPr lang="ja-JP" altLang="en-US" smtClean="0"/>
              <a:t>2025/3/28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 Id="rId14" Type="http://schemas.openxmlformats.org/officeDocument/2006/relationships/image" Target="../media/image18.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AutoShape 2"/>
          <p:cNvSpPr/>
          <p:nvPr/>
        </p:nvSpPr>
        <p:spPr>
          <a:xfrm>
            <a:off x="857250" y="1047750"/>
            <a:ext cx="16573459"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3" name="AutoShape 3"/>
          <p:cNvSpPr/>
          <p:nvPr/>
        </p:nvSpPr>
        <p:spPr>
          <a:xfrm flipV="1">
            <a:off x="856856" y="904405"/>
            <a:ext cx="16574288"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4" name="AutoShape 4"/>
          <p:cNvSpPr/>
          <p:nvPr/>
        </p:nvSpPr>
        <p:spPr>
          <a:xfrm>
            <a:off x="857250" y="9382595"/>
            <a:ext cx="16573500"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5" name="Freeform 5"/>
          <p:cNvSpPr/>
          <p:nvPr/>
        </p:nvSpPr>
        <p:spPr>
          <a:xfrm flipH="1">
            <a:off x="13258800" y="-633321"/>
            <a:ext cx="5352794" cy="6277264"/>
          </a:xfrm>
          <a:custGeom>
            <a:avLst/>
            <a:gdLst/>
            <a:ahLst/>
            <a:cxnLst/>
            <a:rect l="l" t="t" r="r" b="b"/>
            <a:pathLst>
              <a:path w="5352794" h="6277264">
                <a:moveTo>
                  <a:pt x="5352794" y="0"/>
                </a:moveTo>
                <a:lnTo>
                  <a:pt x="0" y="0"/>
                </a:lnTo>
                <a:lnTo>
                  <a:pt x="0" y="6277264"/>
                </a:lnTo>
                <a:lnTo>
                  <a:pt x="5352794" y="6277264"/>
                </a:lnTo>
                <a:lnTo>
                  <a:pt x="5352794"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ja-JP" altLang="en-US">
              <a:latin typeface="Yu Gothic" panose="020B0400000000000000" pitchFamily="34" charset="-128"/>
              <a:ea typeface="Yu Gothic" panose="020B0400000000000000" pitchFamily="34" charset="-128"/>
            </a:endParaRPr>
          </a:p>
        </p:txBody>
      </p:sp>
      <p:sp>
        <p:nvSpPr>
          <p:cNvPr id="6" name="AutoShape 6"/>
          <p:cNvSpPr/>
          <p:nvPr/>
        </p:nvSpPr>
        <p:spPr>
          <a:xfrm>
            <a:off x="857250" y="7025641"/>
            <a:ext cx="16573500"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7" name="AutoShape 7"/>
          <p:cNvSpPr/>
          <p:nvPr/>
        </p:nvSpPr>
        <p:spPr>
          <a:xfrm>
            <a:off x="857250" y="9239250"/>
            <a:ext cx="16573500"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13" name="TextBox 13"/>
          <p:cNvSpPr txBox="1"/>
          <p:nvPr/>
        </p:nvSpPr>
        <p:spPr>
          <a:xfrm>
            <a:off x="1367517" y="3558706"/>
            <a:ext cx="15853683" cy="2799292"/>
          </a:xfrm>
          <a:prstGeom prst="rect">
            <a:avLst/>
          </a:prstGeom>
        </p:spPr>
        <p:txBody>
          <a:bodyPr wrap="square" lIns="0" tIns="0" rIns="0" bIns="0" rtlCol="0" anchor="t">
            <a:spAutoFit/>
          </a:bodyPr>
          <a:lstStyle/>
          <a:p>
            <a:pPr algn="l">
              <a:lnSpc>
                <a:spcPts val="11199"/>
              </a:lnSpc>
            </a:pPr>
            <a:r>
              <a:rPr lang="en-US" sz="4400" b="1" spc="399" dirty="0" err="1">
                <a:solidFill>
                  <a:srgbClr val="1B1B1B"/>
                </a:solidFill>
                <a:latin typeface="Yu Gothic" panose="020B0400000000000000" pitchFamily="34" charset="-128"/>
                <a:ea typeface="Yu Gothic" panose="020B0400000000000000" pitchFamily="34" charset="-128"/>
                <a:cs typeface="Noto Sans JP Heavy"/>
                <a:sym typeface="Noto Sans JP Heavy"/>
              </a:rPr>
              <a:t>パーソナライズされた話題提供モデルの</a:t>
            </a:r>
            <a:endParaRPr lang="en-US" sz="4400" b="1" spc="399" dirty="0">
              <a:solidFill>
                <a:srgbClr val="1B1B1B"/>
              </a:solidFill>
              <a:latin typeface="Yu Gothic" panose="020B0400000000000000" pitchFamily="34" charset="-128"/>
              <a:ea typeface="Yu Gothic" panose="020B0400000000000000" pitchFamily="34" charset="-128"/>
              <a:cs typeface="Noto Sans JP Heavy"/>
              <a:sym typeface="Noto Sans JP Heavy"/>
            </a:endParaRPr>
          </a:p>
          <a:p>
            <a:pPr algn="l">
              <a:lnSpc>
                <a:spcPts val="11199"/>
              </a:lnSpc>
            </a:pPr>
            <a:r>
              <a:rPr lang="en-US" sz="7999" b="1" spc="399" dirty="0" err="1">
                <a:solidFill>
                  <a:srgbClr val="1B1B1B"/>
                </a:solidFill>
                <a:latin typeface="Yu Gothic" panose="020B0400000000000000" pitchFamily="34" charset="-128"/>
                <a:ea typeface="Yu Gothic" panose="020B0400000000000000" pitchFamily="34" charset="-128"/>
                <a:cs typeface="Noto Sans JP Heavy"/>
                <a:sym typeface="Noto Sans JP Heavy"/>
              </a:rPr>
              <a:t>アプリケーション化に向けて</a:t>
            </a:r>
            <a:endParaRPr lang="en-US" sz="7999" b="1" spc="399" dirty="0">
              <a:solidFill>
                <a:srgbClr val="1B1B1B"/>
              </a:solidFill>
              <a:latin typeface="Yu Gothic" panose="020B0400000000000000" pitchFamily="34" charset="-128"/>
              <a:ea typeface="Yu Gothic" panose="020B0400000000000000" pitchFamily="34" charset="-128"/>
              <a:cs typeface="Noto Sans JP Heavy"/>
              <a:sym typeface="Noto Sans JP Heavy"/>
            </a:endParaRPr>
          </a:p>
        </p:txBody>
      </p:sp>
      <p:sp>
        <p:nvSpPr>
          <p:cNvPr id="15" name="TextBox 15"/>
          <p:cNvSpPr txBox="1"/>
          <p:nvPr/>
        </p:nvSpPr>
        <p:spPr>
          <a:xfrm>
            <a:off x="1370830" y="7811401"/>
            <a:ext cx="5996822" cy="1124219"/>
          </a:xfrm>
          <a:prstGeom prst="rect">
            <a:avLst/>
          </a:prstGeom>
        </p:spPr>
        <p:txBody>
          <a:bodyPr lIns="0" tIns="0" rIns="0" bIns="0" rtlCol="0" anchor="t">
            <a:spAutoFit/>
          </a:bodyPr>
          <a:lstStyle/>
          <a:p>
            <a:pPr algn="l">
              <a:lnSpc>
                <a:spcPts val="4499"/>
              </a:lnSpc>
            </a:pPr>
            <a:r>
              <a:rPr lang="en-US" sz="3200" b="1" spc="124" dirty="0" err="1">
                <a:solidFill>
                  <a:srgbClr val="1B1B1B"/>
                </a:solidFill>
                <a:latin typeface="Yu Gothic" panose="020B0400000000000000" pitchFamily="34" charset="-128"/>
                <a:ea typeface="Yu Gothic" panose="020B0400000000000000" pitchFamily="34" charset="-128"/>
                <a:cs typeface="Noto Sans JP Heavy"/>
                <a:sym typeface="Noto Sans JP Heavy"/>
              </a:rPr>
              <a:t>CATechLounge</a:t>
            </a:r>
            <a:r>
              <a:rPr lang="ja-JP" altLang="en-US" sz="3200" b="1" spc="124">
                <a:solidFill>
                  <a:srgbClr val="1B1B1B"/>
                </a:solidFill>
                <a:latin typeface="Yu Gothic" panose="020B0400000000000000" pitchFamily="34" charset="-128"/>
                <a:ea typeface="Yu Gothic" panose="020B0400000000000000" pitchFamily="34" charset="-128"/>
                <a:cs typeface="Noto Sans JP Heavy"/>
                <a:sym typeface="Noto Sans JP Heavy"/>
              </a:rPr>
              <a:t>　</a:t>
            </a:r>
            <a:r>
              <a:rPr lang="en-US" sz="3200" b="1" spc="124" dirty="0">
                <a:solidFill>
                  <a:srgbClr val="1B1B1B"/>
                </a:solidFill>
                <a:latin typeface="Yu Gothic" panose="020B0400000000000000" pitchFamily="34" charset="-128"/>
                <a:ea typeface="Yu Gothic" panose="020B0400000000000000" pitchFamily="34" charset="-128"/>
                <a:cs typeface="Noto Sans JP Heavy"/>
                <a:sym typeface="Noto Sans JP Heavy"/>
              </a:rPr>
              <a:t>ML/DS</a:t>
            </a:r>
          </a:p>
          <a:p>
            <a:pPr algn="l">
              <a:lnSpc>
                <a:spcPts val="4499"/>
              </a:lnSpc>
            </a:pPr>
            <a:r>
              <a:rPr lang="en-US" sz="3200" b="1" spc="124" dirty="0" err="1">
                <a:solidFill>
                  <a:srgbClr val="1B1B1B"/>
                </a:solidFill>
                <a:latin typeface="Yu Gothic" panose="020B0400000000000000" pitchFamily="34" charset="-128"/>
                <a:ea typeface="Yu Gothic" panose="020B0400000000000000" pitchFamily="34" charset="-128"/>
                <a:cs typeface="Noto Sans JP Heavy"/>
                <a:sym typeface="Noto Sans JP Heavy"/>
              </a:rPr>
              <a:t>白川桃子</a:t>
            </a:r>
            <a:endParaRPr lang="en-US" sz="3200" b="1" spc="124" dirty="0">
              <a:solidFill>
                <a:srgbClr val="1B1B1B"/>
              </a:solidFill>
              <a:latin typeface="Yu Gothic" panose="020B0400000000000000" pitchFamily="34" charset="-128"/>
              <a:ea typeface="Yu Gothic" panose="020B0400000000000000" pitchFamily="34" charset="-128"/>
              <a:cs typeface="Noto Sans JP Heavy"/>
              <a:sym typeface="Noto Sans JP Heavy"/>
            </a:endParaRPr>
          </a:p>
        </p:txBody>
      </p:sp>
      <p:sp>
        <p:nvSpPr>
          <p:cNvPr id="17" name="TextBox 17"/>
          <p:cNvSpPr txBox="1"/>
          <p:nvPr/>
        </p:nvSpPr>
        <p:spPr>
          <a:xfrm>
            <a:off x="2047285" y="7371184"/>
            <a:ext cx="6923213" cy="418513"/>
          </a:xfrm>
          <a:prstGeom prst="rect">
            <a:avLst/>
          </a:prstGeom>
        </p:spPr>
        <p:txBody>
          <a:bodyPr lIns="0" tIns="0" rIns="0" bIns="0" rtlCol="0" anchor="t">
            <a:spAutoFit/>
          </a:bodyPr>
          <a:lstStyle/>
          <a:p>
            <a:pPr algn="l">
              <a:lnSpc>
                <a:spcPts val="3600"/>
              </a:lnSpc>
            </a:pPr>
            <a:r>
              <a:rPr lang="en-US" sz="2000" spc="100" dirty="0" err="1">
                <a:solidFill>
                  <a:srgbClr val="1B1B1B"/>
                </a:solidFill>
                <a:latin typeface="Yu Gothic" panose="020B0400000000000000" pitchFamily="34" charset="-128"/>
                <a:ea typeface="Yu Gothic" panose="020B0400000000000000" pitchFamily="34" charset="-128"/>
                <a:cs typeface="Noto Sans JP Medium"/>
                <a:sym typeface="Noto Sans JP Medium"/>
              </a:rPr>
              <a:t>武蔵野大学工学部数理工学科佐々木研究室</a:t>
            </a:r>
            <a:r>
              <a:rPr lang="ja-JP" altLang="en-US" sz="2000" spc="100">
                <a:solidFill>
                  <a:srgbClr val="1B1B1B"/>
                </a:solidFill>
                <a:latin typeface="Yu Gothic" panose="020B0400000000000000" pitchFamily="34" charset="-128"/>
                <a:ea typeface="Yu Gothic" panose="020B0400000000000000" pitchFamily="34" charset="-128"/>
                <a:cs typeface="Noto Sans JP Medium"/>
                <a:sym typeface="Noto Sans JP Medium"/>
              </a:rPr>
              <a:t>　学部</a:t>
            </a:r>
            <a:r>
              <a:rPr lang="en-US" altLang="ja-JP" sz="2000" spc="100" dirty="0">
                <a:solidFill>
                  <a:srgbClr val="1B1B1B"/>
                </a:solidFill>
                <a:latin typeface="Yu Gothic" panose="020B0400000000000000" pitchFamily="34" charset="-128"/>
                <a:ea typeface="Yu Gothic" panose="020B0400000000000000" pitchFamily="34" charset="-128"/>
                <a:cs typeface="Noto Sans JP Medium"/>
                <a:sym typeface="Noto Sans JP Medium"/>
              </a:rPr>
              <a:t>4</a:t>
            </a:r>
            <a:r>
              <a:rPr lang="ja-JP" altLang="en-US" sz="2000" spc="100">
                <a:solidFill>
                  <a:srgbClr val="1B1B1B"/>
                </a:solidFill>
                <a:latin typeface="Yu Gothic" panose="020B0400000000000000" pitchFamily="34" charset="-128"/>
                <a:ea typeface="Yu Gothic" panose="020B0400000000000000" pitchFamily="34" charset="-128"/>
                <a:cs typeface="Noto Sans JP Medium"/>
                <a:sym typeface="Noto Sans JP Medium"/>
              </a:rPr>
              <a:t>年</a:t>
            </a:r>
            <a:endParaRPr lang="en-US" sz="2000" spc="100" dirty="0">
              <a:solidFill>
                <a:srgbClr val="1B1B1B"/>
              </a:solidFill>
              <a:latin typeface="Yu Gothic" panose="020B0400000000000000" pitchFamily="34" charset="-128"/>
              <a:ea typeface="Yu Gothic" panose="020B0400000000000000" pitchFamily="34" charset="-128"/>
              <a:cs typeface="Noto Sans JP Medium"/>
              <a:sym typeface="Noto Sans JP Medium"/>
            </a:endParaRPr>
          </a:p>
        </p:txBody>
      </p:sp>
      <p:pic>
        <p:nvPicPr>
          <p:cNvPr id="19" name="グラフィックス 18" descr="校舎 枠線">
            <a:extLst>
              <a:ext uri="{FF2B5EF4-FFF2-40B4-BE49-F238E27FC236}">
                <a16:creationId xmlns:a16="http://schemas.microsoft.com/office/drawing/2014/main" id="{A58E57CD-F654-6355-31C0-B990BF3BD32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75780" y="7315938"/>
            <a:ext cx="531976" cy="531976"/>
          </a:xfrm>
          <a:prstGeom prst="rect">
            <a:avLst/>
          </a:prstGeom>
        </p:spPr>
      </p:pic>
      <p:sp>
        <p:nvSpPr>
          <p:cNvPr id="21" name="スライド番号プレースホルダー 20">
            <a:extLst>
              <a:ext uri="{FF2B5EF4-FFF2-40B4-BE49-F238E27FC236}">
                <a16:creationId xmlns:a16="http://schemas.microsoft.com/office/drawing/2014/main" id="{131AEDC5-3F26-A622-090B-365E549CF490}"/>
              </a:ext>
            </a:extLst>
          </p:cNvPr>
          <p:cNvSpPr>
            <a:spLocks noGrp="1"/>
          </p:cNvSpPr>
          <p:nvPr>
            <p:ph type="sldNum" sz="quarter" idx="12"/>
          </p:nvPr>
        </p:nvSpPr>
        <p:spPr/>
        <p:txBody>
          <a:bodyPr/>
          <a:lstStyle/>
          <a:p>
            <a:fld id="{B6F15528-21DE-4FAA-801E-634DDDAF4B2B}" type="slidenum">
              <a:rPr lang="en-US" smtClean="0">
                <a:latin typeface="Yu Gothic" panose="020B0400000000000000" pitchFamily="34" charset="-128"/>
                <a:ea typeface="Yu Gothic" panose="020B0400000000000000" pitchFamily="34" charset="-128"/>
              </a:rPr>
              <a:pPr/>
              <a:t>1</a:t>
            </a:fld>
            <a:endParaRPr lang="en-US" dirty="0">
              <a:latin typeface="Yu Gothic" panose="020B0400000000000000" pitchFamily="34" charset="-128"/>
              <a:ea typeface="Yu Gothic" panose="020B0400000000000000"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5" name="AutoShape 5"/>
          <p:cNvSpPr/>
          <p:nvPr/>
        </p:nvSpPr>
        <p:spPr>
          <a:xfrm>
            <a:off x="857250" y="1047750"/>
            <a:ext cx="16573459"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6" name="AutoShape 6"/>
          <p:cNvSpPr/>
          <p:nvPr/>
        </p:nvSpPr>
        <p:spPr>
          <a:xfrm flipV="1">
            <a:off x="856856" y="904405"/>
            <a:ext cx="16574288"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7" name="AutoShape 7"/>
          <p:cNvSpPr/>
          <p:nvPr/>
        </p:nvSpPr>
        <p:spPr>
          <a:xfrm>
            <a:off x="857250" y="9382595"/>
            <a:ext cx="16573500"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8" name="AutoShape 8"/>
          <p:cNvSpPr/>
          <p:nvPr/>
        </p:nvSpPr>
        <p:spPr>
          <a:xfrm>
            <a:off x="857250" y="9239250"/>
            <a:ext cx="16573500"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grpSp>
        <p:nvGrpSpPr>
          <p:cNvPr id="9" name="Group 9"/>
          <p:cNvGrpSpPr/>
          <p:nvPr/>
        </p:nvGrpSpPr>
        <p:grpSpPr>
          <a:xfrm rot="16200000">
            <a:off x="2687332" y="642137"/>
            <a:ext cx="1213487" cy="3692548"/>
            <a:chOff x="0" y="-47625"/>
            <a:chExt cx="319601" cy="989514"/>
          </a:xfrm>
        </p:grpSpPr>
        <p:sp>
          <p:nvSpPr>
            <p:cNvPr id="10" name="Freeform 10"/>
            <p:cNvSpPr/>
            <p:nvPr/>
          </p:nvSpPr>
          <p:spPr>
            <a:xfrm>
              <a:off x="0" y="0"/>
              <a:ext cx="319601" cy="860210"/>
            </a:xfrm>
            <a:custGeom>
              <a:avLst/>
              <a:gdLst/>
              <a:ahLst/>
              <a:cxnLst/>
              <a:rect l="l" t="t" r="r" b="b"/>
              <a:pathLst>
                <a:path w="319601" h="941889">
                  <a:moveTo>
                    <a:pt x="0" y="0"/>
                  </a:moveTo>
                  <a:lnTo>
                    <a:pt x="319601" y="0"/>
                  </a:lnTo>
                  <a:lnTo>
                    <a:pt x="319601" y="941889"/>
                  </a:lnTo>
                  <a:lnTo>
                    <a:pt x="0" y="941889"/>
                  </a:lnTo>
                  <a:close/>
                </a:path>
              </a:pathLst>
            </a:custGeom>
            <a:solidFill>
              <a:srgbClr val="1B1B1B"/>
            </a:solidFill>
          </p:spPr>
          <p:txBody>
            <a:bodyPr/>
            <a:lstStyle/>
            <a:p>
              <a:endParaRPr lang="ja-JP" altLang="en-US">
                <a:latin typeface="Yu Gothic" panose="020B0400000000000000" pitchFamily="34" charset="-128"/>
                <a:ea typeface="Yu Gothic" panose="020B0400000000000000" pitchFamily="34" charset="-128"/>
              </a:endParaRPr>
            </a:p>
          </p:txBody>
        </p:sp>
        <p:sp>
          <p:nvSpPr>
            <p:cNvPr id="11" name="TextBox 11"/>
            <p:cNvSpPr txBox="1"/>
            <p:nvPr/>
          </p:nvSpPr>
          <p:spPr>
            <a:xfrm>
              <a:off x="0" y="-47625"/>
              <a:ext cx="319601" cy="989514"/>
            </a:xfrm>
            <a:prstGeom prst="rect">
              <a:avLst/>
            </a:prstGeom>
          </p:spPr>
          <p:txBody>
            <a:bodyPr lIns="50800" tIns="50800" rIns="50800" bIns="50800" rtlCol="0" anchor="ctr"/>
            <a:lstStyle/>
            <a:p>
              <a:pPr algn="ctr">
                <a:lnSpc>
                  <a:spcPts val="3359"/>
                </a:lnSpc>
              </a:pPr>
              <a:endParaRPr>
                <a:latin typeface="Yu Gothic" panose="020B0400000000000000" pitchFamily="34" charset="-128"/>
                <a:ea typeface="Yu Gothic" panose="020B0400000000000000" pitchFamily="34" charset="-128"/>
              </a:endParaRPr>
            </a:p>
          </p:txBody>
        </p:sp>
      </p:grpSp>
      <p:sp>
        <p:nvSpPr>
          <p:cNvPr id="12" name="TextBox 12"/>
          <p:cNvSpPr txBox="1"/>
          <p:nvPr/>
        </p:nvSpPr>
        <p:spPr>
          <a:xfrm>
            <a:off x="2078716" y="2035301"/>
            <a:ext cx="2604434" cy="851900"/>
          </a:xfrm>
          <a:prstGeom prst="rect">
            <a:avLst/>
          </a:prstGeom>
        </p:spPr>
        <p:txBody>
          <a:bodyPr wrap="square" lIns="0" tIns="0" rIns="0" bIns="0" rtlCol="0" anchor="t">
            <a:spAutoFit/>
          </a:bodyPr>
          <a:lstStyle/>
          <a:p>
            <a:pPr algn="ctr">
              <a:lnSpc>
                <a:spcPts val="6999"/>
              </a:lnSpc>
            </a:pPr>
            <a:r>
              <a:rPr lang="en-US" sz="4999" b="1" spc="1999" dirty="0" err="1">
                <a:solidFill>
                  <a:srgbClr val="FAFAFA"/>
                </a:solidFill>
                <a:latin typeface="Yu Gothic" panose="020B0400000000000000" pitchFamily="34" charset="-128"/>
                <a:ea typeface="Yu Gothic" panose="020B0400000000000000" pitchFamily="34" charset="-128"/>
                <a:cs typeface="Noto Sans JP Heavy"/>
                <a:sym typeface="Noto Sans JP Heavy"/>
              </a:rPr>
              <a:t>目次</a:t>
            </a:r>
            <a:endParaRPr lang="en-US" sz="4999" b="1" spc="1999" dirty="0">
              <a:solidFill>
                <a:srgbClr val="FAFAFA"/>
              </a:solidFill>
              <a:latin typeface="Yu Gothic" panose="020B0400000000000000" pitchFamily="34" charset="-128"/>
              <a:ea typeface="Yu Gothic" panose="020B0400000000000000" pitchFamily="34" charset="-128"/>
              <a:cs typeface="Noto Sans JP Heavy"/>
              <a:sym typeface="Noto Sans JP Heavy"/>
            </a:endParaRPr>
          </a:p>
        </p:txBody>
      </p:sp>
      <p:sp>
        <p:nvSpPr>
          <p:cNvPr id="13" name="Freeform 13"/>
          <p:cNvSpPr/>
          <p:nvPr/>
        </p:nvSpPr>
        <p:spPr>
          <a:xfrm>
            <a:off x="-2133600" y="3861846"/>
            <a:ext cx="6659664" cy="6277264"/>
          </a:xfrm>
          <a:custGeom>
            <a:avLst/>
            <a:gdLst/>
            <a:ahLst/>
            <a:cxnLst/>
            <a:rect l="l" t="t" r="r" b="b"/>
            <a:pathLst>
              <a:path w="5352794" h="6277264">
                <a:moveTo>
                  <a:pt x="5352794" y="0"/>
                </a:moveTo>
                <a:lnTo>
                  <a:pt x="0" y="0"/>
                </a:lnTo>
                <a:lnTo>
                  <a:pt x="0" y="6277264"/>
                </a:lnTo>
                <a:lnTo>
                  <a:pt x="5352794" y="6277264"/>
                </a:lnTo>
                <a:lnTo>
                  <a:pt x="5352794"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ja-JP" altLang="en-US">
              <a:latin typeface="Yu Gothic" panose="020B0400000000000000" pitchFamily="34" charset="-128"/>
              <a:ea typeface="Yu Gothic" panose="020B0400000000000000" pitchFamily="34" charset="-128"/>
            </a:endParaRPr>
          </a:p>
        </p:txBody>
      </p:sp>
      <p:sp>
        <p:nvSpPr>
          <p:cNvPr id="16" name="スライド番号プレースホルダー 15">
            <a:extLst>
              <a:ext uri="{FF2B5EF4-FFF2-40B4-BE49-F238E27FC236}">
                <a16:creationId xmlns:a16="http://schemas.microsoft.com/office/drawing/2014/main" id="{A2939D83-898F-7BDC-B790-072DAF28F9BC}"/>
              </a:ext>
            </a:extLst>
          </p:cNvPr>
          <p:cNvSpPr>
            <a:spLocks noGrp="1"/>
          </p:cNvSpPr>
          <p:nvPr>
            <p:ph type="sldNum" sz="quarter" idx="12"/>
          </p:nvPr>
        </p:nvSpPr>
        <p:spPr/>
        <p:txBody>
          <a:bodyPr/>
          <a:lstStyle/>
          <a:p>
            <a:fld id="{B6F15528-21DE-4FAA-801E-634DDDAF4B2B}" type="slidenum">
              <a:rPr lang="en-US" smtClean="0">
                <a:latin typeface="Yu Gothic" panose="020B0400000000000000" pitchFamily="34" charset="-128"/>
                <a:ea typeface="Yu Gothic" panose="020B0400000000000000" pitchFamily="34" charset="-128"/>
              </a:rPr>
              <a:pPr/>
              <a:t>2</a:t>
            </a:fld>
            <a:endParaRPr lang="en-US" dirty="0">
              <a:latin typeface="Yu Gothic" panose="020B0400000000000000" pitchFamily="34" charset="-128"/>
              <a:ea typeface="Yu Gothic" panose="020B0400000000000000" pitchFamily="34" charset="-128"/>
            </a:endParaRPr>
          </a:p>
        </p:txBody>
      </p:sp>
      <p:sp>
        <p:nvSpPr>
          <p:cNvPr id="19" name="テキスト ボックス 18">
            <a:extLst>
              <a:ext uri="{FF2B5EF4-FFF2-40B4-BE49-F238E27FC236}">
                <a16:creationId xmlns:a16="http://schemas.microsoft.com/office/drawing/2014/main" id="{91E8BD03-9CF4-2FE9-9103-B4DAD8210DF6}"/>
              </a:ext>
            </a:extLst>
          </p:cNvPr>
          <p:cNvSpPr txBox="1"/>
          <p:nvPr/>
        </p:nvSpPr>
        <p:spPr>
          <a:xfrm>
            <a:off x="4835550" y="3758370"/>
            <a:ext cx="11492249" cy="4056047"/>
          </a:xfrm>
          <a:prstGeom prst="rect">
            <a:avLst/>
          </a:prstGeom>
          <a:noFill/>
        </p:spPr>
        <p:txBody>
          <a:bodyPr wrap="none" rtlCol="0">
            <a:spAutoFit/>
          </a:bodyPr>
          <a:lstStyle/>
          <a:p>
            <a:pPr>
              <a:lnSpc>
                <a:spcPts val="6300"/>
              </a:lnSpc>
            </a:pPr>
            <a:r>
              <a:rPr lang="en-US" altLang="ja-JP" sz="3500" b="1" dirty="0">
                <a:solidFill>
                  <a:srgbClr val="1B1B1B"/>
                </a:solidFill>
                <a:latin typeface="Yu Gothic" panose="020B0400000000000000" pitchFamily="34" charset="-128"/>
                <a:ea typeface="Yu Gothic" panose="020B0400000000000000" pitchFamily="34" charset="-128"/>
                <a:cs typeface="Open Sans Bold"/>
                <a:sym typeface="Open Sans Bold"/>
              </a:rPr>
              <a:t>01 - </a:t>
            </a:r>
            <a:r>
              <a:rPr lang="en-US" altLang="ja-JP" sz="3500" b="1" spc="175" dirty="0" err="1">
                <a:solidFill>
                  <a:srgbClr val="1B1B1B"/>
                </a:solidFill>
                <a:latin typeface="Yu Gothic" panose="020B0400000000000000" pitchFamily="34" charset="-128"/>
                <a:ea typeface="Yu Gothic" panose="020B0400000000000000" pitchFamily="34" charset="-128"/>
                <a:cs typeface="Noto Sans JP Heavy"/>
                <a:sym typeface="Noto Sans JP Heavy"/>
              </a:rPr>
              <a:t>話者分離の手法調査</a:t>
            </a:r>
            <a:endParaRPr lang="en-US" altLang="ja-JP" sz="3500" b="1" dirty="0">
              <a:solidFill>
                <a:srgbClr val="1B1B1B"/>
              </a:solidFill>
              <a:latin typeface="Yu Gothic" panose="020B0400000000000000" pitchFamily="34" charset="-128"/>
              <a:ea typeface="Yu Gothic" panose="020B0400000000000000" pitchFamily="34" charset="-128"/>
              <a:cs typeface="Open Sans Bold"/>
              <a:sym typeface="Open Sans Bold"/>
            </a:endParaRPr>
          </a:p>
          <a:p>
            <a:pPr>
              <a:lnSpc>
                <a:spcPts val="6300"/>
              </a:lnSpc>
            </a:pPr>
            <a:r>
              <a:rPr lang="en-US" altLang="ja-JP" sz="3500" b="1" dirty="0">
                <a:solidFill>
                  <a:srgbClr val="1B1B1B"/>
                </a:solidFill>
                <a:latin typeface="Yu Gothic" panose="020B0400000000000000" pitchFamily="34" charset="-128"/>
                <a:ea typeface="Yu Gothic" panose="020B0400000000000000" pitchFamily="34" charset="-128"/>
                <a:cs typeface="Open Sans Bold"/>
                <a:sym typeface="Open Sans Bold"/>
              </a:rPr>
              <a:t>02 - </a:t>
            </a:r>
            <a:r>
              <a:rPr lang="en-US" altLang="ja-JP" sz="3500" b="1" spc="175" dirty="0" err="1">
                <a:solidFill>
                  <a:srgbClr val="1B1B1B"/>
                </a:solidFill>
                <a:latin typeface="Yu Gothic" panose="020B0400000000000000" pitchFamily="34" charset="-128"/>
                <a:ea typeface="Yu Gothic" panose="020B0400000000000000" pitchFamily="34" charset="-128"/>
                <a:cs typeface="Noto Sans JP Heavy"/>
                <a:sym typeface="Noto Sans JP Heavy"/>
              </a:rPr>
              <a:t>今回活用する話者分離の手法</a:t>
            </a:r>
            <a:endParaRPr lang="en-US" altLang="ja-JP" sz="3500" b="1" dirty="0">
              <a:solidFill>
                <a:srgbClr val="1B1B1B"/>
              </a:solidFill>
              <a:latin typeface="Yu Gothic" panose="020B0400000000000000" pitchFamily="34" charset="-128"/>
              <a:ea typeface="Yu Gothic" panose="020B0400000000000000" pitchFamily="34" charset="-128"/>
              <a:cs typeface="Open Sans Bold"/>
              <a:sym typeface="Open Sans Bold"/>
            </a:endParaRPr>
          </a:p>
          <a:p>
            <a:pPr>
              <a:lnSpc>
                <a:spcPts val="6300"/>
              </a:lnSpc>
            </a:pPr>
            <a:r>
              <a:rPr lang="en-US" altLang="ja-JP" sz="3500" b="1" dirty="0">
                <a:solidFill>
                  <a:srgbClr val="1B1B1B"/>
                </a:solidFill>
                <a:latin typeface="Yu Gothic" panose="020B0400000000000000" pitchFamily="34" charset="-128"/>
                <a:ea typeface="Yu Gothic" panose="020B0400000000000000" pitchFamily="34" charset="-128"/>
                <a:cs typeface="Open Sans Bold"/>
                <a:sym typeface="Open Sans Bold"/>
              </a:rPr>
              <a:t>03 - </a:t>
            </a:r>
            <a:r>
              <a:rPr lang="en-US" altLang="ja-JP" sz="3500" b="1" spc="175" dirty="0">
                <a:solidFill>
                  <a:srgbClr val="1B1B1B"/>
                </a:solidFill>
                <a:latin typeface="Yu Gothic" panose="020B0400000000000000" pitchFamily="34" charset="-128"/>
                <a:ea typeface="Yu Gothic" panose="020B0400000000000000" pitchFamily="34" charset="-128"/>
                <a:cs typeface="Noto Sans JP Heavy"/>
                <a:sym typeface="Noto Sans JP Heavy"/>
              </a:rPr>
              <a:t>Google </a:t>
            </a:r>
            <a:r>
              <a:rPr lang="en-US" altLang="ja-JP" sz="3500" b="1" spc="175" dirty="0" err="1">
                <a:solidFill>
                  <a:srgbClr val="1B1B1B"/>
                </a:solidFill>
                <a:latin typeface="Yu Gothic" panose="020B0400000000000000" pitchFamily="34" charset="-128"/>
                <a:ea typeface="Yu Gothic" panose="020B0400000000000000" pitchFamily="34" charset="-128"/>
                <a:cs typeface="Noto Sans JP Heavy"/>
                <a:sym typeface="Noto Sans JP Heavy"/>
              </a:rPr>
              <a:t>CloudのApp</a:t>
            </a:r>
            <a:r>
              <a:rPr lang="en-US" altLang="ja-JP" sz="3500" b="1" spc="175" dirty="0">
                <a:solidFill>
                  <a:srgbClr val="1B1B1B"/>
                </a:solidFill>
                <a:latin typeface="Yu Gothic" panose="020B0400000000000000" pitchFamily="34" charset="-128"/>
                <a:ea typeface="Yu Gothic" panose="020B0400000000000000" pitchFamily="34" charset="-128"/>
                <a:cs typeface="Noto Sans JP Heavy"/>
                <a:sym typeface="Noto Sans JP Heavy"/>
              </a:rPr>
              <a:t> Engine / Cloud </a:t>
            </a:r>
            <a:r>
              <a:rPr lang="en-US" altLang="ja-JP" sz="3500" b="1" spc="175" dirty="0" err="1">
                <a:solidFill>
                  <a:srgbClr val="1B1B1B"/>
                </a:solidFill>
                <a:latin typeface="Yu Gothic" panose="020B0400000000000000" pitchFamily="34" charset="-128"/>
                <a:ea typeface="Yu Gothic" panose="020B0400000000000000" pitchFamily="34" charset="-128"/>
                <a:cs typeface="Noto Sans JP Heavy"/>
                <a:sym typeface="Noto Sans JP Heavy"/>
              </a:rPr>
              <a:t>Runとは</a:t>
            </a:r>
            <a:endParaRPr lang="en-US" altLang="ja-JP" sz="3500" b="1" dirty="0">
              <a:solidFill>
                <a:srgbClr val="1B1B1B"/>
              </a:solidFill>
              <a:latin typeface="Yu Gothic" panose="020B0400000000000000" pitchFamily="34" charset="-128"/>
              <a:ea typeface="Yu Gothic" panose="020B0400000000000000" pitchFamily="34" charset="-128"/>
              <a:cs typeface="Open Sans Bold"/>
              <a:sym typeface="Open Sans Bold"/>
            </a:endParaRPr>
          </a:p>
          <a:p>
            <a:pPr>
              <a:lnSpc>
                <a:spcPts val="6300"/>
              </a:lnSpc>
            </a:pPr>
            <a:r>
              <a:rPr lang="en-US" altLang="ja-JP" sz="3500" b="1" dirty="0">
                <a:solidFill>
                  <a:srgbClr val="1B1B1B"/>
                </a:solidFill>
                <a:latin typeface="Yu Gothic" panose="020B0400000000000000" pitchFamily="34" charset="-128"/>
                <a:ea typeface="Yu Gothic" panose="020B0400000000000000" pitchFamily="34" charset="-128"/>
                <a:cs typeface="Open Sans Bold"/>
                <a:sym typeface="Open Sans Bold"/>
              </a:rPr>
              <a:t>04 - </a:t>
            </a:r>
            <a:r>
              <a:rPr lang="en-US" altLang="ja-JP" sz="3500" b="1" spc="175" dirty="0" err="1">
                <a:solidFill>
                  <a:srgbClr val="1B1B1B"/>
                </a:solidFill>
                <a:latin typeface="Yu Gothic" panose="020B0400000000000000" pitchFamily="34" charset="-128"/>
                <a:ea typeface="Yu Gothic" panose="020B0400000000000000" pitchFamily="34" charset="-128"/>
                <a:cs typeface="Noto Sans JP Heavy"/>
                <a:sym typeface="Noto Sans JP Heavy"/>
              </a:rPr>
              <a:t>アーキテクチャ図</a:t>
            </a:r>
            <a:endParaRPr lang="en-US" altLang="ja-JP" sz="3500" b="1" dirty="0">
              <a:solidFill>
                <a:srgbClr val="1B1B1B"/>
              </a:solidFill>
              <a:latin typeface="Yu Gothic" panose="020B0400000000000000" pitchFamily="34" charset="-128"/>
              <a:ea typeface="Yu Gothic" panose="020B0400000000000000" pitchFamily="34" charset="-128"/>
              <a:cs typeface="Open Sans Bold"/>
              <a:sym typeface="Open Sans Bold"/>
            </a:endParaRPr>
          </a:p>
          <a:p>
            <a:pPr>
              <a:lnSpc>
                <a:spcPts val="6300"/>
              </a:lnSpc>
            </a:pPr>
            <a:r>
              <a:rPr lang="en-US" altLang="ja-JP" sz="3500" b="1" dirty="0">
                <a:solidFill>
                  <a:srgbClr val="1B1B1B"/>
                </a:solidFill>
                <a:latin typeface="Yu Gothic" panose="020B0400000000000000" pitchFamily="34" charset="-128"/>
                <a:ea typeface="Yu Gothic" panose="020B0400000000000000" pitchFamily="34" charset="-128"/>
                <a:cs typeface="Open Sans Bold"/>
                <a:sym typeface="Open Sans Bold"/>
              </a:rPr>
              <a:t>05 -</a:t>
            </a:r>
            <a:r>
              <a:rPr lang="en-US" altLang="ja-JP" sz="3500" dirty="0">
                <a:solidFill>
                  <a:srgbClr val="1B1B1B"/>
                </a:solidFill>
                <a:latin typeface="Yu Gothic" panose="020B0400000000000000" pitchFamily="34" charset="-128"/>
                <a:ea typeface="Yu Gothic" panose="020B0400000000000000" pitchFamily="34" charset="-128"/>
                <a:cs typeface="Open Sans Bold"/>
                <a:sym typeface="Open Sans Bold"/>
              </a:rPr>
              <a:t> </a:t>
            </a:r>
            <a:r>
              <a:rPr lang="en-US" altLang="ja-JP" sz="3500" b="1" spc="175" dirty="0" err="1">
                <a:solidFill>
                  <a:srgbClr val="1B1B1B"/>
                </a:solidFill>
                <a:latin typeface="Yu Gothic" panose="020B0400000000000000" pitchFamily="34" charset="-128"/>
                <a:ea typeface="Yu Gothic" panose="020B0400000000000000" pitchFamily="34" charset="-128"/>
                <a:cs typeface="Noto Sans JP Heavy"/>
                <a:sym typeface="Noto Sans JP Heavy"/>
              </a:rPr>
              <a:t>シーケンス図</a:t>
            </a:r>
            <a:endParaRPr lang="en-US" altLang="ja-JP" sz="3500" b="1" dirty="0">
              <a:solidFill>
                <a:srgbClr val="1B1B1B"/>
              </a:solidFill>
              <a:latin typeface="Yu Gothic" panose="020B0400000000000000" pitchFamily="34" charset="-128"/>
              <a:ea typeface="Yu Gothic" panose="020B0400000000000000" pitchFamily="34" charset="-128"/>
              <a:cs typeface="Open Sans Bold"/>
              <a:sym typeface="Open Sans 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AutoShape 2"/>
          <p:cNvSpPr/>
          <p:nvPr/>
        </p:nvSpPr>
        <p:spPr>
          <a:xfrm>
            <a:off x="857250" y="2361305"/>
            <a:ext cx="16573500"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3" name="AutoShape 3"/>
          <p:cNvSpPr/>
          <p:nvPr/>
        </p:nvSpPr>
        <p:spPr>
          <a:xfrm>
            <a:off x="857250" y="1047750"/>
            <a:ext cx="16573459"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4" name="AutoShape 4"/>
          <p:cNvSpPr/>
          <p:nvPr/>
        </p:nvSpPr>
        <p:spPr>
          <a:xfrm flipV="1">
            <a:off x="856856" y="904405"/>
            <a:ext cx="16574288"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5" name="AutoShape 5"/>
          <p:cNvSpPr/>
          <p:nvPr/>
        </p:nvSpPr>
        <p:spPr>
          <a:xfrm>
            <a:off x="857250" y="9382595"/>
            <a:ext cx="16573500"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6" name="AutoShape 6"/>
          <p:cNvSpPr/>
          <p:nvPr/>
        </p:nvSpPr>
        <p:spPr>
          <a:xfrm>
            <a:off x="857250" y="9239250"/>
            <a:ext cx="16573500"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grpSp>
        <p:nvGrpSpPr>
          <p:cNvPr id="7" name="Group 7"/>
          <p:cNvGrpSpPr/>
          <p:nvPr/>
        </p:nvGrpSpPr>
        <p:grpSpPr>
          <a:xfrm>
            <a:off x="1282599" y="650625"/>
            <a:ext cx="1213487" cy="1720205"/>
            <a:chOff x="0" y="0"/>
            <a:chExt cx="319601" cy="453058"/>
          </a:xfrm>
        </p:grpSpPr>
        <p:sp>
          <p:nvSpPr>
            <p:cNvPr id="8" name="Freeform 8"/>
            <p:cNvSpPr/>
            <p:nvPr/>
          </p:nvSpPr>
          <p:spPr>
            <a:xfrm>
              <a:off x="0" y="0"/>
              <a:ext cx="319601" cy="453058"/>
            </a:xfrm>
            <a:custGeom>
              <a:avLst/>
              <a:gdLst/>
              <a:ahLst/>
              <a:cxnLst/>
              <a:rect l="l" t="t" r="r" b="b"/>
              <a:pathLst>
                <a:path w="319601" h="453058">
                  <a:moveTo>
                    <a:pt x="0" y="0"/>
                  </a:moveTo>
                  <a:lnTo>
                    <a:pt x="319601" y="0"/>
                  </a:lnTo>
                  <a:lnTo>
                    <a:pt x="319601" y="453058"/>
                  </a:lnTo>
                  <a:lnTo>
                    <a:pt x="0" y="453058"/>
                  </a:lnTo>
                  <a:close/>
                </a:path>
              </a:pathLst>
            </a:custGeom>
            <a:solidFill>
              <a:srgbClr val="1B1B1B"/>
            </a:solidFill>
          </p:spPr>
          <p:txBody>
            <a:bodyPr/>
            <a:lstStyle/>
            <a:p>
              <a:endParaRPr lang="ja-JP" altLang="en-US">
                <a:latin typeface="Yu Gothic" panose="020B0400000000000000" pitchFamily="34" charset="-128"/>
                <a:ea typeface="Yu Gothic" panose="020B0400000000000000" pitchFamily="34" charset="-128"/>
              </a:endParaRPr>
            </a:p>
          </p:txBody>
        </p:sp>
        <p:sp>
          <p:nvSpPr>
            <p:cNvPr id="9" name="TextBox 9"/>
            <p:cNvSpPr txBox="1"/>
            <p:nvPr/>
          </p:nvSpPr>
          <p:spPr>
            <a:xfrm>
              <a:off x="0" y="-47625"/>
              <a:ext cx="319601" cy="500683"/>
            </a:xfrm>
            <a:prstGeom prst="rect">
              <a:avLst/>
            </a:prstGeom>
          </p:spPr>
          <p:txBody>
            <a:bodyPr lIns="50800" tIns="50800" rIns="50800" bIns="50800" rtlCol="0" anchor="ctr"/>
            <a:lstStyle/>
            <a:p>
              <a:pPr algn="ctr">
                <a:lnSpc>
                  <a:spcPts val="3359"/>
                </a:lnSpc>
              </a:pPr>
              <a:endParaRPr>
                <a:latin typeface="Yu Gothic" panose="020B0400000000000000" pitchFamily="34" charset="-128"/>
                <a:ea typeface="Yu Gothic" panose="020B0400000000000000" pitchFamily="34" charset="-128"/>
              </a:endParaRPr>
            </a:p>
          </p:txBody>
        </p:sp>
      </p:grpSp>
      <p:sp>
        <p:nvSpPr>
          <p:cNvPr id="12" name="TextBox 12"/>
          <p:cNvSpPr txBox="1"/>
          <p:nvPr/>
        </p:nvSpPr>
        <p:spPr>
          <a:xfrm>
            <a:off x="2949343" y="1458741"/>
            <a:ext cx="14309957" cy="538609"/>
          </a:xfrm>
          <a:prstGeom prst="rect">
            <a:avLst/>
          </a:prstGeom>
        </p:spPr>
        <p:txBody>
          <a:bodyPr lIns="0" tIns="0" rIns="0" bIns="0" rtlCol="0" anchor="ctr">
            <a:spAutoFit/>
          </a:bodyPr>
          <a:lstStyle/>
          <a:p>
            <a:pPr algn="l"/>
            <a:r>
              <a:rPr lang="en-US" altLang="ja-JP" sz="3500" b="1" spc="175" dirty="0" err="1">
                <a:solidFill>
                  <a:srgbClr val="1B1B1B"/>
                </a:solidFill>
                <a:latin typeface="Yu Gothic" panose="020B0400000000000000" pitchFamily="34" charset="-128"/>
                <a:ea typeface="Yu Gothic" panose="020B0400000000000000" pitchFamily="34" charset="-128"/>
                <a:cs typeface="Noto Sans JP Heavy"/>
                <a:sym typeface="Noto Sans JP Heavy"/>
              </a:rPr>
              <a:t>話者分離の手法調査</a:t>
            </a:r>
            <a:endParaRPr lang="en-US" altLang="ja-JP" sz="3500" b="1" spc="175" dirty="0">
              <a:solidFill>
                <a:srgbClr val="1B1B1B"/>
              </a:solidFill>
              <a:latin typeface="Yu Gothic" panose="020B0400000000000000" pitchFamily="34" charset="-128"/>
              <a:ea typeface="Yu Gothic" panose="020B0400000000000000" pitchFamily="34" charset="-128"/>
              <a:cs typeface="Noto Sans JP Heavy"/>
              <a:sym typeface="Noto Sans JP Heavy"/>
            </a:endParaRPr>
          </a:p>
        </p:txBody>
      </p:sp>
      <p:sp>
        <p:nvSpPr>
          <p:cNvPr id="13" name="TextBox 13"/>
          <p:cNvSpPr txBox="1"/>
          <p:nvPr/>
        </p:nvSpPr>
        <p:spPr>
          <a:xfrm>
            <a:off x="1461953" y="1228278"/>
            <a:ext cx="854779" cy="733425"/>
          </a:xfrm>
          <a:prstGeom prst="rect">
            <a:avLst/>
          </a:prstGeom>
        </p:spPr>
        <p:txBody>
          <a:bodyPr lIns="0" tIns="0" rIns="0" bIns="0" rtlCol="0" anchor="t">
            <a:spAutoFit/>
          </a:bodyPr>
          <a:lstStyle/>
          <a:p>
            <a:pPr marL="0" lvl="0" indent="0" algn="ctr">
              <a:lnSpc>
                <a:spcPts val="6300"/>
              </a:lnSpc>
              <a:spcBef>
                <a:spcPct val="0"/>
              </a:spcBef>
            </a:pPr>
            <a:r>
              <a:rPr lang="en-US" sz="3500" b="1" u="none" strike="noStrike">
                <a:solidFill>
                  <a:srgbClr val="FAFAFA"/>
                </a:solidFill>
                <a:latin typeface="Yu Gothic" panose="020B0400000000000000" pitchFamily="34" charset="-128"/>
                <a:ea typeface="Yu Gothic" panose="020B0400000000000000" pitchFamily="34" charset="-128"/>
                <a:cs typeface="Open Sans Bold"/>
                <a:sym typeface="Open Sans Bold"/>
              </a:rPr>
              <a:t>01</a:t>
            </a:r>
          </a:p>
        </p:txBody>
      </p:sp>
      <p:sp>
        <p:nvSpPr>
          <p:cNvPr id="22" name="スライド番号プレースホルダー 21">
            <a:extLst>
              <a:ext uri="{FF2B5EF4-FFF2-40B4-BE49-F238E27FC236}">
                <a16:creationId xmlns:a16="http://schemas.microsoft.com/office/drawing/2014/main" id="{A69C4C30-D0A1-E114-AC0A-E1F4EED6F8AC}"/>
              </a:ext>
            </a:extLst>
          </p:cNvPr>
          <p:cNvSpPr>
            <a:spLocks noGrp="1"/>
          </p:cNvSpPr>
          <p:nvPr>
            <p:ph type="sldNum" sz="quarter" idx="12"/>
          </p:nvPr>
        </p:nvSpPr>
        <p:spPr/>
        <p:txBody>
          <a:bodyPr/>
          <a:lstStyle/>
          <a:p>
            <a:fld id="{B6F15528-21DE-4FAA-801E-634DDDAF4B2B}" type="slidenum">
              <a:rPr lang="en-US" smtClean="0">
                <a:latin typeface="Yu Gothic" panose="020B0400000000000000" pitchFamily="34" charset="-128"/>
                <a:ea typeface="Yu Gothic" panose="020B0400000000000000" pitchFamily="34" charset="-128"/>
              </a:rPr>
              <a:pPr/>
              <a:t>3</a:t>
            </a:fld>
            <a:endParaRPr lang="en-US" dirty="0">
              <a:latin typeface="Yu Gothic" panose="020B0400000000000000" pitchFamily="34" charset="-128"/>
              <a:ea typeface="Yu Gothic" panose="020B0400000000000000" pitchFamily="34" charset="-128"/>
            </a:endParaRPr>
          </a:p>
        </p:txBody>
      </p:sp>
      <p:sp>
        <p:nvSpPr>
          <p:cNvPr id="16" name="テキスト ボックス 15">
            <a:extLst>
              <a:ext uri="{FF2B5EF4-FFF2-40B4-BE49-F238E27FC236}">
                <a16:creationId xmlns:a16="http://schemas.microsoft.com/office/drawing/2014/main" id="{06FFCE83-6833-83D1-C344-74050D623ED9}"/>
              </a:ext>
            </a:extLst>
          </p:cNvPr>
          <p:cNvSpPr txBox="1"/>
          <p:nvPr/>
        </p:nvSpPr>
        <p:spPr>
          <a:xfrm>
            <a:off x="856856" y="9405306"/>
            <a:ext cx="11317522" cy="738664"/>
          </a:xfrm>
          <a:prstGeom prst="rect">
            <a:avLst/>
          </a:prstGeom>
          <a:noFill/>
        </p:spPr>
        <p:txBody>
          <a:bodyPr wrap="none" rtlCol="0">
            <a:spAutoFit/>
          </a:bodyPr>
          <a:lstStyle/>
          <a:p>
            <a:r>
              <a:rPr kumimoji="1" lang="ja-JP" altLang="en-US" sz="1400">
                <a:latin typeface="Yu Gothic" panose="020B0400000000000000" pitchFamily="34" charset="-128"/>
                <a:ea typeface="Yu Gothic" panose="020B0400000000000000" pitchFamily="34" charset="-128"/>
              </a:rPr>
              <a:t>［参考］</a:t>
            </a:r>
            <a:r>
              <a:rPr kumimoji="1" lang="en-US" altLang="ja-JP" sz="1400" dirty="0">
                <a:latin typeface="Yu Gothic" panose="020B0400000000000000" pitchFamily="34" charset="-128"/>
                <a:ea typeface="Yu Gothic" panose="020B0400000000000000" pitchFamily="34" charset="-128"/>
              </a:rPr>
              <a:t>	</a:t>
            </a:r>
            <a:r>
              <a:rPr kumimoji="1" lang="en-US" altLang="ja-JP" sz="1400" dirty="0" err="1">
                <a:latin typeface="Yu Gothic" panose="020B0400000000000000" pitchFamily="34" charset="-128"/>
                <a:ea typeface="Yu Gothic" panose="020B0400000000000000" pitchFamily="34" charset="-128"/>
              </a:rPr>
              <a:t>GitHub“pyannote</a:t>
            </a:r>
            <a:r>
              <a:rPr kumimoji="1" lang="en-US" altLang="ja-JP" sz="1400" dirty="0">
                <a:latin typeface="Yu Gothic" panose="020B0400000000000000" pitchFamily="34" charset="-128"/>
                <a:ea typeface="Yu Gothic" panose="020B0400000000000000" pitchFamily="34" charset="-128"/>
              </a:rPr>
              <a:t>-audio” https://</a:t>
            </a:r>
            <a:r>
              <a:rPr kumimoji="1" lang="en-US" altLang="ja-JP" sz="1400" dirty="0" err="1">
                <a:latin typeface="Yu Gothic" panose="020B0400000000000000" pitchFamily="34" charset="-128"/>
                <a:ea typeface="Yu Gothic" panose="020B0400000000000000" pitchFamily="34" charset="-128"/>
              </a:rPr>
              <a:t>github.com</a:t>
            </a:r>
            <a:r>
              <a:rPr kumimoji="1" lang="en-US" altLang="ja-JP" sz="1400" dirty="0">
                <a:latin typeface="Yu Gothic" panose="020B0400000000000000" pitchFamily="34" charset="-128"/>
                <a:ea typeface="Yu Gothic" panose="020B0400000000000000" pitchFamily="34" charset="-128"/>
              </a:rPr>
              <a:t>/</a:t>
            </a:r>
            <a:r>
              <a:rPr kumimoji="1" lang="en-US" altLang="ja-JP" sz="1400" dirty="0" err="1">
                <a:latin typeface="Yu Gothic" panose="020B0400000000000000" pitchFamily="34" charset="-128"/>
                <a:ea typeface="Yu Gothic" panose="020B0400000000000000" pitchFamily="34" charset="-128"/>
              </a:rPr>
              <a:t>pyannote</a:t>
            </a:r>
            <a:r>
              <a:rPr kumimoji="1" lang="en-US" altLang="ja-JP" sz="1400" dirty="0">
                <a:latin typeface="Yu Gothic" panose="020B0400000000000000" pitchFamily="34" charset="-128"/>
                <a:ea typeface="Yu Gothic" panose="020B0400000000000000" pitchFamily="34" charset="-128"/>
              </a:rPr>
              <a:t>/</a:t>
            </a:r>
            <a:r>
              <a:rPr kumimoji="1" lang="en-US" altLang="ja-JP" sz="1400" dirty="0" err="1">
                <a:latin typeface="Yu Gothic" panose="020B0400000000000000" pitchFamily="34" charset="-128"/>
                <a:ea typeface="Yu Gothic" panose="020B0400000000000000" pitchFamily="34" charset="-128"/>
              </a:rPr>
              <a:t>pyannote</a:t>
            </a:r>
            <a:r>
              <a:rPr kumimoji="1" lang="en-US" altLang="ja-JP" sz="1400" dirty="0">
                <a:latin typeface="Yu Gothic" panose="020B0400000000000000" pitchFamily="34" charset="-128"/>
                <a:ea typeface="Yu Gothic" panose="020B0400000000000000" pitchFamily="34" charset="-128"/>
              </a:rPr>
              <a:t>-audio</a:t>
            </a:r>
          </a:p>
          <a:p>
            <a:r>
              <a:rPr kumimoji="1" lang="en-US" altLang="ja-JP" sz="1400" dirty="0">
                <a:latin typeface="Yu Gothic" panose="020B0400000000000000" pitchFamily="34" charset="-128"/>
                <a:ea typeface="Yu Gothic" panose="020B0400000000000000" pitchFamily="34" charset="-128"/>
              </a:rPr>
              <a:t>	Google Cloud”</a:t>
            </a:r>
            <a:r>
              <a:rPr kumimoji="1" lang="ja-JP" altLang="en-US" sz="1400">
                <a:latin typeface="Yu Gothic" panose="020B0400000000000000" pitchFamily="34" charset="-128"/>
                <a:ea typeface="Yu Gothic" panose="020B0400000000000000" pitchFamily="34" charset="-128"/>
              </a:rPr>
              <a:t>音声録音内の異なる話者を分離する</a:t>
            </a:r>
            <a:r>
              <a:rPr kumimoji="1" lang="en-US" altLang="ja-JP" sz="1400" dirty="0">
                <a:latin typeface="Yu Gothic" panose="020B0400000000000000" pitchFamily="34" charset="-128"/>
                <a:ea typeface="Yu Gothic" panose="020B0400000000000000" pitchFamily="34" charset="-128"/>
              </a:rPr>
              <a:t>” https://</a:t>
            </a:r>
            <a:r>
              <a:rPr kumimoji="1" lang="en-US" altLang="ja-JP" sz="1400" dirty="0" err="1">
                <a:latin typeface="Yu Gothic" panose="020B0400000000000000" pitchFamily="34" charset="-128"/>
                <a:ea typeface="Yu Gothic" panose="020B0400000000000000" pitchFamily="34" charset="-128"/>
              </a:rPr>
              <a:t>cloud.google.com</a:t>
            </a:r>
            <a:r>
              <a:rPr kumimoji="1" lang="en-US" altLang="ja-JP" sz="1400" dirty="0">
                <a:latin typeface="Yu Gothic" panose="020B0400000000000000" pitchFamily="34" charset="-128"/>
                <a:ea typeface="Yu Gothic" panose="020B0400000000000000" pitchFamily="34" charset="-128"/>
              </a:rPr>
              <a:t>/speech-to-text/v2/docs/</a:t>
            </a:r>
            <a:r>
              <a:rPr kumimoji="1" lang="en-US" altLang="ja-JP" sz="1400" dirty="0" err="1">
                <a:latin typeface="Yu Gothic" panose="020B0400000000000000" pitchFamily="34" charset="-128"/>
                <a:ea typeface="Yu Gothic" panose="020B0400000000000000" pitchFamily="34" charset="-128"/>
              </a:rPr>
              <a:t>multiple-voices?hl</a:t>
            </a:r>
            <a:r>
              <a:rPr kumimoji="1" lang="en-US" altLang="ja-JP" sz="1400" dirty="0">
                <a:latin typeface="Yu Gothic" panose="020B0400000000000000" pitchFamily="34" charset="-128"/>
                <a:ea typeface="Yu Gothic" panose="020B0400000000000000" pitchFamily="34" charset="-128"/>
              </a:rPr>
              <a:t>=ja</a:t>
            </a:r>
          </a:p>
          <a:p>
            <a:r>
              <a:rPr kumimoji="1" lang="en-US" altLang="ja-JP" sz="1400" dirty="0">
                <a:latin typeface="Yu Gothic" panose="020B0400000000000000" pitchFamily="34" charset="-128"/>
                <a:ea typeface="Yu Gothic" panose="020B0400000000000000" pitchFamily="34" charset="-128"/>
              </a:rPr>
              <a:t>	</a:t>
            </a:r>
            <a:r>
              <a:rPr kumimoji="1" lang="en-US" altLang="ja-JP" sz="1400" dirty="0" err="1">
                <a:latin typeface="Yu Gothic" panose="020B0400000000000000" pitchFamily="34" charset="-128"/>
                <a:ea typeface="Yu Gothic" panose="020B0400000000000000" pitchFamily="34" charset="-128"/>
              </a:rPr>
              <a:t>deepgram”Deepgram</a:t>
            </a:r>
            <a:r>
              <a:rPr kumimoji="1" lang="en-US" altLang="ja-JP" sz="1400" dirty="0">
                <a:latin typeface="Yu Gothic" panose="020B0400000000000000" pitchFamily="34" charset="-128"/>
                <a:ea typeface="Yu Gothic" panose="020B0400000000000000" pitchFamily="34" charset="-128"/>
              </a:rPr>
              <a:t> </a:t>
            </a:r>
            <a:r>
              <a:rPr kumimoji="1" lang="en-US" altLang="ja-JP" sz="1400" dirty="0" err="1">
                <a:latin typeface="Yu Gothic" panose="020B0400000000000000" pitchFamily="34" charset="-128"/>
                <a:ea typeface="Yu Gothic" panose="020B0400000000000000" pitchFamily="34" charset="-128"/>
              </a:rPr>
              <a:t>Voiice</a:t>
            </a:r>
            <a:r>
              <a:rPr kumimoji="1" lang="en-US" altLang="ja-JP" sz="1400" dirty="0">
                <a:latin typeface="Yu Gothic" panose="020B0400000000000000" pitchFamily="34" charset="-128"/>
                <a:ea typeface="Yu Gothic" panose="020B0400000000000000" pitchFamily="34" charset="-128"/>
              </a:rPr>
              <a:t> </a:t>
            </a:r>
            <a:r>
              <a:rPr kumimoji="1" lang="en-US" altLang="ja-JP" sz="1400" dirty="0" err="1">
                <a:latin typeface="Yu Gothic" panose="020B0400000000000000" pitchFamily="34" charset="-128"/>
                <a:ea typeface="Yu Gothic" panose="020B0400000000000000" pitchFamily="34" charset="-128"/>
              </a:rPr>
              <a:t>AI:Text</a:t>
            </a:r>
            <a:r>
              <a:rPr kumimoji="1" lang="en-US" altLang="ja-JP" sz="1400" dirty="0">
                <a:latin typeface="Yu Gothic" panose="020B0400000000000000" pitchFamily="34" charset="-128"/>
                <a:ea typeface="Yu Gothic" panose="020B0400000000000000" pitchFamily="34" charset="-128"/>
              </a:rPr>
              <a:t> to speech + Speech to Text APIs” https://</a:t>
            </a:r>
            <a:r>
              <a:rPr kumimoji="1" lang="en-US" altLang="ja-JP" sz="1400" dirty="0" err="1">
                <a:latin typeface="Yu Gothic" panose="020B0400000000000000" pitchFamily="34" charset="-128"/>
                <a:ea typeface="Yu Gothic" panose="020B0400000000000000" pitchFamily="34" charset="-128"/>
              </a:rPr>
              <a:t>deepgram.com</a:t>
            </a:r>
            <a:r>
              <a:rPr kumimoji="1" lang="en-US" altLang="ja-JP" sz="1400" dirty="0">
                <a:latin typeface="Yu Gothic" panose="020B0400000000000000" pitchFamily="34" charset="-128"/>
                <a:ea typeface="Yu Gothic" panose="020B0400000000000000" pitchFamily="34" charset="-128"/>
              </a:rPr>
              <a:t>/</a:t>
            </a:r>
            <a:endParaRPr kumimoji="1" lang="ja-JP" altLang="en-US" sz="1400">
              <a:latin typeface="Yu Gothic" panose="020B0400000000000000" pitchFamily="34" charset="-128"/>
              <a:ea typeface="Yu Gothic" panose="020B0400000000000000" pitchFamily="34" charset="-128"/>
            </a:endParaRPr>
          </a:p>
        </p:txBody>
      </p:sp>
      <p:grpSp>
        <p:nvGrpSpPr>
          <p:cNvPr id="33" name="Group 18">
            <a:extLst>
              <a:ext uri="{FF2B5EF4-FFF2-40B4-BE49-F238E27FC236}">
                <a16:creationId xmlns:a16="http://schemas.microsoft.com/office/drawing/2014/main" id="{0846F943-09F8-817E-B3EE-311AD38E561D}"/>
              </a:ext>
            </a:extLst>
          </p:cNvPr>
          <p:cNvGrpSpPr/>
          <p:nvPr/>
        </p:nvGrpSpPr>
        <p:grpSpPr>
          <a:xfrm>
            <a:off x="2138872" y="4903248"/>
            <a:ext cx="14010256" cy="1794059"/>
            <a:chOff x="0" y="0"/>
            <a:chExt cx="3689944" cy="472509"/>
          </a:xfrm>
        </p:grpSpPr>
        <p:sp>
          <p:nvSpPr>
            <p:cNvPr id="34" name="Freeform 19">
              <a:extLst>
                <a:ext uri="{FF2B5EF4-FFF2-40B4-BE49-F238E27FC236}">
                  <a16:creationId xmlns:a16="http://schemas.microsoft.com/office/drawing/2014/main" id="{FF7F22F3-0D49-17F3-2D69-EE76ED4B10A8}"/>
                </a:ext>
              </a:extLst>
            </p:cNvPr>
            <p:cNvSpPr/>
            <p:nvPr/>
          </p:nvSpPr>
          <p:spPr>
            <a:xfrm>
              <a:off x="0" y="0"/>
              <a:ext cx="3689944" cy="472509"/>
            </a:xfrm>
            <a:custGeom>
              <a:avLst/>
              <a:gdLst/>
              <a:ahLst/>
              <a:cxnLst/>
              <a:rect l="l" t="t" r="r" b="b"/>
              <a:pathLst>
                <a:path w="3689944" h="472509">
                  <a:moveTo>
                    <a:pt x="0" y="0"/>
                  </a:moveTo>
                  <a:lnTo>
                    <a:pt x="3689944" y="0"/>
                  </a:lnTo>
                  <a:lnTo>
                    <a:pt x="3689944" y="472509"/>
                  </a:lnTo>
                  <a:lnTo>
                    <a:pt x="0" y="472509"/>
                  </a:lnTo>
                  <a:close/>
                </a:path>
              </a:pathLst>
            </a:custGeom>
            <a:solidFill>
              <a:srgbClr val="E9E9E9"/>
            </a:solidFill>
          </p:spPr>
          <p:txBody>
            <a:bodyPr/>
            <a:lstStyle/>
            <a:p>
              <a:endParaRPr lang="ja-JP" altLang="en-US">
                <a:latin typeface="Yu Gothic" panose="020B0400000000000000" pitchFamily="34" charset="-128"/>
                <a:ea typeface="Yu Gothic" panose="020B0400000000000000" pitchFamily="34" charset="-128"/>
              </a:endParaRPr>
            </a:p>
          </p:txBody>
        </p:sp>
        <p:sp>
          <p:nvSpPr>
            <p:cNvPr id="35" name="TextBox 20">
              <a:extLst>
                <a:ext uri="{FF2B5EF4-FFF2-40B4-BE49-F238E27FC236}">
                  <a16:creationId xmlns:a16="http://schemas.microsoft.com/office/drawing/2014/main" id="{EB810DFA-39E9-84A0-763D-06F52ED1A31A}"/>
                </a:ext>
              </a:extLst>
            </p:cNvPr>
            <p:cNvSpPr txBox="1"/>
            <p:nvPr/>
          </p:nvSpPr>
          <p:spPr>
            <a:xfrm>
              <a:off x="0" y="-47625"/>
              <a:ext cx="3689944" cy="520134"/>
            </a:xfrm>
            <a:prstGeom prst="rect">
              <a:avLst/>
            </a:prstGeom>
          </p:spPr>
          <p:txBody>
            <a:bodyPr lIns="50800" tIns="50800" rIns="50800" bIns="50800" rtlCol="0" anchor="ctr"/>
            <a:lstStyle/>
            <a:p>
              <a:pPr algn="ctr">
                <a:lnSpc>
                  <a:spcPts val="3359"/>
                </a:lnSpc>
              </a:pPr>
              <a:endParaRPr>
                <a:latin typeface="Yu Gothic" panose="020B0400000000000000" pitchFamily="34" charset="-128"/>
                <a:ea typeface="Yu Gothic" panose="020B0400000000000000" pitchFamily="34" charset="-128"/>
              </a:endParaRPr>
            </a:p>
          </p:txBody>
        </p:sp>
      </p:grpSp>
      <p:grpSp>
        <p:nvGrpSpPr>
          <p:cNvPr id="36" name="Group 23">
            <a:extLst>
              <a:ext uri="{FF2B5EF4-FFF2-40B4-BE49-F238E27FC236}">
                <a16:creationId xmlns:a16="http://schemas.microsoft.com/office/drawing/2014/main" id="{E02C5361-610C-C2E2-79B7-D6683B2B5CFA}"/>
              </a:ext>
            </a:extLst>
          </p:cNvPr>
          <p:cNvGrpSpPr/>
          <p:nvPr/>
        </p:nvGrpSpPr>
        <p:grpSpPr>
          <a:xfrm>
            <a:off x="2138872" y="6802082"/>
            <a:ext cx="14010256" cy="1794059"/>
            <a:chOff x="0" y="0"/>
            <a:chExt cx="3689944" cy="472509"/>
          </a:xfrm>
        </p:grpSpPr>
        <p:sp>
          <p:nvSpPr>
            <p:cNvPr id="37" name="Freeform 24">
              <a:extLst>
                <a:ext uri="{FF2B5EF4-FFF2-40B4-BE49-F238E27FC236}">
                  <a16:creationId xmlns:a16="http://schemas.microsoft.com/office/drawing/2014/main" id="{A1877561-9B2F-9BFF-A4C4-C465D7DF9C16}"/>
                </a:ext>
              </a:extLst>
            </p:cNvPr>
            <p:cNvSpPr/>
            <p:nvPr/>
          </p:nvSpPr>
          <p:spPr>
            <a:xfrm>
              <a:off x="0" y="0"/>
              <a:ext cx="3689944" cy="472509"/>
            </a:xfrm>
            <a:custGeom>
              <a:avLst/>
              <a:gdLst/>
              <a:ahLst/>
              <a:cxnLst/>
              <a:rect l="l" t="t" r="r" b="b"/>
              <a:pathLst>
                <a:path w="3689944" h="472509">
                  <a:moveTo>
                    <a:pt x="0" y="0"/>
                  </a:moveTo>
                  <a:lnTo>
                    <a:pt x="3689944" y="0"/>
                  </a:lnTo>
                  <a:lnTo>
                    <a:pt x="3689944" y="472509"/>
                  </a:lnTo>
                  <a:lnTo>
                    <a:pt x="0" y="472509"/>
                  </a:lnTo>
                  <a:close/>
                </a:path>
              </a:pathLst>
            </a:custGeom>
            <a:solidFill>
              <a:srgbClr val="E9E9E9"/>
            </a:solidFill>
          </p:spPr>
          <p:txBody>
            <a:bodyPr/>
            <a:lstStyle/>
            <a:p>
              <a:endParaRPr lang="ja-JP" altLang="en-US">
                <a:latin typeface="Yu Gothic" panose="020B0400000000000000" pitchFamily="34" charset="-128"/>
                <a:ea typeface="Yu Gothic" panose="020B0400000000000000" pitchFamily="34" charset="-128"/>
              </a:endParaRPr>
            </a:p>
          </p:txBody>
        </p:sp>
        <p:sp>
          <p:nvSpPr>
            <p:cNvPr id="38" name="TextBox 25">
              <a:extLst>
                <a:ext uri="{FF2B5EF4-FFF2-40B4-BE49-F238E27FC236}">
                  <a16:creationId xmlns:a16="http://schemas.microsoft.com/office/drawing/2014/main" id="{C02664C7-72C6-7C21-FE2B-9A64F41FE6E6}"/>
                </a:ext>
              </a:extLst>
            </p:cNvPr>
            <p:cNvSpPr txBox="1"/>
            <p:nvPr/>
          </p:nvSpPr>
          <p:spPr>
            <a:xfrm>
              <a:off x="0" y="-47625"/>
              <a:ext cx="3689944" cy="520134"/>
            </a:xfrm>
            <a:prstGeom prst="rect">
              <a:avLst/>
            </a:prstGeom>
          </p:spPr>
          <p:txBody>
            <a:bodyPr lIns="50800" tIns="50800" rIns="50800" bIns="50800" rtlCol="0" anchor="ctr"/>
            <a:lstStyle/>
            <a:p>
              <a:pPr algn="ctr">
                <a:lnSpc>
                  <a:spcPts val="3359"/>
                </a:lnSpc>
              </a:pPr>
              <a:endParaRPr>
                <a:latin typeface="Yu Gothic" panose="020B0400000000000000" pitchFamily="34" charset="-128"/>
                <a:ea typeface="Yu Gothic" panose="020B0400000000000000" pitchFamily="34" charset="-128"/>
              </a:endParaRPr>
            </a:p>
          </p:txBody>
        </p:sp>
      </p:grpSp>
      <p:grpSp>
        <p:nvGrpSpPr>
          <p:cNvPr id="40" name="Group 12">
            <a:extLst>
              <a:ext uri="{FF2B5EF4-FFF2-40B4-BE49-F238E27FC236}">
                <a16:creationId xmlns:a16="http://schemas.microsoft.com/office/drawing/2014/main" id="{136C6EA8-64DE-6BD6-BABD-86FDCB656EAD}"/>
              </a:ext>
            </a:extLst>
          </p:cNvPr>
          <p:cNvGrpSpPr/>
          <p:nvPr/>
        </p:nvGrpSpPr>
        <p:grpSpPr>
          <a:xfrm>
            <a:off x="2138872" y="3004415"/>
            <a:ext cx="14010256" cy="1794059"/>
            <a:chOff x="0" y="0"/>
            <a:chExt cx="3689944" cy="472509"/>
          </a:xfrm>
        </p:grpSpPr>
        <p:sp>
          <p:nvSpPr>
            <p:cNvPr id="44" name="Freeform 13">
              <a:extLst>
                <a:ext uri="{FF2B5EF4-FFF2-40B4-BE49-F238E27FC236}">
                  <a16:creationId xmlns:a16="http://schemas.microsoft.com/office/drawing/2014/main" id="{6B1AD997-3FAB-D8B3-26B7-AD62A7485DEB}"/>
                </a:ext>
              </a:extLst>
            </p:cNvPr>
            <p:cNvSpPr/>
            <p:nvPr/>
          </p:nvSpPr>
          <p:spPr>
            <a:xfrm>
              <a:off x="0" y="0"/>
              <a:ext cx="3689944" cy="472509"/>
            </a:xfrm>
            <a:custGeom>
              <a:avLst/>
              <a:gdLst/>
              <a:ahLst/>
              <a:cxnLst/>
              <a:rect l="l" t="t" r="r" b="b"/>
              <a:pathLst>
                <a:path w="3689944" h="472509">
                  <a:moveTo>
                    <a:pt x="0" y="0"/>
                  </a:moveTo>
                  <a:lnTo>
                    <a:pt x="3689944" y="0"/>
                  </a:lnTo>
                  <a:lnTo>
                    <a:pt x="3689944" y="472509"/>
                  </a:lnTo>
                  <a:lnTo>
                    <a:pt x="0" y="472509"/>
                  </a:lnTo>
                  <a:close/>
                </a:path>
              </a:pathLst>
            </a:custGeom>
            <a:solidFill>
              <a:srgbClr val="E9E9E9"/>
            </a:solidFill>
          </p:spPr>
          <p:txBody>
            <a:bodyPr/>
            <a:lstStyle/>
            <a:p>
              <a:endParaRPr lang="ja-JP" altLang="en-US">
                <a:latin typeface="Yu Gothic" panose="020B0400000000000000" pitchFamily="34" charset="-128"/>
                <a:ea typeface="Yu Gothic" panose="020B0400000000000000" pitchFamily="34" charset="-128"/>
              </a:endParaRPr>
            </a:p>
          </p:txBody>
        </p:sp>
        <p:sp>
          <p:nvSpPr>
            <p:cNvPr id="45" name="TextBox 14">
              <a:extLst>
                <a:ext uri="{FF2B5EF4-FFF2-40B4-BE49-F238E27FC236}">
                  <a16:creationId xmlns:a16="http://schemas.microsoft.com/office/drawing/2014/main" id="{D4353633-1290-E7FD-9258-4CD569362B81}"/>
                </a:ext>
              </a:extLst>
            </p:cNvPr>
            <p:cNvSpPr txBox="1"/>
            <p:nvPr/>
          </p:nvSpPr>
          <p:spPr>
            <a:xfrm>
              <a:off x="0" y="-47625"/>
              <a:ext cx="3689944" cy="520134"/>
            </a:xfrm>
            <a:prstGeom prst="rect">
              <a:avLst/>
            </a:prstGeom>
          </p:spPr>
          <p:txBody>
            <a:bodyPr lIns="50800" tIns="50800" rIns="50800" bIns="50800" rtlCol="0" anchor="ctr"/>
            <a:lstStyle/>
            <a:p>
              <a:pPr algn="ctr">
                <a:lnSpc>
                  <a:spcPts val="3359"/>
                </a:lnSpc>
              </a:pPr>
              <a:endParaRPr>
                <a:latin typeface="Yu Gothic" panose="020B0400000000000000" pitchFamily="34" charset="-128"/>
                <a:ea typeface="Yu Gothic" panose="020B0400000000000000" pitchFamily="34" charset="-128"/>
              </a:endParaRPr>
            </a:p>
          </p:txBody>
        </p:sp>
      </p:grpSp>
      <p:sp>
        <p:nvSpPr>
          <p:cNvPr id="41" name="AutoShape 15">
            <a:extLst>
              <a:ext uri="{FF2B5EF4-FFF2-40B4-BE49-F238E27FC236}">
                <a16:creationId xmlns:a16="http://schemas.microsoft.com/office/drawing/2014/main" id="{0F49303E-5727-B369-CF80-8198396975CB}"/>
              </a:ext>
            </a:extLst>
          </p:cNvPr>
          <p:cNvSpPr/>
          <p:nvPr/>
        </p:nvSpPr>
        <p:spPr>
          <a:xfrm flipH="1">
            <a:off x="6705600" y="3521694"/>
            <a:ext cx="0" cy="759500"/>
          </a:xfrm>
          <a:prstGeom prst="line">
            <a:avLst/>
          </a:prstGeom>
          <a:ln w="9525" cap="flat">
            <a:solidFill>
              <a:srgbClr val="737373"/>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42" name="TextBox 16">
            <a:extLst>
              <a:ext uri="{FF2B5EF4-FFF2-40B4-BE49-F238E27FC236}">
                <a16:creationId xmlns:a16="http://schemas.microsoft.com/office/drawing/2014/main" id="{FAF3133D-9435-A70A-6131-661C3908506C}"/>
              </a:ext>
            </a:extLst>
          </p:cNvPr>
          <p:cNvSpPr txBox="1"/>
          <p:nvPr/>
        </p:nvSpPr>
        <p:spPr>
          <a:xfrm>
            <a:off x="2316732" y="3692251"/>
            <a:ext cx="3813321" cy="425950"/>
          </a:xfrm>
          <a:prstGeom prst="rect">
            <a:avLst/>
          </a:prstGeom>
        </p:spPr>
        <p:txBody>
          <a:bodyPr wrap="square" lIns="0" tIns="0" rIns="0" bIns="0" rtlCol="0" anchor="t">
            <a:spAutoFit/>
          </a:bodyPr>
          <a:lstStyle/>
          <a:p>
            <a:pPr marL="0" lvl="0" indent="0" algn="l">
              <a:lnSpc>
                <a:spcPts val="3499"/>
              </a:lnSpc>
              <a:spcBef>
                <a:spcPct val="0"/>
              </a:spcBef>
            </a:pPr>
            <a:r>
              <a:rPr lang="en-US" altLang="ja-JP" sz="2499" b="1" u="none" strike="noStrike" spc="124" dirty="0" err="1">
                <a:solidFill>
                  <a:srgbClr val="1B1B1B"/>
                </a:solidFill>
                <a:latin typeface="Yu Gothic" panose="020B0400000000000000" pitchFamily="34" charset="-128"/>
                <a:ea typeface="Yu Gothic" panose="020B0400000000000000" pitchFamily="34" charset="-128"/>
                <a:cs typeface="Noto Sans JP Heavy"/>
                <a:sym typeface="Noto Sans JP Heavy"/>
              </a:rPr>
              <a:t>pyannote.audio</a:t>
            </a:r>
            <a:endParaRPr lang="en-US" altLang="ja-JP" sz="2499" b="1" u="none" strike="noStrike" spc="124" dirty="0">
              <a:solidFill>
                <a:srgbClr val="1B1B1B"/>
              </a:solidFill>
              <a:latin typeface="Yu Gothic" panose="020B0400000000000000" pitchFamily="34" charset="-128"/>
              <a:ea typeface="Yu Gothic" panose="020B0400000000000000" pitchFamily="34" charset="-128"/>
              <a:cs typeface="Noto Sans JP Heavy"/>
              <a:sym typeface="Noto Sans JP Heavy"/>
            </a:endParaRPr>
          </a:p>
        </p:txBody>
      </p:sp>
      <p:sp>
        <p:nvSpPr>
          <p:cNvPr id="43" name="TextBox 17">
            <a:extLst>
              <a:ext uri="{FF2B5EF4-FFF2-40B4-BE49-F238E27FC236}">
                <a16:creationId xmlns:a16="http://schemas.microsoft.com/office/drawing/2014/main" id="{10485194-44C3-ECE6-2DB5-E0B8383139DD}"/>
              </a:ext>
            </a:extLst>
          </p:cNvPr>
          <p:cNvSpPr txBox="1"/>
          <p:nvPr/>
        </p:nvSpPr>
        <p:spPr>
          <a:xfrm>
            <a:off x="7233576" y="3460067"/>
            <a:ext cx="8194277" cy="887359"/>
          </a:xfrm>
          <a:prstGeom prst="rect">
            <a:avLst/>
          </a:prstGeom>
        </p:spPr>
        <p:txBody>
          <a:bodyPr lIns="0" tIns="0" rIns="0" bIns="0" rtlCol="0" anchor="t">
            <a:spAutoFit/>
          </a:bodyPr>
          <a:lstStyle/>
          <a:p>
            <a:pPr algn="l">
              <a:lnSpc>
                <a:spcPts val="3600"/>
              </a:lnSpc>
            </a:pPr>
            <a:r>
              <a:rPr lang="en-US" sz="2400" spc="100" dirty="0" err="1">
                <a:solidFill>
                  <a:srgbClr val="1B1B1B"/>
                </a:solidFill>
                <a:latin typeface="Yu Gothic" panose="020B0400000000000000" pitchFamily="34" charset="-128"/>
                <a:ea typeface="Yu Gothic" panose="020B0400000000000000" pitchFamily="34" charset="-128"/>
                <a:cs typeface="Noto Sans JP"/>
                <a:sym typeface="Noto Sans JP"/>
              </a:rPr>
              <a:t>Pythonのオープンソースフレームワーク</a:t>
            </a:r>
            <a:endParaRPr lang="en-US" sz="2400" spc="100" dirty="0">
              <a:solidFill>
                <a:srgbClr val="1B1B1B"/>
              </a:solidFill>
              <a:latin typeface="Yu Gothic" panose="020B0400000000000000" pitchFamily="34" charset="-128"/>
              <a:ea typeface="Yu Gothic" panose="020B0400000000000000" pitchFamily="34" charset="-128"/>
              <a:cs typeface="Noto Sans JP"/>
              <a:sym typeface="Noto Sans JP"/>
            </a:endParaRPr>
          </a:p>
          <a:p>
            <a:pPr algn="l">
              <a:lnSpc>
                <a:spcPts val="3600"/>
              </a:lnSpc>
            </a:pPr>
            <a:r>
              <a:rPr lang="en-US" sz="2400" spc="100" dirty="0" err="1">
                <a:solidFill>
                  <a:srgbClr val="1B1B1B"/>
                </a:solidFill>
                <a:latin typeface="Yu Gothic" panose="020B0400000000000000" pitchFamily="34" charset="-128"/>
                <a:ea typeface="Yu Gothic" panose="020B0400000000000000" pitchFamily="34" charset="-128"/>
                <a:cs typeface="Noto Sans JP"/>
                <a:sym typeface="Noto Sans JP"/>
              </a:rPr>
              <a:t>機械学習のフレームワークPyTorchに基づいている</a:t>
            </a:r>
            <a:endParaRPr lang="en-US" sz="2400" spc="100" dirty="0">
              <a:solidFill>
                <a:srgbClr val="1B1B1B"/>
              </a:solidFill>
              <a:latin typeface="Yu Gothic" panose="020B0400000000000000" pitchFamily="34" charset="-128"/>
              <a:ea typeface="Yu Gothic" panose="020B0400000000000000" pitchFamily="34" charset="-128"/>
              <a:cs typeface="Noto Sans JP"/>
              <a:sym typeface="Noto Sans JP"/>
            </a:endParaRPr>
          </a:p>
        </p:txBody>
      </p:sp>
      <p:sp>
        <p:nvSpPr>
          <p:cNvPr id="46" name="TextBox 22">
            <a:extLst>
              <a:ext uri="{FF2B5EF4-FFF2-40B4-BE49-F238E27FC236}">
                <a16:creationId xmlns:a16="http://schemas.microsoft.com/office/drawing/2014/main" id="{BDE24545-5FFD-6D01-B3B1-B6B37222B409}"/>
              </a:ext>
            </a:extLst>
          </p:cNvPr>
          <p:cNvSpPr txBox="1"/>
          <p:nvPr/>
        </p:nvSpPr>
        <p:spPr>
          <a:xfrm>
            <a:off x="7233576" y="5628079"/>
            <a:ext cx="8194277" cy="432939"/>
          </a:xfrm>
          <a:prstGeom prst="rect">
            <a:avLst/>
          </a:prstGeom>
        </p:spPr>
        <p:txBody>
          <a:bodyPr lIns="0" tIns="0" rIns="0" bIns="0" rtlCol="0" anchor="t">
            <a:spAutoFit/>
          </a:bodyPr>
          <a:lstStyle/>
          <a:p>
            <a:pPr algn="l">
              <a:lnSpc>
                <a:spcPts val="3600"/>
              </a:lnSpc>
            </a:pPr>
            <a:r>
              <a:rPr lang="en-US" altLang="ja-JP" sz="2400" spc="100" dirty="0">
                <a:solidFill>
                  <a:srgbClr val="1B1B1B"/>
                </a:solidFill>
                <a:latin typeface="Yu Gothic" panose="020B0400000000000000" pitchFamily="34" charset="-128"/>
                <a:ea typeface="Yu Gothic" panose="020B0400000000000000" pitchFamily="34" charset="-128"/>
                <a:cs typeface="Noto Sans JP"/>
                <a:sym typeface="Noto Sans JP"/>
              </a:rPr>
              <a:t>Google Cloud</a:t>
            </a:r>
            <a:r>
              <a:rPr lang="ja-JP" altLang="en-US" sz="2400" spc="100">
                <a:solidFill>
                  <a:srgbClr val="1B1B1B"/>
                </a:solidFill>
                <a:latin typeface="Yu Gothic" panose="020B0400000000000000" pitchFamily="34" charset="-128"/>
                <a:ea typeface="Yu Gothic" panose="020B0400000000000000" pitchFamily="34" charset="-128"/>
                <a:cs typeface="Noto Sans JP"/>
                <a:sym typeface="Noto Sans JP"/>
              </a:rPr>
              <a:t>の</a:t>
            </a:r>
            <a:r>
              <a:rPr lang="en-US" altLang="ja-JP" sz="2400" spc="100" dirty="0">
                <a:solidFill>
                  <a:srgbClr val="1B1B1B"/>
                </a:solidFill>
                <a:latin typeface="Yu Gothic" panose="020B0400000000000000" pitchFamily="34" charset="-128"/>
                <a:ea typeface="Yu Gothic" panose="020B0400000000000000" pitchFamily="34" charset="-128"/>
                <a:cs typeface="Noto Sans JP"/>
                <a:sym typeface="Noto Sans JP"/>
              </a:rPr>
              <a:t>Speech-to-Text</a:t>
            </a:r>
            <a:r>
              <a:rPr lang="ja-JP" altLang="en-US" sz="2400" spc="100">
                <a:solidFill>
                  <a:srgbClr val="1B1B1B"/>
                </a:solidFill>
                <a:latin typeface="Yu Gothic" panose="020B0400000000000000" pitchFamily="34" charset="-128"/>
                <a:ea typeface="Yu Gothic" panose="020B0400000000000000" pitchFamily="34" charset="-128"/>
                <a:cs typeface="Noto Sans JP"/>
                <a:sym typeface="Noto Sans JP"/>
              </a:rPr>
              <a:t>に付随する機能</a:t>
            </a:r>
            <a:endParaRPr lang="en-US" altLang="ja-JP" sz="2400" spc="100" dirty="0">
              <a:solidFill>
                <a:srgbClr val="1B1B1B"/>
              </a:solidFill>
              <a:latin typeface="Yu Gothic" panose="020B0400000000000000" pitchFamily="34" charset="-128"/>
              <a:ea typeface="Yu Gothic" panose="020B0400000000000000" pitchFamily="34" charset="-128"/>
              <a:cs typeface="Noto Sans JP"/>
              <a:sym typeface="Noto Sans JP"/>
            </a:endParaRPr>
          </a:p>
        </p:txBody>
      </p:sp>
      <p:sp>
        <p:nvSpPr>
          <p:cNvPr id="47" name="TextBox 26">
            <a:extLst>
              <a:ext uri="{FF2B5EF4-FFF2-40B4-BE49-F238E27FC236}">
                <a16:creationId xmlns:a16="http://schemas.microsoft.com/office/drawing/2014/main" id="{996D7479-E850-254D-C589-48049D07CF34}"/>
              </a:ext>
            </a:extLst>
          </p:cNvPr>
          <p:cNvSpPr txBox="1"/>
          <p:nvPr/>
        </p:nvSpPr>
        <p:spPr>
          <a:xfrm>
            <a:off x="2316732" y="7489438"/>
            <a:ext cx="3425782" cy="425950"/>
          </a:xfrm>
          <a:prstGeom prst="rect">
            <a:avLst/>
          </a:prstGeom>
        </p:spPr>
        <p:txBody>
          <a:bodyPr lIns="0" tIns="0" rIns="0" bIns="0" rtlCol="0" anchor="t">
            <a:spAutoFit/>
          </a:bodyPr>
          <a:lstStyle/>
          <a:p>
            <a:pPr algn="l">
              <a:lnSpc>
                <a:spcPts val="3499"/>
              </a:lnSpc>
            </a:pPr>
            <a:r>
              <a:rPr lang="en-US" sz="2499" b="1" spc="124" dirty="0" err="1">
                <a:solidFill>
                  <a:srgbClr val="1B1B1B"/>
                </a:solidFill>
                <a:latin typeface="Yu Gothic" panose="020B0400000000000000" pitchFamily="34" charset="-128"/>
                <a:ea typeface="Yu Gothic" panose="020B0400000000000000" pitchFamily="34" charset="-128"/>
                <a:cs typeface="Noto Sans JP Heavy"/>
                <a:sym typeface="Noto Sans JP Heavy"/>
              </a:rPr>
              <a:t>Deepgram</a:t>
            </a:r>
            <a:endParaRPr lang="en-US" sz="2499" b="1" spc="124" dirty="0">
              <a:solidFill>
                <a:srgbClr val="1B1B1B"/>
              </a:solidFill>
              <a:latin typeface="Yu Gothic" panose="020B0400000000000000" pitchFamily="34" charset="-128"/>
              <a:ea typeface="Yu Gothic" panose="020B0400000000000000" pitchFamily="34" charset="-128"/>
              <a:cs typeface="Noto Sans JP Heavy"/>
              <a:sym typeface="Noto Sans JP Heavy"/>
            </a:endParaRPr>
          </a:p>
        </p:txBody>
      </p:sp>
      <p:sp>
        <p:nvSpPr>
          <p:cNvPr id="48" name="TextBox 27">
            <a:extLst>
              <a:ext uri="{FF2B5EF4-FFF2-40B4-BE49-F238E27FC236}">
                <a16:creationId xmlns:a16="http://schemas.microsoft.com/office/drawing/2014/main" id="{DBB4D63C-FDB9-3D8F-0651-0402B56E2801}"/>
              </a:ext>
            </a:extLst>
          </p:cNvPr>
          <p:cNvSpPr txBox="1"/>
          <p:nvPr/>
        </p:nvSpPr>
        <p:spPr>
          <a:xfrm>
            <a:off x="7233576" y="7258189"/>
            <a:ext cx="9149423" cy="894604"/>
          </a:xfrm>
          <a:prstGeom prst="rect">
            <a:avLst/>
          </a:prstGeom>
        </p:spPr>
        <p:txBody>
          <a:bodyPr wrap="square" lIns="0" tIns="0" rIns="0" bIns="0" rtlCol="0" anchor="t">
            <a:spAutoFit/>
          </a:bodyPr>
          <a:lstStyle/>
          <a:p>
            <a:pPr algn="l">
              <a:lnSpc>
                <a:spcPts val="3600"/>
              </a:lnSpc>
            </a:pPr>
            <a:r>
              <a:rPr lang="en-US" sz="2400" spc="100" dirty="0">
                <a:solidFill>
                  <a:srgbClr val="1B1B1B"/>
                </a:solidFill>
                <a:latin typeface="Yu Gothic" panose="020B0400000000000000" pitchFamily="34" charset="-128"/>
                <a:ea typeface="Yu Gothic" panose="020B0400000000000000" pitchFamily="34" charset="-128"/>
                <a:cs typeface="Noto Sans JP"/>
                <a:sym typeface="Noto Sans JP"/>
              </a:rPr>
              <a:t>2015年に設立したスタートアップ企業のサービス</a:t>
            </a:r>
          </a:p>
          <a:p>
            <a:pPr algn="l">
              <a:lnSpc>
                <a:spcPts val="3600"/>
              </a:lnSpc>
            </a:pPr>
            <a:r>
              <a:rPr lang="en-US" sz="2400" spc="100" dirty="0" err="1">
                <a:solidFill>
                  <a:srgbClr val="1B1B1B"/>
                </a:solidFill>
                <a:latin typeface="Yu Gothic" panose="020B0400000000000000" pitchFamily="34" charset="-128"/>
                <a:ea typeface="Yu Gothic" panose="020B0400000000000000" pitchFamily="34" charset="-128"/>
                <a:cs typeface="Noto Sans JP"/>
                <a:sym typeface="Noto Sans JP"/>
              </a:rPr>
              <a:t>AIを用いた企業向けの音声認識に特化している</a:t>
            </a:r>
            <a:endParaRPr lang="en-US" sz="2400" spc="100" dirty="0">
              <a:solidFill>
                <a:srgbClr val="1B1B1B"/>
              </a:solidFill>
              <a:latin typeface="Yu Gothic" panose="020B0400000000000000" pitchFamily="34" charset="-128"/>
              <a:ea typeface="Yu Gothic" panose="020B0400000000000000" pitchFamily="34" charset="-128"/>
              <a:cs typeface="Noto Sans JP"/>
              <a:sym typeface="Noto Sans JP"/>
            </a:endParaRPr>
          </a:p>
        </p:txBody>
      </p:sp>
      <p:sp>
        <p:nvSpPr>
          <p:cNvPr id="49" name="AutoShape 28">
            <a:extLst>
              <a:ext uri="{FF2B5EF4-FFF2-40B4-BE49-F238E27FC236}">
                <a16:creationId xmlns:a16="http://schemas.microsoft.com/office/drawing/2014/main" id="{53EB57D1-7476-473B-A30F-4C761AD4EBA7}"/>
              </a:ext>
            </a:extLst>
          </p:cNvPr>
          <p:cNvSpPr/>
          <p:nvPr/>
        </p:nvSpPr>
        <p:spPr>
          <a:xfrm flipH="1">
            <a:off x="6705600" y="5420527"/>
            <a:ext cx="0" cy="759500"/>
          </a:xfrm>
          <a:prstGeom prst="line">
            <a:avLst/>
          </a:prstGeom>
          <a:ln w="9525" cap="flat">
            <a:solidFill>
              <a:srgbClr val="737373"/>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50" name="AutoShape 29">
            <a:extLst>
              <a:ext uri="{FF2B5EF4-FFF2-40B4-BE49-F238E27FC236}">
                <a16:creationId xmlns:a16="http://schemas.microsoft.com/office/drawing/2014/main" id="{A1410A5C-90CD-D063-69A1-B8A3DA457BC1}"/>
              </a:ext>
            </a:extLst>
          </p:cNvPr>
          <p:cNvSpPr/>
          <p:nvPr/>
        </p:nvSpPr>
        <p:spPr>
          <a:xfrm flipH="1">
            <a:off x="6705600" y="7319361"/>
            <a:ext cx="0" cy="759500"/>
          </a:xfrm>
          <a:prstGeom prst="line">
            <a:avLst/>
          </a:prstGeom>
          <a:ln w="9525" cap="flat">
            <a:solidFill>
              <a:srgbClr val="737373"/>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51" name="テキスト ボックス 50">
            <a:extLst>
              <a:ext uri="{FF2B5EF4-FFF2-40B4-BE49-F238E27FC236}">
                <a16:creationId xmlns:a16="http://schemas.microsoft.com/office/drawing/2014/main" id="{77634B4A-516B-1041-5B61-EED72A08110F}"/>
              </a:ext>
            </a:extLst>
          </p:cNvPr>
          <p:cNvSpPr txBox="1"/>
          <p:nvPr/>
        </p:nvSpPr>
        <p:spPr>
          <a:xfrm>
            <a:off x="2316732" y="5362207"/>
            <a:ext cx="4267197" cy="960519"/>
          </a:xfrm>
          <a:prstGeom prst="rect">
            <a:avLst/>
          </a:prstGeom>
          <a:noFill/>
        </p:spPr>
        <p:txBody>
          <a:bodyPr wrap="square">
            <a:spAutoFit/>
          </a:bodyPr>
          <a:lstStyle/>
          <a:p>
            <a:pPr marL="0" marR="0" lvl="0" indent="0" algn="l" defTabSz="914400" rtl="0" eaLnBrk="1" fontAlgn="auto" latinLnBrk="0" hangingPunct="1">
              <a:lnSpc>
                <a:spcPts val="3499"/>
              </a:lnSpc>
              <a:spcBef>
                <a:spcPts val="0"/>
              </a:spcBef>
              <a:spcAft>
                <a:spcPts val="0"/>
              </a:spcAft>
              <a:buClrTx/>
              <a:buSzTx/>
              <a:buFontTx/>
              <a:buNone/>
              <a:tabLst/>
              <a:defRPr/>
            </a:pPr>
            <a:r>
              <a:rPr kumimoji="0" lang="en-US" altLang="ja-JP" sz="2499" b="1" i="0" u="none" strike="noStrike" kern="1200" cap="none" spc="124" normalizeH="0" baseline="0" noProof="0" dirty="0">
                <a:ln>
                  <a:noFill/>
                </a:ln>
                <a:solidFill>
                  <a:srgbClr val="1B1B1B"/>
                </a:solidFill>
                <a:effectLst/>
                <a:uLnTx/>
                <a:uFillTx/>
                <a:latin typeface="Yu Gothic" panose="020B0400000000000000" pitchFamily="34" charset="-128"/>
                <a:ea typeface="Yu Gothic" panose="020B0400000000000000" pitchFamily="34" charset="-128"/>
                <a:cs typeface="Noto Sans JP Heavy"/>
                <a:sym typeface="Noto Sans JP Heavy"/>
              </a:rPr>
              <a:t>Google Cloud</a:t>
            </a:r>
          </a:p>
          <a:p>
            <a:pPr marL="0" marR="0" lvl="0" indent="0" algn="l" defTabSz="914400" rtl="0" eaLnBrk="1" fontAlgn="auto" latinLnBrk="0" hangingPunct="1">
              <a:lnSpc>
                <a:spcPts val="3499"/>
              </a:lnSpc>
              <a:spcBef>
                <a:spcPts val="0"/>
              </a:spcBef>
              <a:spcAft>
                <a:spcPts val="0"/>
              </a:spcAft>
              <a:buClrTx/>
              <a:buSzTx/>
              <a:buFontTx/>
              <a:buNone/>
              <a:tabLst/>
              <a:defRPr/>
            </a:pPr>
            <a:r>
              <a:rPr lang="ja-JP" altLang="en-US" sz="2499" b="1" spc="124">
                <a:solidFill>
                  <a:srgbClr val="1B1B1B"/>
                </a:solidFill>
                <a:latin typeface="Yu Gothic" panose="020B0400000000000000" pitchFamily="34" charset="-128"/>
                <a:ea typeface="Yu Gothic" panose="020B0400000000000000" pitchFamily="34" charset="-128"/>
                <a:cs typeface="Noto Sans JP Heavy"/>
                <a:sym typeface="Noto Sans JP Heavy"/>
              </a:rPr>
              <a:t>話者ダイアライゼーション</a:t>
            </a:r>
            <a:endParaRPr kumimoji="0" lang="en-US" altLang="ja-JP" sz="2499" b="1" i="0" u="none" strike="noStrike" kern="1200" cap="none" spc="124" normalizeH="0" baseline="0" noProof="0" dirty="0">
              <a:ln>
                <a:noFill/>
              </a:ln>
              <a:solidFill>
                <a:srgbClr val="1B1B1B"/>
              </a:solidFill>
              <a:effectLst/>
              <a:uLnTx/>
              <a:uFillTx/>
              <a:latin typeface="Yu Gothic" panose="020B0400000000000000" pitchFamily="34" charset="-128"/>
              <a:ea typeface="Yu Gothic" panose="020B0400000000000000" pitchFamily="34" charset="-128"/>
              <a:cs typeface="Noto Sans JP Heavy"/>
              <a:sym typeface="Noto Sans JP Heavy"/>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DA1C0-A378-F5F1-C63E-E6F02B00DBB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E6E127E-A967-9998-72DE-FEBBB34AB6B7}"/>
              </a:ext>
            </a:extLst>
          </p:cNvPr>
          <p:cNvSpPr/>
          <p:nvPr/>
        </p:nvSpPr>
        <p:spPr>
          <a:xfrm>
            <a:off x="857250" y="2361305"/>
            <a:ext cx="16573500"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3" name="AutoShape 3">
            <a:extLst>
              <a:ext uri="{FF2B5EF4-FFF2-40B4-BE49-F238E27FC236}">
                <a16:creationId xmlns:a16="http://schemas.microsoft.com/office/drawing/2014/main" id="{CF96EB86-FB5D-5B85-C75C-236268D02D5D}"/>
              </a:ext>
            </a:extLst>
          </p:cNvPr>
          <p:cNvSpPr/>
          <p:nvPr/>
        </p:nvSpPr>
        <p:spPr>
          <a:xfrm>
            <a:off x="857250" y="1047750"/>
            <a:ext cx="16573459"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4" name="AutoShape 4">
            <a:extLst>
              <a:ext uri="{FF2B5EF4-FFF2-40B4-BE49-F238E27FC236}">
                <a16:creationId xmlns:a16="http://schemas.microsoft.com/office/drawing/2014/main" id="{E1F04E7B-CDD7-965B-F4E3-F2BAFC4886C5}"/>
              </a:ext>
            </a:extLst>
          </p:cNvPr>
          <p:cNvSpPr/>
          <p:nvPr/>
        </p:nvSpPr>
        <p:spPr>
          <a:xfrm flipV="1">
            <a:off x="856856" y="904405"/>
            <a:ext cx="16574288"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5" name="AutoShape 5">
            <a:extLst>
              <a:ext uri="{FF2B5EF4-FFF2-40B4-BE49-F238E27FC236}">
                <a16:creationId xmlns:a16="http://schemas.microsoft.com/office/drawing/2014/main" id="{5602B31E-ABE4-EC4C-625A-8D1E0B2D5A1E}"/>
              </a:ext>
            </a:extLst>
          </p:cNvPr>
          <p:cNvSpPr/>
          <p:nvPr/>
        </p:nvSpPr>
        <p:spPr>
          <a:xfrm>
            <a:off x="857250" y="9382595"/>
            <a:ext cx="16573500"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6" name="AutoShape 6">
            <a:extLst>
              <a:ext uri="{FF2B5EF4-FFF2-40B4-BE49-F238E27FC236}">
                <a16:creationId xmlns:a16="http://schemas.microsoft.com/office/drawing/2014/main" id="{F07CEC51-C307-D081-6171-6605D6860B9D}"/>
              </a:ext>
            </a:extLst>
          </p:cNvPr>
          <p:cNvSpPr/>
          <p:nvPr/>
        </p:nvSpPr>
        <p:spPr>
          <a:xfrm>
            <a:off x="857250" y="9239250"/>
            <a:ext cx="16573500"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grpSp>
        <p:nvGrpSpPr>
          <p:cNvPr id="7" name="Group 7">
            <a:extLst>
              <a:ext uri="{FF2B5EF4-FFF2-40B4-BE49-F238E27FC236}">
                <a16:creationId xmlns:a16="http://schemas.microsoft.com/office/drawing/2014/main" id="{732777FE-BDC1-D4A3-7CF0-C9F3C7A77916}"/>
              </a:ext>
            </a:extLst>
          </p:cNvPr>
          <p:cNvGrpSpPr/>
          <p:nvPr/>
        </p:nvGrpSpPr>
        <p:grpSpPr>
          <a:xfrm>
            <a:off x="1282599" y="650625"/>
            <a:ext cx="1213487" cy="1720205"/>
            <a:chOff x="0" y="0"/>
            <a:chExt cx="319601" cy="453058"/>
          </a:xfrm>
        </p:grpSpPr>
        <p:sp>
          <p:nvSpPr>
            <p:cNvPr id="8" name="Freeform 8">
              <a:extLst>
                <a:ext uri="{FF2B5EF4-FFF2-40B4-BE49-F238E27FC236}">
                  <a16:creationId xmlns:a16="http://schemas.microsoft.com/office/drawing/2014/main" id="{99B0CC95-2E11-66A1-5A14-57B135AB44A9}"/>
                </a:ext>
              </a:extLst>
            </p:cNvPr>
            <p:cNvSpPr/>
            <p:nvPr/>
          </p:nvSpPr>
          <p:spPr>
            <a:xfrm>
              <a:off x="0" y="0"/>
              <a:ext cx="319601" cy="453058"/>
            </a:xfrm>
            <a:custGeom>
              <a:avLst/>
              <a:gdLst/>
              <a:ahLst/>
              <a:cxnLst/>
              <a:rect l="l" t="t" r="r" b="b"/>
              <a:pathLst>
                <a:path w="319601" h="453058">
                  <a:moveTo>
                    <a:pt x="0" y="0"/>
                  </a:moveTo>
                  <a:lnTo>
                    <a:pt x="319601" y="0"/>
                  </a:lnTo>
                  <a:lnTo>
                    <a:pt x="319601" y="453058"/>
                  </a:lnTo>
                  <a:lnTo>
                    <a:pt x="0" y="453058"/>
                  </a:lnTo>
                  <a:close/>
                </a:path>
              </a:pathLst>
            </a:custGeom>
            <a:solidFill>
              <a:srgbClr val="1B1B1B"/>
            </a:solidFill>
          </p:spPr>
          <p:txBody>
            <a:bodyPr/>
            <a:lstStyle/>
            <a:p>
              <a:endParaRPr lang="ja-JP" altLang="en-US">
                <a:latin typeface="Yu Gothic" panose="020B0400000000000000" pitchFamily="34" charset="-128"/>
                <a:ea typeface="Yu Gothic" panose="020B0400000000000000" pitchFamily="34" charset="-128"/>
              </a:endParaRPr>
            </a:p>
          </p:txBody>
        </p:sp>
        <p:sp>
          <p:nvSpPr>
            <p:cNvPr id="9" name="TextBox 9">
              <a:extLst>
                <a:ext uri="{FF2B5EF4-FFF2-40B4-BE49-F238E27FC236}">
                  <a16:creationId xmlns:a16="http://schemas.microsoft.com/office/drawing/2014/main" id="{8E5560B9-F5A0-4B0C-0846-90F978F0D8FB}"/>
                </a:ext>
              </a:extLst>
            </p:cNvPr>
            <p:cNvSpPr txBox="1"/>
            <p:nvPr/>
          </p:nvSpPr>
          <p:spPr>
            <a:xfrm>
              <a:off x="0" y="-47625"/>
              <a:ext cx="319601" cy="500683"/>
            </a:xfrm>
            <a:prstGeom prst="rect">
              <a:avLst/>
            </a:prstGeom>
          </p:spPr>
          <p:txBody>
            <a:bodyPr lIns="50800" tIns="50800" rIns="50800" bIns="50800" rtlCol="0" anchor="ctr"/>
            <a:lstStyle/>
            <a:p>
              <a:pPr algn="ctr">
                <a:lnSpc>
                  <a:spcPts val="3359"/>
                </a:lnSpc>
              </a:pPr>
              <a:endParaRPr>
                <a:latin typeface="Yu Gothic" panose="020B0400000000000000" pitchFamily="34" charset="-128"/>
                <a:ea typeface="Yu Gothic" panose="020B0400000000000000" pitchFamily="34" charset="-128"/>
              </a:endParaRPr>
            </a:p>
          </p:txBody>
        </p:sp>
      </p:grpSp>
      <p:sp>
        <p:nvSpPr>
          <p:cNvPr id="12" name="TextBox 12">
            <a:extLst>
              <a:ext uri="{FF2B5EF4-FFF2-40B4-BE49-F238E27FC236}">
                <a16:creationId xmlns:a16="http://schemas.microsoft.com/office/drawing/2014/main" id="{B0297656-0230-A44E-87A7-D02023031B20}"/>
              </a:ext>
            </a:extLst>
          </p:cNvPr>
          <p:cNvSpPr txBox="1"/>
          <p:nvPr/>
        </p:nvSpPr>
        <p:spPr>
          <a:xfrm>
            <a:off x="2949343" y="1458741"/>
            <a:ext cx="14309957" cy="538609"/>
          </a:xfrm>
          <a:prstGeom prst="rect">
            <a:avLst/>
          </a:prstGeom>
        </p:spPr>
        <p:txBody>
          <a:bodyPr lIns="0" tIns="0" rIns="0" bIns="0" rtlCol="0" anchor="ctr">
            <a:spAutoFit/>
          </a:bodyPr>
          <a:lstStyle/>
          <a:p>
            <a:pPr algn="l"/>
            <a:r>
              <a:rPr lang="en-US" altLang="ja-JP" sz="3500" b="1" spc="175" dirty="0" err="1">
                <a:solidFill>
                  <a:srgbClr val="1B1B1B"/>
                </a:solidFill>
                <a:latin typeface="Yu Gothic" panose="020B0400000000000000" pitchFamily="34" charset="-128"/>
                <a:ea typeface="Yu Gothic" panose="020B0400000000000000" pitchFamily="34" charset="-128"/>
                <a:cs typeface="Noto Sans JP Heavy"/>
                <a:sym typeface="Noto Sans JP Heavy"/>
              </a:rPr>
              <a:t>話者分離の手法調査</a:t>
            </a:r>
            <a:endParaRPr lang="en-US" altLang="ja-JP" sz="3500" b="1" spc="175" dirty="0">
              <a:solidFill>
                <a:srgbClr val="1B1B1B"/>
              </a:solidFill>
              <a:latin typeface="Yu Gothic" panose="020B0400000000000000" pitchFamily="34" charset="-128"/>
              <a:ea typeface="Yu Gothic" panose="020B0400000000000000" pitchFamily="34" charset="-128"/>
              <a:cs typeface="Noto Sans JP Heavy"/>
              <a:sym typeface="Noto Sans JP Heavy"/>
            </a:endParaRPr>
          </a:p>
        </p:txBody>
      </p:sp>
      <p:sp>
        <p:nvSpPr>
          <p:cNvPr id="13" name="TextBox 13">
            <a:extLst>
              <a:ext uri="{FF2B5EF4-FFF2-40B4-BE49-F238E27FC236}">
                <a16:creationId xmlns:a16="http://schemas.microsoft.com/office/drawing/2014/main" id="{F6DAD710-D896-E7CE-1090-525821E6FB84}"/>
              </a:ext>
            </a:extLst>
          </p:cNvPr>
          <p:cNvSpPr txBox="1"/>
          <p:nvPr/>
        </p:nvSpPr>
        <p:spPr>
          <a:xfrm>
            <a:off x="1461953" y="1228278"/>
            <a:ext cx="854779" cy="733425"/>
          </a:xfrm>
          <a:prstGeom prst="rect">
            <a:avLst/>
          </a:prstGeom>
        </p:spPr>
        <p:txBody>
          <a:bodyPr lIns="0" tIns="0" rIns="0" bIns="0" rtlCol="0" anchor="t">
            <a:spAutoFit/>
          </a:bodyPr>
          <a:lstStyle/>
          <a:p>
            <a:pPr marL="0" lvl="0" indent="0" algn="ctr">
              <a:lnSpc>
                <a:spcPts val="6300"/>
              </a:lnSpc>
              <a:spcBef>
                <a:spcPct val="0"/>
              </a:spcBef>
            </a:pPr>
            <a:r>
              <a:rPr lang="en-US" sz="3500" b="1" u="none" strike="noStrike">
                <a:solidFill>
                  <a:srgbClr val="FAFAFA"/>
                </a:solidFill>
                <a:latin typeface="Yu Gothic" panose="020B0400000000000000" pitchFamily="34" charset="-128"/>
                <a:ea typeface="Yu Gothic" panose="020B0400000000000000" pitchFamily="34" charset="-128"/>
                <a:cs typeface="Open Sans Bold"/>
                <a:sym typeface="Open Sans Bold"/>
              </a:rPr>
              <a:t>01</a:t>
            </a:r>
          </a:p>
        </p:txBody>
      </p:sp>
      <p:sp>
        <p:nvSpPr>
          <p:cNvPr id="22" name="スライド番号プレースホルダー 21">
            <a:extLst>
              <a:ext uri="{FF2B5EF4-FFF2-40B4-BE49-F238E27FC236}">
                <a16:creationId xmlns:a16="http://schemas.microsoft.com/office/drawing/2014/main" id="{90908A8C-3777-3A3C-0451-A02BFFB62E1B}"/>
              </a:ext>
            </a:extLst>
          </p:cNvPr>
          <p:cNvSpPr>
            <a:spLocks noGrp="1"/>
          </p:cNvSpPr>
          <p:nvPr>
            <p:ph type="sldNum" sz="quarter" idx="12"/>
          </p:nvPr>
        </p:nvSpPr>
        <p:spPr/>
        <p:txBody>
          <a:bodyPr/>
          <a:lstStyle/>
          <a:p>
            <a:fld id="{B6F15528-21DE-4FAA-801E-634DDDAF4B2B}" type="slidenum">
              <a:rPr lang="en-US" smtClean="0">
                <a:latin typeface="Yu Gothic" panose="020B0400000000000000" pitchFamily="34" charset="-128"/>
                <a:ea typeface="Yu Gothic" panose="020B0400000000000000" pitchFamily="34" charset="-128"/>
              </a:rPr>
              <a:pPr/>
              <a:t>4</a:t>
            </a:fld>
            <a:endParaRPr lang="en-US" dirty="0">
              <a:latin typeface="Yu Gothic" panose="020B0400000000000000" pitchFamily="34" charset="-128"/>
              <a:ea typeface="Yu Gothic" panose="020B0400000000000000" pitchFamily="34" charset="-128"/>
            </a:endParaRPr>
          </a:p>
        </p:txBody>
      </p:sp>
      <p:sp>
        <p:nvSpPr>
          <p:cNvPr id="16" name="テキスト ボックス 15">
            <a:extLst>
              <a:ext uri="{FF2B5EF4-FFF2-40B4-BE49-F238E27FC236}">
                <a16:creationId xmlns:a16="http://schemas.microsoft.com/office/drawing/2014/main" id="{4ECD7899-A3A7-5693-FDB3-09FA5AF384EB}"/>
              </a:ext>
            </a:extLst>
          </p:cNvPr>
          <p:cNvSpPr txBox="1"/>
          <p:nvPr/>
        </p:nvSpPr>
        <p:spPr>
          <a:xfrm>
            <a:off x="856856" y="9405306"/>
            <a:ext cx="11317522" cy="738664"/>
          </a:xfrm>
          <a:prstGeom prst="rect">
            <a:avLst/>
          </a:prstGeom>
          <a:noFill/>
        </p:spPr>
        <p:txBody>
          <a:bodyPr wrap="none" rtlCol="0">
            <a:spAutoFit/>
          </a:bodyPr>
          <a:lstStyle/>
          <a:p>
            <a:r>
              <a:rPr kumimoji="1" lang="ja-JP" altLang="en-US" sz="1400">
                <a:latin typeface="Yu Gothic" panose="020B0400000000000000" pitchFamily="34" charset="-128"/>
                <a:ea typeface="Yu Gothic" panose="020B0400000000000000" pitchFamily="34" charset="-128"/>
              </a:rPr>
              <a:t>［参考］</a:t>
            </a:r>
            <a:r>
              <a:rPr kumimoji="1" lang="en-US" altLang="ja-JP" sz="1400" dirty="0">
                <a:latin typeface="Yu Gothic" panose="020B0400000000000000" pitchFamily="34" charset="-128"/>
                <a:ea typeface="Yu Gothic" panose="020B0400000000000000" pitchFamily="34" charset="-128"/>
              </a:rPr>
              <a:t>	</a:t>
            </a:r>
            <a:r>
              <a:rPr kumimoji="1" lang="en-US" altLang="ja-JP" sz="1400" dirty="0" err="1">
                <a:latin typeface="Yu Gothic" panose="020B0400000000000000" pitchFamily="34" charset="-128"/>
                <a:ea typeface="Yu Gothic" panose="020B0400000000000000" pitchFamily="34" charset="-128"/>
              </a:rPr>
              <a:t>GitHub“pyannote</a:t>
            </a:r>
            <a:r>
              <a:rPr kumimoji="1" lang="en-US" altLang="ja-JP" sz="1400" dirty="0">
                <a:latin typeface="Yu Gothic" panose="020B0400000000000000" pitchFamily="34" charset="-128"/>
                <a:ea typeface="Yu Gothic" panose="020B0400000000000000" pitchFamily="34" charset="-128"/>
              </a:rPr>
              <a:t>-audio” https://</a:t>
            </a:r>
            <a:r>
              <a:rPr kumimoji="1" lang="en-US" altLang="ja-JP" sz="1400" dirty="0" err="1">
                <a:latin typeface="Yu Gothic" panose="020B0400000000000000" pitchFamily="34" charset="-128"/>
                <a:ea typeface="Yu Gothic" panose="020B0400000000000000" pitchFamily="34" charset="-128"/>
              </a:rPr>
              <a:t>github.com</a:t>
            </a:r>
            <a:r>
              <a:rPr kumimoji="1" lang="en-US" altLang="ja-JP" sz="1400" dirty="0">
                <a:latin typeface="Yu Gothic" panose="020B0400000000000000" pitchFamily="34" charset="-128"/>
                <a:ea typeface="Yu Gothic" panose="020B0400000000000000" pitchFamily="34" charset="-128"/>
              </a:rPr>
              <a:t>/</a:t>
            </a:r>
            <a:r>
              <a:rPr kumimoji="1" lang="en-US" altLang="ja-JP" sz="1400" dirty="0" err="1">
                <a:latin typeface="Yu Gothic" panose="020B0400000000000000" pitchFamily="34" charset="-128"/>
                <a:ea typeface="Yu Gothic" panose="020B0400000000000000" pitchFamily="34" charset="-128"/>
              </a:rPr>
              <a:t>pyannote</a:t>
            </a:r>
            <a:r>
              <a:rPr kumimoji="1" lang="en-US" altLang="ja-JP" sz="1400" dirty="0">
                <a:latin typeface="Yu Gothic" panose="020B0400000000000000" pitchFamily="34" charset="-128"/>
                <a:ea typeface="Yu Gothic" panose="020B0400000000000000" pitchFamily="34" charset="-128"/>
              </a:rPr>
              <a:t>/</a:t>
            </a:r>
            <a:r>
              <a:rPr kumimoji="1" lang="en-US" altLang="ja-JP" sz="1400" dirty="0" err="1">
                <a:latin typeface="Yu Gothic" panose="020B0400000000000000" pitchFamily="34" charset="-128"/>
                <a:ea typeface="Yu Gothic" panose="020B0400000000000000" pitchFamily="34" charset="-128"/>
              </a:rPr>
              <a:t>pyannote</a:t>
            </a:r>
            <a:r>
              <a:rPr kumimoji="1" lang="en-US" altLang="ja-JP" sz="1400" dirty="0">
                <a:latin typeface="Yu Gothic" panose="020B0400000000000000" pitchFamily="34" charset="-128"/>
                <a:ea typeface="Yu Gothic" panose="020B0400000000000000" pitchFamily="34" charset="-128"/>
              </a:rPr>
              <a:t>-audio</a:t>
            </a:r>
          </a:p>
          <a:p>
            <a:r>
              <a:rPr kumimoji="1" lang="en-US" altLang="ja-JP" sz="1400" dirty="0">
                <a:latin typeface="Yu Gothic" panose="020B0400000000000000" pitchFamily="34" charset="-128"/>
                <a:ea typeface="Yu Gothic" panose="020B0400000000000000" pitchFamily="34" charset="-128"/>
              </a:rPr>
              <a:t>	Google Cloud”</a:t>
            </a:r>
            <a:r>
              <a:rPr kumimoji="1" lang="ja-JP" altLang="en-US" sz="1400">
                <a:latin typeface="Yu Gothic" panose="020B0400000000000000" pitchFamily="34" charset="-128"/>
                <a:ea typeface="Yu Gothic" panose="020B0400000000000000" pitchFamily="34" charset="-128"/>
              </a:rPr>
              <a:t>音声録音内の異なる話者を分離する</a:t>
            </a:r>
            <a:r>
              <a:rPr kumimoji="1" lang="en-US" altLang="ja-JP" sz="1400" dirty="0">
                <a:latin typeface="Yu Gothic" panose="020B0400000000000000" pitchFamily="34" charset="-128"/>
                <a:ea typeface="Yu Gothic" panose="020B0400000000000000" pitchFamily="34" charset="-128"/>
              </a:rPr>
              <a:t>” https://</a:t>
            </a:r>
            <a:r>
              <a:rPr kumimoji="1" lang="en-US" altLang="ja-JP" sz="1400" dirty="0" err="1">
                <a:latin typeface="Yu Gothic" panose="020B0400000000000000" pitchFamily="34" charset="-128"/>
                <a:ea typeface="Yu Gothic" panose="020B0400000000000000" pitchFamily="34" charset="-128"/>
              </a:rPr>
              <a:t>cloud.google.com</a:t>
            </a:r>
            <a:r>
              <a:rPr kumimoji="1" lang="en-US" altLang="ja-JP" sz="1400" dirty="0">
                <a:latin typeface="Yu Gothic" panose="020B0400000000000000" pitchFamily="34" charset="-128"/>
                <a:ea typeface="Yu Gothic" panose="020B0400000000000000" pitchFamily="34" charset="-128"/>
              </a:rPr>
              <a:t>/speech-to-text/v2/docs/</a:t>
            </a:r>
            <a:r>
              <a:rPr kumimoji="1" lang="en-US" altLang="ja-JP" sz="1400" dirty="0" err="1">
                <a:latin typeface="Yu Gothic" panose="020B0400000000000000" pitchFamily="34" charset="-128"/>
                <a:ea typeface="Yu Gothic" panose="020B0400000000000000" pitchFamily="34" charset="-128"/>
              </a:rPr>
              <a:t>multiple-voices?hl</a:t>
            </a:r>
            <a:r>
              <a:rPr kumimoji="1" lang="en-US" altLang="ja-JP" sz="1400" dirty="0">
                <a:latin typeface="Yu Gothic" panose="020B0400000000000000" pitchFamily="34" charset="-128"/>
                <a:ea typeface="Yu Gothic" panose="020B0400000000000000" pitchFamily="34" charset="-128"/>
              </a:rPr>
              <a:t>=ja</a:t>
            </a:r>
          </a:p>
          <a:p>
            <a:r>
              <a:rPr kumimoji="1" lang="en-US" altLang="ja-JP" sz="1400" dirty="0">
                <a:latin typeface="Yu Gothic" panose="020B0400000000000000" pitchFamily="34" charset="-128"/>
                <a:ea typeface="Yu Gothic" panose="020B0400000000000000" pitchFamily="34" charset="-128"/>
              </a:rPr>
              <a:t>	</a:t>
            </a:r>
            <a:r>
              <a:rPr kumimoji="1" lang="en-US" altLang="ja-JP" sz="1400" dirty="0" err="1">
                <a:latin typeface="Yu Gothic" panose="020B0400000000000000" pitchFamily="34" charset="-128"/>
                <a:ea typeface="Yu Gothic" panose="020B0400000000000000" pitchFamily="34" charset="-128"/>
              </a:rPr>
              <a:t>deepgram”Deepgram</a:t>
            </a:r>
            <a:r>
              <a:rPr kumimoji="1" lang="en-US" altLang="ja-JP" sz="1400" dirty="0">
                <a:latin typeface="Yu Gothic" panose="020B0400000000000000" pitchFamily="34" charset="-128"/>
                <a:ea typeface="Yu Gothic" panose="020B0400000000000000" pitchFamily="34" charset="-128"/>
              </a:rPr>
              <a:t> </a:t>
            </a:r>
            <a:r>
              <a:rPr kumimoji="1" lang="en-US" altLang="ja-JP" sz="1400" dirty="0" err="1">
                <a:latin typeface="Yu Gothic" panose="020B0400000000000000" pitchFamily="34" charset="-128"/>
                <a:ea typeface="Yu Gothic" panose="020B0400000000000000" pitchFamily="34" charset="-128"/>
              </a:rPr>
              <a:t>Voiice</a:t>
            </a:r>
            <a:r>
              <a:rPr kumimoji="1" lang="en-US" altLang="ja-JP" sz="1400" dirty="0">
                <a:latin typeface="Yu Gothic" panose="020B0400000000000000" pitchFamily="34" charset="-128"/>
                <a:ea typeface="Yu Gothic" panose="020B0400000000000000" pitchFamily="34" charset="-128"/>
              </a:rPr>
              <a:t> </a:t>
            </a:r>
            <a:r>
              <a:rPr kumimoji="1" lang="en-US" altLang="ja-JP" sz="1400" dirty="0" err="1">
                <a:latin typeface="Yu Gothic" panose="020B0400000000000000" pitchFamily="34" charset="-128"/>
                <a:ea typeface="Yu Gothic" panose="020B0400000000000000" pitchFamily="34" charset="-128"/>
              </a:rPr>
              <a:t>AI:Text</a:t>
            </a:r>
            <a:r>
              <a:rPr kumimoji="1" lang="en-US" altLang="ja-JP" sz="1400" dirty="0">
                <a:latin typeface="Yu Gothic" panose="020B0400000000000000" pitchFamily="34" charset="-128"/>
                <a:ea typeface="Yu Gothic" panose="020B0400000000000000" pitchFamily="34" charset="-128"/>
              </a:rPr>
              <a:t> to speech + Speech to Text APIs” https://</a:t>
            </a:r>
            <a:r>
              <a:rPr kumimoji="1" lang="en-US" altLang="ja-JP" sz="1400" dirty="0" err="1">
                <a:latin typeface="Yu Gothic" panose="020B0400000000000000" pitchFamily="34" charset="-128"/>
                <a:ea typeface="Yu Gothic" panose="020B0400000000000000" pitchFamily="34" charset="-128"/>
              </a:rPr>
              <a:t>deepgram.com</a:t>
            </a:r>
            <a:r>
              <a:rPr kumimoji="1" lang="en-US" altLang="ja-JP" sz="1400" dirty="0">
                <a:latin typeface="Yu Gothic" panose="020B0400000000000000" pitchFamily="34" charset="-128"/>
                <a:ea typeface="Yu Gothic" panose="020B0400000000000000" pitchFamily="34" charset="-128"/>
              </a:rPr>
              <a:t>/</a:t>
            </a:r>
            <a:endParaRPr kumimoji="1" lang="ja-JP" altLang="en-US" sz="1400">
              <a:latin typeface="Yu Gothic" panose="020B0400000000000000" pitchFamily="34" charset="-128"/>
              <a:ea typeface="Yu Gothic" panose="020B0400000000000000" pitchFamily="34" charset="-128"/>
            </a:endParaRPr>
          </a:p>
        </p:txBody>
      </p:sp>
      <p:grpSp>
        <p:nvGrpSpPr>
          <p:cNvPr id="33" name="Group 18">
            <a:extLst>
              <a:ext uri="{FF2B5EF4-FFF2-40B4-BE49-F238E27FC236}">
                <a16:creationId xmlns:a16="http://schemas.microsoft.com/office/drawing/2014/main" id="{1E08F392-0D86-48D1-9B3E-5B4647CEEE04}"/>
              </a:ext>
            </a:extLst>
          </p:cNvPr>
          <p:cNvGrpSpPr/>
          <p:nvPr/>
        </p:nvGrpSpPr>
        <p:grpSpPr>
          <a:xfrm>
            <a:off x="2138872" y="4903248"/>
            <a:ext cx="14010256" cy="1794059"/>
            <a:chOff x="0" y="0"/>
            <a:chExt cx="3689944" cy="472509"/>
          </a:xfrm>
        </p:grpSpPr>
        <p:sp>
          <p:nvSpPr>
            <p:cNvPr id="34" name="Freeform 19">
              <a:extLst>
                <a:ext uri="{FF2B5EF4-FFF2-40B4-BE49-F238E27FC236}">
                  <a16:creationId xmlns:a16="http://schemas.microsoft.com/office/drawing/2014/main" id="{64CF6A66-62F3-2A81-09DE-07134AF689B3}"/>
                </a:ext>
              </a:extLst>
            </p:cNvPr>
            <p:cNvSpPr/>
            <p:nvPr/>
          </p:nvSpPr>
          <p:spPr>
            <a:xfrm>
              <a:off x="0" y="0"/>
              <a:ext cx="3689944" cy="472509"/>
            </a:xfrm>
            <a:custGeom>
              <a:avLst/>
              <a:gdLst/>
              <a:ahLst/>
              <a:cxnLst/>
              <a:rect l="l" t="t" r="r" b="b"/>
              <a:pathLst>
                <a:path w="3689944" h="472509">
                  <a:moveTo>
                    <a:pt x="0" y="0"/>
                  </a:moveTo>
                  <a:lnTo>
                    <a:pt x="3689944" y="0"/>
                  </a:lnTo>
                  <a:lnTo>
                    <a:pt x="3689944" y="472509"/>
                  </a:lnTo>
                  <a:lnTo>
                    <a:pt x="0" y="472509"/>
                  </a:lnTo>
                  <a:close/>
                </a:path>
              </a:pathLst>
            </a:custGeom>
            <a:solidFill>
              <a:srgbClr val="E9E9E9"/>
            </a:solidFill>
          </p:spPr>
          <p:txBody>
            <a:bodyPr/>
            <a:lstStyle/>
            <a:p>
              <a:endParaRPr lang="ja-JP" altLang="en-US">
                <a:latin typeface="Yu Gothic" panose="020B0400000000000000" pitchFamily="34" charset="-128"/>
                <a:ea typeface="Yu Gothic" panose="020B0400000000000000" pitchFamily="34" charset="-128"/>
              </a:endParaRPr>
            </a:p>
          </p:txBody>
        </p:sp>
        <p:sp>
          <p:nvSpPr>
            <p:cNvPr id="35" name="TextBox 20">
              <a:extLst>
                <a:ext uri="{FF2B5EF4-FFF2-40B4-BE49-F238E27FC236}">
                  <a16:creationId xmlns:a16="http://schemas.microsoft.com/office/drawing/2014/main" id="{E207708D-59D4-547E-889F-18E690E29FAB}"/>
                </a:ext>
              </a:extLst>
            </p:cNvPr>
            <p:cNvSpPr txBox="1"/>
            <p:nvPr/>
          </p:nvSpPr>
          <p:spPr>
            <a:xfrm>
              <a:off x="0" y="-47625"/>
              <a:ext cx="3689944" cy="520134"/>
            </a:xfrm>
            <a:prstGeom prst="rect">
              <a:avLst/>
            </a:prstGeom>
          </p:spPr>
          <p:txBody>
            <a:bodyPr lIns="50800" tIns="50800" rIns="50800" bIns="50800" rtlCol="0" anchor="ctr"/>
            <a:lstStyle/>
            <a:p>
              <a:pPr algn="ctr">
                <a:lnSpc>
                  <a:spcPts val="3359"/>
                </a:lnSpc>
              </a:pPr>
              <a:endParaRPr>
                <a:latin typeface="Yu Gothic" panose="020B0400000000000000" pitchFamily="34" charset="-128"/>
                <a:ea typeface="Yu Gothic" panose="020B0400000000000000" pitchFamily="34" charset="-128"/>
              </a:endParaRPr>
            </a:p>
          </p:txBody>
        </p:sp>
      </p:grpSp>
      <p:grpSp>
        <p:nvGrpSpPr>
          <p:cNvPr id="36" name="Group 23">
            <a:extLst>
              <a:ext uri="{FF2B5EF4-FFF2-40B4-BE49-F238E27FC236}">
                <a16:creationId xmlns:a16="http://schemas.microsoft.com/office/drawing/2014/main" id="{414E13C4-C219-6FDB-415B-A1191EDCCE59}"/>
              </a:ext>
            </a:extLst>
          </p:cNvPr>
          <p:cNvGrpSpPr/>
          <p:nvPr/>
        </p:nvGrpSpPr>
        <p:grpSpPr>
          <a:xfrm>
            <a:off x="2138872" y="6802082"/>
            <a:ext cx="14010256" cy="1794059"/>
            <a:chOff x="0" y="0"/>
            <a:chExt cx="3689944" cy="472509"/>
          </a:xfrm>
        </p:grpSpPr>
        <p:sp>
          <p:nvSpPr>
            <p:cNvPr id="37" name="Freeform 24">
              <a:extLst>
                <a:ext uri="{FF2B5EF4-FFF2-40B4-BE49-F238E27FC236}">
                  <a16:creationId xmlns:a16="http://schemas.microsoft.com/office/drawing/2014/main" id="{595165D2-CB4C-F38D-8843-1021D23EB220}"/>
                </a:ext>
              </a:extLst>
            </p:cNvPr>
            <p:cNvSpPr/>
            <p:nvPr/>
          </p:nvSpPr>
          <p:spPr>
            <a:xfrm>
              <a:off x="0" y="0"/>
              <a:ext cx="3689944" cy="472509"/>
            </a:xfrm>
            <a:custGeom>
              <a:avLst/>
              <a:gdLst/>
              <a:ahLst/>
              <a:cxnLst/>
              <a:rect l="l" t="t" r="r" b="b"/>
              <a:pathLst>
                <a:path w="3689944" h="472509">
                  <a:moveTo>
                    <a:pt x="0" y="0"/>
                  </a:moveTo>
                  <a:lnTo>
                    <a:pt x="3689944" y="0"/>
                  </a:lnTo>
                  <a:lnTo>
                    <a:pt x="3689944" y="472509"/>
                  </a:lnTo>
                  <a:lnTo>
                    <a:pt x="0" y="472509"/>
                  </a:lnTo>
                  <a:close/>
                </a:path>
              </a:pathLst>
            </a:custGeom>
            <a:solidFill>
              <a:srgbClr val="E9E9E9"/>
            </a:solidFill>
          </p:spPr>
          <p:txBody>
            <a:bodyPr/>
            <a:lstStyle/>
            <a:p>
              <a:endParaRPr lang="ja-JP" altLang="en-US">
                <a:latin typeface="Yu Gothic" panose="020B0400000000000000" pitchFamily="34" charset="-128"/>
                <a:ea typeface="Yu Gothic" panose="020B0400000000000000" pitchFamily="34" charset="-128"/>
              </a:endParaRPr>
            </a:p>
          </p:txBody>
        </p:sp>
        <p:sp>
          <p:nvSpPr>
            <p:cNvPr id="38" name="TextBox 25">
              <a:extLst>
                <a:ext uri="{FF2B5EF4-FFF2-40B4-BE49-F238E27FC236}">
                  <a16:creationId xmlns:a16="http://schemas.microsoft.com/office/drawing/2014/main" id="{DCB48267-3815-5136-664B-AF9595A41D7F}"/>
                </a:ext>
              </a:extLst>
            </p:cNvPr>
            <p:cNvSpPr txBox="1"/>
            <p:nvPr/>
          </p:nvSpPr>
          <p:spPr>
            <a:xfrm>
              <a:off x="0" y="-47625"/>
              <a:ext cx="3689944" cy="520134"/>
            </a:xfrm>
            <a:prstGeom prst="rect">
              <a:avLst/>
            </a:prstGeom>
          </p:spPr>
          <p:txBody>
            <a:bodyPr lIns="50800" tIns="50800" rIns="50800" bIns="50800" rtlCol="0" anchor="ctr"/>
            <a:lstStyle/>
            <a:p>
              <a:pPr algn="ctr">
                <a:lnSpc>
                  <a:spcPts val="3359"/>
                </a:lnSpc>
              </a:pPr>
              <a:endParaRPr>
                <a:latin typeface="Yu Gothic" panose="020B0400000000000000" pitchFamily="34" charset="-128"/>
                <a:ea typeface="Yu Gothic" panose="020B0400000000000000" pitchFamily="34" charset="-128"/>
              </a:endParaRPr>
            </a:p>
          </p:txBody>
        </p:sp>
      </p:grpSp>
      <p:grpSp>
        <p:nvGrpSpPr>
          <p:cNvPr id="40" name="Group 12">
            <a:extLst>
              <a:ext uri="{FF2B5EF4-FFF2-40B4-BE49-F238E27FC236}">
                <a16:creationId xmlns:a16="http://schemas.microsoft.com/office/drawing/2014/main" id="{CC4A8F6A-02CA-13F5-4596-630F1920F914}"/>
              </a:ext>
            </a:extLst>
          </p:cNvPr>
          <p:cNvGrpSpPr/>
          <p:nvPr/>
        </p:nvGrpSpPr>
        <p:grpSpPr>
          <a:xfrm>
            <a:off x="2138872" y="3004415"/>
            <a:ext cx="14010256" cy="1794059"/>
            <a:chOff x="0" y="0"/>
            <a:chExt cx="3689944" cy="472509"/>
          </a:xfrm>
        </p:grpSpPr>
        <p:sp>
          <p:nvSpPr>
            <p:cNvPr id="44" name="Freeform 13">
              <a:extLst>
                <a:ext uri="{FF2B5EF4-FFF2-40B4-BE49-F238E27FC236}">
                  <a16:creationId xmlns:a16="http://schemas.microsoft.com/office/drawing/2014/main" id="{D8079E7D-A533-DDC7-C4FE-CD586BE339C0}"/>
                </a:ext>
              </a:extLst>
            </p:cNvPr>
            <p:cNvSpPr/>
            <p:nvPr/>
          </p:nvSpPr>
          <p:spPr>
            <a:xfrm>
              <a:off x="0" y="0"/>
              <a:ext cx="3689944" cy="472509"/>
            </a:xfrm>
            <a:custGeom>
              <a:avLst/>
              <a:gdLst/>
              <a:ahLst/>
              <a:cxnLst/>
              <a:rect l="l" t="t" r="r" b="b"/>
              <a:pathLst>
                <a:path w="3689944" h="472509">
                  <a:moveTo>
                    <a:pt x="0" y="0"/>
                  </a:moveTo>
                  <a:lnTo>
                    <a:pt x="3689944" y="0"/>
                  </a:lnTo>
                  <a:lnTo>
                    <a:pt x="3689944" y="472509"/>
                  </a:lnTo>
                  <a:lnTo>
                    <a:pt x="0" y="472509"/>
                  </a:lnTo>
                  <a:close/>
                </a:path>
              </a:pathLst>
            </a:custGeom>
            <a:solidFill>
              <a:srgbClr val="E9E9E9"/>
            </a:solidFill>
          </p:spPr>
          <p:txBody>
            <a:bodyPr/>
            <a:lstStyle/>
            <a:p>
              <a:endParaRPr lang="ja-JP" altLang="en-US">
                <a:latin typeface="Yu Gothic" panose="020B0400000000000000" pitchFamily="34" charset="-128"/>
                <a:ea typeface="Yu Gothic" panose="020B0400000000000000" pitchFamily="34" charset="-128"/>
              </a:endParaRPr>
            </a:p>
          </p:txBody>
        </p:sp>
        <p:sp>
          <p:nvSpPr>
            <p:cNvPr id="45" name="TextBox 14">
              <a:extLst>
                <a:ext uri="{FF2B5EF4-FFF2-40B4-BE49-F238E27FC236}">
                  <a16:creationId xmlns:a16="http://schemas.microsoft.com/office/drawing/2014/main" id="{8D39D71B-2C7B-2EDB-6220-2C912B8BE40F}"/>
                </a:ext>
              </a:extLst>
            </p:cNvPr>
            <p:cNvSpPr txBox="1"/>
            <p:nvPr/>
          </p:nvSpPr>
          <p:spPr>
            <a:xfrm>
              <a:off x="0" y="-47625"/>
              <a:ext cx="3689944" cy="520134"/>
            </a:xfrm>
            <a:prstGeom prst="rect">
              <a:avLst/>
            </a:prstGeom>
          </p:spPr>
          <p:txBody>
            <a:bodyPr lIns="50800" tIns="50800" rIns="50800" bIns="50800" rtlCol="0" anchor="ctr"/>
            <a:lstStyle/>
            <a:p>
              <a:pPr algn="ctr">
                <a:lnSpc>
                  <a:spcPts val="3359"/>
                </a:lnSpc>
              </a:pPr>
              <a:endParaRPr>
                <a:latin typeface="Yu Gothic" panose="020B0400000000000000" pitchFamily="34" charset="-128"/>
                <a:ea typeface="Yu Gothic" panose="020B0400000000000000" pitchFamily="34" charset="-128"/>
              </a:endParaRPr>
            </a:p>
          </p:txBody>
        </p:sp>
      </p:grpSp>
      <p:sp>
        <p:nvSpPr>
          <p:cNvPr id="41" name="AutoShape 15">
            <a:extLst>
              <a:ext uri="{FF2B5EF4-FFF2-40B4-BE49-F238E27FC236}">
                <a16:creationId xmlns:a16="http://schemas.microsoft.com/office/drawing/2014/main" id="{63A584F9-C172-0D60-3C4C-561659ECE72D}"/>
              </a:ext>
            </a:extLst>
          </p:cNvPr>
          <p:cNvSpPr/>
          <p:nvPr/>
        </p:nvSpPr>
        <p:spPr>
          <a:xfrm flipH="1">
            <a:off x="6705600" y="3521694"/>
            <a:ext cx="0" cy="759500"/>
          </a:xfrm>
          <a:prstGeom prst="line">
            <a:avLst/>
          </a:prstGeom>
          <a:ln w="9525" cap="flat">
            <a:solidFill>
              <a:srgbClr val="737373"/>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42" name="TextBox 16">
            <a:extLst>
              <a:ext uri="{FF2B5EF4-FFF2-40B4-BE49-F238E27FC236}">
                <a16:creationId xmlns:a16="http://schemas.microsoft.com/office/drawing/2014/main" id="{1E6C8CF4-A09C-1768-0E43-52A06477A38D}"/>
              </a:ext>
            </a:extLst>
          </p:cNvPr>
          <p:cNvSpPr txBox="1"/>
          <p:nvPr/>
        </p:nvSpPr>
        <p:spPr>
          <a:xfrm>
            <a:off x="2316732" y="3692251"/>
            <a:ext cx="3813321" cy="425950"/>
          </a:xfrm>
          <a:prstGeom prst="rect">
            <a:avLst/>
          </a:prstGeom>
        </p:spPr>
        <p:txBody>
          <a:bodyPr wrap="square" lIns="0" tIns="0" rIns="0" bIns="0" rtlCol="0" anchor="t">
            <a:spAutoFit/>
          </a:bodyPr>
          <a:lstStyle/>
          <a:p>
            <a:pPr marL="0" lvl="0" indent="0" algn="l">
              <a:lnSpc>
                <a:spcPts val="3499"/>
              </a:lnSpc>
              <a:spcBef>
                <a:spcPct val="0"/>
              </a:spcBef>
            </a:pPr>
            <a:r>
              <a:rPr lang="en-US" altLang="ja-JP" sz="2499" b="1" u="none" strike="noStrike" spc="124" dirty="0" err="1">
                <a:solidFill>
                  <a:schemeClr val="tx1">
                    <a:lumMod val="50000"/>
                    <a:lumOff val="50000"/>
                  </a:schemeClr>
                </a:solidFill>
                <a:latin typeface="Yu Gothic" panose="020B0400000000000000" pitchFamily="34" charset="-128"/>
                <a:ea typeface="Yu Gothic" panose="020B0400000000000000" pitchFamily="34" charset="-128"/>
                <a:cs typeface="Noto Sans JP Heavy"/>
                <a:sym typeface="Noto Sans JP Heavy"/>
              </a:rPr>
              <a:t>pyannote.audio</a:t>
            </a:r>
            <a:endParaRPr lang="en-US" altLang="ja-JP" sz="2499" b="1" u="none" strike="noStrike" spc="124" dirty="0">
              <a:solidFill>
                <a:schemeClr val="tx1">
                  <a:lumMod val="50000"/>
                  <a:lumOff val="50000"/>
                </a:schemeClr>
              </a:solidFill>
              <a:latin typeface="Yu Gothic" panose="020B0400000000000000" pitchFamily="34" charset="-128"/>
              <a:ea typeface="Yu Gothic" panose="020B0400000000000000" pitchFamily="34" charset="-128"/>
              <a:cs typeface="Noto Sans JP Heavy"/>
              <a:sym typeface="Noto Sans JP Heavy"/>
            </a:endParaRPr>
          </a:p>
        </p:txBody>
      </p:sp>
      <p:sp>
        <p:nvSpPr>
          <p:cNvPr id="43" name="TextBox 17">
            <a:extLst>
              <a:ext uri="{FF2B5EF4-FFF2-40B4-BE49-F238E27FC236}">
                <a16:creationId xmlns:a16="http://schemas.microsoft.com/office/drawing/2014/main" id="{BABB49B1-D616-A90D-5D3E-8C5BCF8AFB93}"/>
              </a:ext>
            </a:extLst>
          </p:cNvPr>
          <p:cNvSpPr txBox="1"/>
          <p:nvPr/>
        </p:nvSpPr>
        <p:spPr>
          <a:xfrm>
            <a:off x="7233576" y="3460067"/>
            <a:ext cx="8194277" cy="887359"/>
          </a:xfrm>
          <a:prstGeom prst="rect">
            <a:avLst/>
          </a:prstGeom>
        </p:spPr>
        <p:txBody>
          <a:bodyPr lIns="0" tIns="0" rIns="0" bIns="0" rtlCol="0" anchor="t">
            <a:spAutoFit/>
          </a:bodyPr>
          <a:lstStyle/>
          <a:p>
            <a:pPr algn="l">
              <a:lnSpc>
                <a:spcPts val="3600"/>
              </a:lnSpc>
            </a:pPr>
            <a:r>
              <a:rPr lang="en-US" sz="2400" spc="100" dirty="0" err="1">
                <a:solidFill>
                  <a:schemeClr val="tx1">
                    <a:lumMod val="50000"/>
                    <a:lumOff val="50000"/>
                  </a:schemeClr>
                </a:solidFill>
                <a:latin typeface="Yu Gothic" panose="020B0400000000000000" pitchFamily="34" charset="-128"/>
                <a:ea typeface="Yu Gothic" panose="020B0400000000000000" pitchFamily="34" charset="-128"/>
                <a:cs typeface="Noto Sans JP"/>
                <a:sym typeface="Noto Sans JP"/>
              </a:rPr>
              <a:t>Pythonのオープンソースフレームワーク</a:t>
            </a:r>
            <a:endParaRPr lang="en-US" sz="2400" spc="100" dirty="0">
              <a:solidFill>
                <a:schemeClr val="tx1">
                  <a:lumMod val="50000"/>
                  <a:lumOff val="50000"/>
                </a:schemeClr>
              </a:solidFill>
              <a:latin typeface="Yu Gothic" panose="020B0400000000000000" pitchFamily="34" charset="-128"/>
              <a:ea typeface="Yu Gothic" panose="020B0400000000000000" pitchFamily="34" charset="-128"/>
              <a:cs typeface="Noto Sans JP"/>
              <a:sym typeface="Noto Sans JP"/>
            </a:endParaRPr>
          </a:p>
          <a:p>
            <a:pPr algn="l">
              <a:lnSpc>
                <a:spcPts val="3600"/>
              </a:lnSpc>
            </a:pPr>
            <a:r>
              <a:rPr lang="en-US" sz="2400" spc="100" dirty="0" err="1">
                <a:solidFill>
                  <a:schemeClr val="tx1">
                    <a:lumMod val="50000"/>
                    <a:lumOff val="50000"/>
                  </a:schemeClr>
                </a:solidFill>
                <a:latin typeface="Yu Gothic" panose="020B0400000000000000" pitchFamily="34" charset="-128"/>
                <a:ea typeface="Yu Gothic" panose="020B0400000000000000" pitchFamily="34" charset="-128"/>
                <a:cs typeface="Noto Sans JP"/>
                <a:sym typeface="Noto Sans JP"/>
              </a:rPr>
              <a:t>機械学習のフレームワークPyTorchに基づいている</a:t>
            </a:r>
            <a:endParaRPr lang="en-US" sz="2400" spc="100" dirty="0">
              <a:solidFill>
                <a:schemeClr val="tx1">
                  <a:lumMod val="50000"/>
                  <a:lumOff val="50000"/>
                </a:schemeClr>
              </a:solidFill>
              <a:latin typeface="Yu Gothic" panose="020B0400000000000000" pitchFamily="34" charset="-128"/>
              <a:ea typeface="Yu Gothic" panose="020B0400000000000000" pitchFamily="34" charset="-128"/>
              <a:cs typeface="Noto Sans JP"/>
              <a:sym typeface="Noto Sans JP"/>
            </a:endParaRPr>
          </a:p>
        </p:txBody>
      </p:sp>
      <p:sp>
        <p:nvSpPr>
          <p:cNvPr id="46" name="TextBox 22">
            <a:extLst>
              <a:ext uri="{FF2B5EF4-FFF2-40B4-BE49-F238E27FC236}">
                <a16:creationId xmlns:a16="http://schemas.microsoft.com/office/drawing/2014/main" id="{7E7B327E-68D0-3F70-1071-D12B72FA182F}"/>
              </a:ext>
            </a:extLst>
          </p:cNvPr>
          <p:cNvSpPr txBox="1"/>
          <p:nvPr/>
        </p:nvSpPr>
        <p:spPr>
          <a:xfrm>
            <a:off x="7233576" y="5628079"/>
            <a:ext cx="8194277" cy="461665"/>
          </a:xfrm>
          <a:prstGeom prst="rect">
            <a:avLst/>
          </a:prstGeom>
        </p:spPr>
        <p:txBody>
          <a:bodyPr lIns="0" tIns="0" rIns="0" bIns="0" rtlCol="0" anchor="t">
            <a:spAutoFit/>
          </a:bodyPr>
          <a:lstStyle/>
          <a:p>
            <a:pPr algn="l">
              <a:lnSpc>
                <a:spcPts val="3600"/>
              </a:lnSpc>
            </a:pPr>
            <a:r>
              <a:rPr lang="en-US" altLang="ja-JP" sz="2400" spc="100" dirty="0">
                <a:solidFill>
                  <a:srgbClr val="C00000"/>
                </a:solidFill>
                <a:latin typeface="Yu Gothic" panose="020B0400000000000000" pitchFamily="34" charset="-128"/>
                <a:ea typeface="Yu Gothic" panose="020B0400000000000000" pitchFamily="34" charset="-128"/>
                <a:cs typeface="Noto Sans JP"/>
                <a:sym typeface="Noto Sans JP"/>
              </a:rPr>
              <a:t>Google</a:t>
            </a:r>
            <a:r>
              <a:rPr lang="ja-JP" altLang="en-US" sz="2400" spc="100">
                <a:solidFill>
                  <a:srgbClr val="C00000"/>
                </a:solidFill>
                <a:latin typeface="Yu Gothic" panose="020B0400000000000000" pitchFamily="34" charset="-128"/>
                <a:ea typeface="Yu Gothic" panose="020B0400000000000000" pitchFamily="34" charset="-128"/>
                <a:cs typeface="Noto Sans JP"/>
                <a:sym typeface="Noto Sans JP"/>
              </a:rPr>
              <a:t>の</a:t>
            </a:r>
            <a:r>
              <a:rPr lang="en-US" altLang="ja-JP" sz="3200" b="1" u="sng" spc="100" dirty="0">
                <a:solidFill>
                  <a:srgbClr val="C00000"/>
                </a:solidFill>
                <a:latin typeface="Yu Gothic" panose="020B0400000000000000" pitchFamily="34" charset="-128"/>
                <a:ea typeface="Yu Gothic" panose="020B0400000000000000" pitchFamily="34" charset="-128"/>
                <a:cs typeface="Noto Sans JP"/>
                <a:sym typeface="Noto Sans JP"/>
              </a:rPr>
              <a:t>Speech-to-Text</a:t>
            </a:r>
            <a:r>
              <a:rPr lang="ja-JP" altLang="en-US" sz="3200" b="1" u="sng" spc="100">
                <a:solidFill>
                  <a:srgbClr val="C00000"/>
                </a:solidFill>
                <a:latin typeface="Yu Gothic" panose="020B0400000000000000" pitchFamily="34" charset="-128"/>
                <a:ea typeface="Yu Gothic" panose="020B0400000000000000" pitchFamily="34" charset="-128"/>
                <a:cs typeface="Noto Sans JP"/>
                <a:sym typeface="Noto Sans JP"/>
              </a:rPr>
              <a:t>に付随する機能</a:t>
            </a:r>
            <a:endParaRPr lang="en-US" altLang="ja-JP" sz="2400" b="1" u="sng" spc="100" dirty="0">
              <a:solidFill>
                <a:srgbClr val="C00000"/>
              </a:solidFill>
              <a:latin typeface="Yu Gothic" panose="020B0400000000000000" pitchFamily="34" charset="-128"/>
              <a:ea typeface="Yu Gothic" panose="020B0400000000000000" pitchFamily="34" charset="-128"/>
              <a:cs typeface="Noto Sans JP"/>
              <a:sym typeface="Noto Sans JP"/>
            </a:endParaRPr>
          </a:p>
        </p:txBody>
      </p:sp>
      <p:sp>
        <p:nvSpPr>
          <p:cNvPr id="47" name="TextBox 26">
            <a:extLst>
              <a:ext uri="{FF2B5EF4-FFF2-40B4-BE49-F238E27FC236}">
                <a16:creationId xmlns:a16="http://schemas.microsoft.com/office/drawing/2014/main" id="{1755E56C-A11E-46A2-1E12-59143ED779BF}"/>
              </a:ext>
            </a:extLst>
          </p:cNvPr>
          <p:cNvSpPr txBox="1"/>
          <p:nvPr/>
        </p:nvSpPr>
        <p:spPr>
          <a:xfrm>
            <a:off x="2316732" y="7489438"/>
            <a:ext cx="3425782" cy="425950"/>
          </a:xfrm>
          <a:prstGeom prst="rect">
            <a:avLst/>
          </a:prstGeom>
        </p:spPr>
        <p:txBody>
          <a:bodyPr lIns="0" tIns="0" rIns="0" bIns="0" rtlCol="0" anchor="t">
            <a:spAutoFit/>
          </a:bodyPr>
          <a:lstStyle/>
          <a:p>
            <a:pPr algn="l">
              <a:lnSpc>
                <a:spcPts val="3499"/>
              </a:lnSpc>
            </a:pPr>
            <a:r>
              <a:rPr lang="en-US" sz="2499" b="1" spc="124" dirty="0" err="1">
                <a:solidFill>
                  <a:schemeClr val="tx1">
                    <a:lumMod val="50000"/>
                    <a:lumOff val="50000"/>
                  </a:schemeClr>
                </a:solidFill>
                <a:latin typeface="Yu Gothic" panose="020B0400000000000000" pitchFamily="34" charset="-128"/>
                <a:ea typeface="Yu Gothic" panose="020B0400000000000000" pitchFamily="34" charset="-128"/>
                <a:cs typeface="Noto Sans JP Heavy"/>
                <a:sym typeface="Noto Sans JP Heavy"/>
              </a:rPr>
              <a:t>Deepgram</a:t>
            </a:r>
            <a:endParaRPr lang="en-US" sz="2499" b="1" spc="124" dirty="0">
              <a:solidFill>
                <a:schemeClr val="tx1">
                  <a:lumMod val="50000"/>
                  <a:lumOff val="50000"/>
                </a:schemeClr>
              </a:solidFill>
              <a:latin typeface="Yu Gothic" panose="020B0400000000000000" pitchFamily="34" charset="-128"/>
              <a:ea typeface="Yu Gothic" panose="020B0400000000000000" pitchFamily="34" charset="-128"/>
              <a:cs typeface="Noto Sans JP Heavy"/>
              <a:sym typeface="Noto Sans JP Heavy"/>
            </a:endParaRPr>
          </a:p>
        </p:txBody>
      </p:sp>
      <p:sp>
        <p:nvSpPr>
          <p:cNvPr id="48" name="TextBox 27">
            <a:extLst>
              <a:ext uri="{FF2B5EF4-FFF2-40B4-BE49-F238E27FC236}">
                <a16:creationId xmlns:a16="http://schemas.microsoft.com/office/drawing/2014/main" id="{E1366341-626D-9AB6-0D1F-F2F87469C153}"/>
              </a:ext>
            </a:extLst>
          </p:cNvPr>
          <p:cNvSpPr txBox="1"/>
          <p:nvPr/>
        </p:nvSpPr>
        <p:spPr>
          <a:xfrm>
            <a:off x="7233576" y="7258189"/>
            <a:ext cx="9149423" cy="894604"/>
          </a:xfrm>
          <a:prstGeom prst="rect">
            <a:avLst/>
          </a:prstGeom>
        </p:spPr>
        <p:txBody>
          <a:bodyPr wrap="square" lIns="0" tIns="0" rIns="0" bIns="0" rtlCol="0" anchor="t">
            <a:spAutoFit/>
          </a:bodyPr>
          <a:lstStyle/>
          <a:p>
            <a:pPr algn="l">
              <a:lnSpc>
                <a:spcPts val="3600"/>
              </a:lnSpc>
            </a:pPr>
            <a:r>
              <a:rPr lang="en-US" sz="2400" spc="100" dirty="0">
                <a:solidFill>
                  <a:schemeClr val="tx1">
                    <a:lumMod val="50000"/>
                    <a:lumOff val="50000"/>
                  </a:schemeClr>
                </a:solidFill>
                <a:latin typeface="Yu Gothic" panose="020B0400000000000000" pitchFamily="34" charset="-128"/>
                <a:ea typeface="Yu Gothic" panose="020B0400000000000000" pitchFamily="34" charset="-128"/>
                <a:cs typeface="Noto Sans JP"/>
                <a:sym typeface="Noto Sans JP"/>
              </a:rPr>
              <a:t>2015年に設立したスタートアップ企業のサービス</a:t>
            </a:r>
          </a:p>
          <a:p>
            <a:pPr algn="l">
              <a:lnSpc>
                <a:spcPts val="3600"/>
              </a:lnSpc>
            </a:pPr>
            <a:r>
              <a:rPr lang="en-US" sz="2400" spc="100" dirty="0" err="1">
                <a:solidFill>
                  <a:schemeClr val="tx1">
                    <a:lumMod val="50000"/>
                    <a:lumOff val="50000"/>
                  </a:schemeClr>
                </a:solidFill>
                <a:latin typeface="Yu Gothic" panose="020B0400000000000000" pitchFamily="34" charset="-128"/>
                <a:ea typeface="Yu Gothic" panose="020B0400000000000000" pitchFamily="34" charset="-128"/>
                <a:cs typeface="Noto Sans JP"/>
                <a:sym typeface="Noto Sans JP"/>
              </a:rPr>
              <a:t>AIを用いた企業向けの音声認識に特化している</a:t>
            </a:r>
            <a:endParaRPr lang="en-US" sz="2400" spc="100" dirty="0">
              <a:solidFill>
                <a:schemeClr val="tx1">
                  <a:lumMod val="50000"/>
                  <a:lumOff val="50000"/>
                </a:schemeClr>
              </a:solidFill>
              <a:latin typeface="Yu Gothic" panose="020B0400000000000000" pitchFamily="34" charset="-128"/>
              <a:ea typeface="Yu Gothic" panose="020B0400000000000000" pitchFamily="34" charset="-128"/>
              <a:cs typeface="Noto Sans JP"/>
              <a:sym typeface="Noto Sans JP"/>
            </a:endParaRPr>
          </a:p>
        </p:txBody>
      </p:sp>
      <p:sp>
        <p:nvSpPr>
          <p:cNvPr id="49" name="AutoShape 28">
            <a:extLst>
              <a:ext uri="{FF2B5EF4-FFF2-40B4-BE49-F238E27FC236}">
                <a16:creationId xmlns:a16="http://schemas.microsoft.com/office/drawing/2014/main" id="{4E30D70B-1C49-8022-E6E4-E3D18F9F120E}"/>
              </a:ext>
            </a:extLst>
          </p:cNvPr>
          <p:cNvSpPr/>
          <p:nvPr/>
        </p:nvSpPr>
        <p:spPr>
          <a:xfrm flipH="1">
            <a:off x="6705600" y="5420527"/>
            <a:ext cx="0" cy="759500"/>
          </a:xfrm>
          <a:prstGeom prst="line">
            <a:avLst/>
          </a:prstGeom>
          <a:ln w="9525" cap="flat">
            <a:solidFill>
              <a:srgbClr val="737373"/>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50" name="AutoShape 29">
            <a:extLst>
              <a:ext uri="{FF2B5EF4-FFF2-40B4-BE49-F238E27FC236}">
                <a16:creationId xmlns:a16="http://schemas.microsoft.com/office/drawing/2014/main" id="{D5209604-6485-4F9E-068A-D7533D67B479}"/>
              </a:ext>
            </a:extLst>
          </p:cNvPr>
          <p:cNvSpPr/>
          <p:nvPr/>
        </p:nvSpPr>
        <p:spPr>
          <a:xfrm flipH="1">
            <a:off x="6705600" y="7319361"/>
            <a:ext cx="0" cy="759500"/>
          </a:xfrm>
          <a:prstGeom prst="line">
            <a:avLst/>
          </a:prstGeom>
          <a:ln w="9525" cap="flat">
            <a:solidFill>
              <a:srgbClr val="737373"/>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51" name="テキスト ボックス 50">
            <a:extLst>
              <a:ext uri="{FF2B5EF4-FFF2-40B4-BE49-F238E27FC236}">
                <a16:creationId xmlns:a16="http://schemas.microsoft.com/office/drawing/2014/main" id="{0762D8C0-586B-FA05-4D56-A5AEBA37610F}"/>
              </a:ext>
            </a:extLst>
          </p:cNvPr>
          <p:cNvSpPr txBox="1"/>
          <p:nvPr/>
        </p:nvSpPr>
        <p:spPr>
          <a:xfrm>
            <a:off x="2316732" y="5362207"/>
            <a:ext cx="4267197" cy="960519"/>
          </a:xfrm>
          <a:prstGeom prst="rect">
            <a:avLst/>
          </a:prstGeom>
          <a:noFill/>
        </p:spPr>
        <p:txBody>
          <a:bodyPr wrap="square">
            <a:spAutoFit/>
          </a:bodyPr>
          <a:lstStyle/>
          <a:p>
            <a:pPr marL="0" marR="0" lvl="0" indent="0" algn="l" defTabSz="914400" rtl="0" eaLnBrk="1" fontAlgn="auto" latinLnBrk="0" hangingPunct="1">
              <a:lnSpc>
                <a:spcPts val="3499"/>
              </a:lnSpc>
              <a:spcBef>
                <a:spcPts val="0"/>
              </a:spcBef>
              <a:spcAft>
                <a:spcPts val="0"/>
              </a:spcAft>
              <a:buClrTx/>
              <a:buSzTx/>
              <a:buFontTx/>
              <a:buNone/>
              <a:tabLst/>
              <a:defRPr/>
            </a:pPr>
            <a:r>
              <a:rPr kumimoji="0" lang="en-US" altLang="ja-JP" sz="2499" b="1" i="0" u="none" strike="noStrike" kern="1200" cap="none" spc="124" normalizeH="0" baseline="0" noProof="0" dirty="0">
                <a:ln>
                  <a:noFill/>
                </a:ln>
                <a:solidFill>
                  <a:srgbClr val="C00000"/>
                </a:solidFill>
                <a:effectLst/>
                <a:uLnTx/>
                <a:uFillTx/>
                <a:latin typeface="Yu Gothic" panose="020B0400000000000000" pitchFamily="34" charset="-128"/>
                <a:ea typeface="Yu Gothic" panose="020B0400000000000000" pitchFamily="34" charset="-128"/>
                <a:cs typeface="Noto Sans JP Heavy"/>
                <a:sym typeface="Noto Sans JP Heavy"/>
              </a:rPr>
              <a:t>Google Cloud</a:t>
            </a:r>
          </a:p>
          <a:p>
            <a:pPr marL="0" marR="0" lvl="0" indent="0" algn="l" defTabSz="914400" rtl="0" eaLnBrk="1" fontAlgn="auto" latinLnBrk="0" hangingPunct="1">
              <a:lnSpc>
                <a:spcPts val="3499"/>
              </a:lnSpc>
              <a:spcBef>
                <a:spcPts val="0"/>
              </a:spcBef>
              <a:spcAft>
                <a:spcPts val="0"/>
              </a:spcAft>
              <a:buClrTx/>
              <a:buSzTx/>
              <a:buFontTx/>
              <a:buNone/>
              <a:tabLst/>
              <a:defRPr/>
            </a:pPr>
            <a:r>
              <a:rPr lang="ja-JP" altLang="en-US" sz="2499" b="1" spc="124">
                <a:solidFill>
                  <a:srgbClr val="C00000"/>
                </a:solidFill>
                <a:latin typeface="Yu Gothic" panose="020B0400000000000000" pitchFamily="34" charset="-128"/>
                <a:ea typeface="Yu Gothic" panose="020B0400000000000000" pitchFamily="34" charset="-128"/>
                <a:cs typeface="Noto Sans JP Heavy"/>
                <a:sym typeface="Noto Sans JP Heavy"/>
              </a:rPr>
              <a:t>話者ダイアライゼーション</a:t>
            </a:r>
            <a:endParaRPr kumimoji="0" lang="en-US" altLang="ja-JP" sz="2499" b="1" i="0" u="none" strike="noStrike" kern="1200" cap="none" spc="124" normalizeH="0" baseline="0" noProof="0" dirty="0">
              <a:ln>
                <a:noFill/>
              </a:ln>
              <a:solidFill>
                <a:srgbClr val="C00000"/>
              </a:solidFill>
              <a:effectLst/>
              <a:uLnTx/>
              <a:uFillTx/>
              <a:latin typeface="Yu Gothic" panose="020B0400000000000000" pitchFamily="34" charset="-128"/>
              <a:ea typeface="Yu Gothic" panose="020B0400000000000000" pitchFamily="34" charset="-128"/>
              <a:cs typeface="Noto Sans JP Heavy"/>
              <a:sym typeface="Noto Sans JP Heavy"/>
            </a:endParaRPr>
          </a:p>
        </p:txBody>
      </p:sp>
    </p:spTree>
    <p:extLst>
      <p:ext uri="{BB962C8B-B14F-4D97-AF65-F5344CB8AC3E}">
        <p14:creationId xmlns:p14="http://schemas.microsoft.com/office/powerpoint/2010/main" val="25394548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0BC7A-333B-2F73-832A-A15EA9CDA95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C630C45-0B0D-C45D-762F-4802708BADB8}"/>
              </a:ext>
            </a:extLst>
          </p:cNvPr>
          <p:cNvSpPr/>
          <p:nvPr/>
        </p:nvSpPr>
        <p:spPr>
          <a:xfrm>
            <a:off x="857250" y="2361305"/>
            <a:ext cx="16573500"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3" name="AutoShape 3">
            <a:extLst>
              <a:ext uri="{FF2B5EF4-FFF2-40B4-BE49-F238E27FC236}">
                <a16:creationId xmlns:a16="http://schemas.microsoft.com/office/drawing/2014/main" id="{21B7D091-F8DE-7C41-798E-B7F67703C810}"/>
              </a:ext>
            </a:extLst>
          </p:cNvPr>
          <p:cNvSpPr/>
          <p:nvPr/>
        </p:nvSpPr>
        <p:spPr>
          <a:xfrm>
            <a:off x="857250" y="1047750"/>
            <a:ext cx="16573459"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4" name="AutoShape 4">
            <a:extLst>
              <a:ext uri="{FF2B5EF4-FFF2-40B4-BE49-F238E27FC236}">
                <a16:creationId xmlns:a16="http://schemas.microsoft.com/office/drawing/2014/main" id="{F6BB3B0E-514F-EC99-F169-65FB264E53F5}"/>
              </a:ext>
            </a:extLst>
          </p:cNvPr>
          <p:cNvSpPr/>
          <p:nvPr/>
        </p:nvSpPr>
        <p:spPr>
          <a:xfrm flipV="1">
            <a:off x="856856" y="904405"/>
            <a:ext cx="16574288"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5" name="AutoShape 5">
            <a:extLst>
              <a:ext uri="{FF2B5EF4-FFF2-40B4-BE49-F238E27FC236}">
                <a16:creationId xmlns:a16="http://schemas.microsoft.com/office/drawing/2014/main" id="{515F6D09-DD5B-AD87-BC72-F8094014A953}"/>
              </a:ext>
            </a:extLst>
          </p:cNvPr>
          <p:cNvSpPr/>
          <p:nvPr/>
        </p:nvSpPr>
        <p:spPr>
          <a:xfrm>
            <a:off x="857250" y="9382595"/>
            <a:ext cx="16573500"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6" name="AutoShape 6">
            <a:extLst>
              <a:ext uri="{FF2B5EF4-FFF2-40B4-BE49-F238E27FC236}">
                <a16:creationId xmlns:a16="http://schemas.microsoft.com/office/drawing/2014/main" id="{09960D74-FEA1-58DA-518C-DFC4390CD62B}"/>
              </a:ext>
            </a:extLst>
          </p:cNvPr>
          <p:cNvSpPr/>
          <p:nvPr/>
        </p:nvSpPr>
        <p:spPr>
          <a:xfrm>
            <a:off x="857250" y="9239250"/>
            <a:ext cx="16573500"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grpSp>
        <p:nvGrpSpPr>
          <p:cNvPr id="7" name="Group 7">
            <a:extLst>
              <a:ext uri="{FF2B5EF4-FFF2-40B4-BE49-F238E27FC236}">
                <a16:creationId xmlns:a16="http://schemas.microsoft.com/office/drawing/2014/main" id="{3A08F364-F1F9-F982-D983-E8E26DF445FE}"/>
              </a:ext>
            </a:extLst>
          </p:cNvPr>
          <p:cNvGrpSpPr/>
          <p:nvPr/>
        </p:nvGrpSpPr>
        <p:grpSpPr>
          <a:xfrm>
            <a:off x="1282599" y="650625"/>
            <a:ext cx="1213487" cy="1720205"/>
            <a:chOff x="0" y="0"/>
            <a:chExt cx="319601" cy="453058"/>
          </a:xfrm>
        </p:grpSpPr>
        <p:sp>
          <p:nvSpPr>
            <p:cNvPr id="8" name="Freeform 8">
              <a:extLst>
                <a:ext uri="{FF2B5EF4-FFF2-40B4-BE49-F238E27FC236}">
                  <a16:creationId xmlns:a16="http://schemas.microsoft.com/office/drawing/2014/main" id="{03FE14E5-7121-46EF-CCE9-510DC1B48659}"/>
                </a:ext>
              </a:extLst>
            </p:cNvPr>
            <p:cNvSpPr/>
            <p:nvPr/>
          </p:nvSpPr>
          <p:spPr>
            <a:xfrm>
              <a:off x="0" y="0"/>
              <a:ext cx="319601" cy="453058"/>
            </a:xfrm>
            <a:custGeom>
              <a:avLst/>
              <a:gdLst/>
              <a:ahLst/>
              <a:cxnLst/>
              <a:rect l="l" t="t" r="r" b="b"/>
              <a:pathLst>
                <a:path w="319601" h="453058">
                  <a:moveTo>
                    <a:pt x="0" y="0"/>
                  </a:moveTo>
                  <a:lnTo>
                    <a:pt x="319601" y="0"/>
                  </a:lnTo>
                  <a:lnTo>
                    <a:pt x="319601" y="453058"/>
                  </a:lnTo>
                  <a:lnTo>
                    <a:pt x="0" y="453058"/>
                  </a:lnTo>
                  <a:close/>
                </a:path>
              </a:pathLst>
            </a:custGeom>
            <a:solidFill>
              <a:srgbClr val="1B1B1B"/>
            </a:solidFill>
          </p:spPr>
          <p:txBody>
            <a:bodyPr/>
            <a:lstStyle/>
            <a:p>
              <a:endParaRPr lang="ja-JP" altLang="en-US">
                <a:latin typeface="Yu Gothic" panose="020B0400000000000000" pitchFamily="34" charset="-128"/>
                <a:ea typeface="Yu Gothic" panose="020B0400000000000000" pitchFamily="34" charset="-128"/>
              </a:endParaRPr>
            </a:p>
          </p:txBody>
        </p:sp>
        <p:sp>
          <p:nvSpPr>
            <p:cNvPr id="9" name="TextBox 9">
              <a:extLst>
                <a:ext uri="{FF2B5EF4-FFF2-40B4-BE49-F238E27FC236}">
                  <a16:creationId xmlns:a16="http://schemas.microsoft.com/office/drawing/2014/main" id="{D6FE6458-1BC2-EE53-55C9-53B844B13F89}"/>
                </a:ext>
              </a:extLst>
            </p:cNvPr>
            <p:cNvSpPr txBox="1"/>
            <p:nvPr/>
          </p:nvSpPr>
          <p:spPr>
            <a:xfrm>
              <a:off x="0" y="-47625"/>
              <a:ext cx="319601" cy="500683"/>
            </a:xfrm>
            <a:prstGeom prst="rect">
              <a:avLst/>
            </a:prstGeom>
          </p:spPr>
          <p:txBody>
            <a:bodyPr lIns="50800" tIns="50800" rIns="50800" bIns="50800" rtlCol="0" anchor="ctr"/>
            <a:lstStyle/>
            <a:p>
              <a:pPr algn="ctr">
                <a:lnSpc>
                  <a:spcPts val="3359"/>
                </a:lnSpc>
              </a:pPr>
              <a:endParaRPr>
                <a:latin typeface="Yu Gothic" panose="020B0400000000000000" pitchFamily="34" charset="-128"/>
                <a:ea typeface="Yu Gothic" panose="020B0400000000000000" pitchFamily="34" charset="-128"/>
              </a:endParaRPr>
            </a:p>
          </p:txBody>
        </p:sp>
      </p:grpSp>
      <p:sp>
        <p:nvSpPr>
          <p:cNvPr id="12" name="TextBox 12">
            <a:extLst>
              <a:ext uri="{FF2B5EF4-FFF2-40B4-BE49-F238E27FC236}">
                <a16:creationId xmlns:a16="http://schemas.microsoft.com/office/drawing/2014/main" id="{2AD920D5-6829-BB18-E1F1-07BD33934CB7}"/>
              </a:ext>
            </a:extLst>
          </p:cNvPr>
          <p:cNvSpPr txBox="1"/>
          <p:nvPr/>
        </p:nvSpPr>
        <p:spPr>
          <a:xfrm>
            <a:off x="2949343" y="1458741"/>
            <a:ext cx="14309957" cy="538609"/>
          </a:xfrm>
          <a:prstGeom prst="rect">
            <a:avLst/>
          </a:prstGeom>
        </p:spPr>
        <p:txBody>
          <a:bodyPr lIns="0" tIns="0" rIns="0" bIns="0" rtlCol="0" anchor="ctr">
            <a:spAutoFit/>
          </a:bodyPr>
          <a:lstStyle/>
          <a:p>
            <a:r>
              <a:rPr lang="ja-JP" altLang="en-US" sz="3500" b="1" spc="175">
                <a:solidFill>
                  <a:srgbClr val="1B1B1B"/>
                </a:solidFill>
                <a:latin typeface="Yu Gothic" panose="020B0400000000000000" pitchFamily="34" charset="-128"/>
                <a:ea typeface="Yu Gothic" panose="020B0400000000000000" pitchFamily="34" charset="-128"/>
                <a:cs typeface="Noto Sans JP Heavy"/>
                <a:sym typeface="Noto Sans JP Heavy"/>
              </a:rPr>
              <a:t>今回活用する話者分離の手法</a:t>
            </a:r>
            <a:endParaRPr lang="en-US" altLang="ja-JP" sz="3500" b="1" spc="175" dirty="0">
              <a:solidFill>
                <a:srgbClr val="1B1B1B"/>
              </a:solidFill>
              <a:latin typeface="Yu Gothic" panose="020B0400000000000000" pitchFamily="34" charset="-128"/>
              <a:ea typeface="Yu Gothic" panose="020B0400000000000000" pitchFamily="34" charset="-128"/>
              <a:cs typeface="Noto Sans JP Heavy"/>
              <a:sym typeface="Noto Sans JP Heavy"/>
            </a:endParaRPr>
          </a:p>
        </p:txBody>
      </p:sp>
      <p:sp>
        <p:nvSpPr>
          <p:cNvPr id="13" name="TextBox 13">
            <a:extLst>
              <a:ext uri="{FF2B5EF4-FFF2-40B4-BE49-F238E27FC236}">
                <a16:creationId xmlns:a16="http://schemas.microsoft.com/office/drawing/2014/main" id="{A75F93AA-D2DA-9BB5-24A9-C109127540EA}"/>
              </a:ext>
            </a:extLst>
          </p:cNvPr>
          <p:cNvSpPr txBox="1"/>
          <p:nvPr/>
        </p:nvSpPr>
        <p:spPr>
          <a:xfrm>
            <a:off x="1461953" y="1228278"/>
            <a:ext cx="854779" cy="733425"/>
          </a:xfrm>
          <a:prstGeom prst="rect">
            <a:avLst/>
          </a:prstGeom>
        </p:spPr>
        <p:txBody>
          <a:bodyPr lIns="0" tIns="0" rIns="0" bIns="0" rtlCol="0" anchor="t">
            <a:spAutoFit/>
          </a:bodyPr>
          <a:lstStyle/>
          <a:p>
            <a:pPr marL="0" lvl="0" indent="0" algn="ctr">
              <a:lnSpc>
                <a:spcPts val="6300"/>
              </a:lnSpc>
              <a:spcBef>
                <a:spcPct val="0"/>
              </a:spcBef>
            </a:pPr>
            <a:r>
              <a:rPr lang="en-US" sz="3500" b="1" u="none" strike="noStrike" dirty="0">
                <a:solidFill>
                  <a:srgbClr val="FAFAFA"/>
                </a:solidFill>
                <a:latin typeface="Yu Gothic" panose="020B0400000000000000" pitchFamily="34" charset="-128"/>
                <a:ea typeface="Yu Gothic" panose="020B0400000000000000" pitchFamily="34" charset="-128"/>
                <a:cs typeface="Open Sans Bold"/>
                <a:sym typeface="Open Sans Bold"/>
              </a:rPr>
              <a:t>02</a:t>
            </a:r>
          </a:p>
        </p:txBody>
      </p:sp>
      <p:sp>
        <p:nvSpPr>
          <p:cNvPr id="22" name="スライド番号プレースホルダー 21">
            <a:extLst>
              <a:ext uri="{FF2B5EF4-FFF2-40B4-BE49-F238E27FC236}">
                <a16:creationId xmlns:a16="http://schemas.microsoft.com/office/drawing/2014/main" id="{EDB2B082-4F2F-0868-4792-F7AA1103AA15}"/>
              </a:ext>
            </a:extLst>
          </p:cNvPr>
          <p:cNvSpPr>
            <a:spLocks noGrp="1"/>
          </p:cNvSpPr>
          <p:nvPr>
            <p:ph type="sldNum" sz="quarter" idx="12"/>
          </p:nvPr>
        </p:nvSpPr>
        <p:spPr/>
        <p:txBody>
          <a:bodyPr/>
          <a:lstStyle/>
          <a:p>
            <a:fld id="{B6F15528-21DE-4FAA-801E-634DDDAF4B2B}" type="slidenum">
              <a:rPr lang="en-US" smtClean="0">
                <a:latin typeface="Yu Gothic" panose="020B0400000000000000" pitchFamily="34" charset="-128"/>
                <a:ea typeface="Yu Gothic" panose="020B0400000000000000" pitchFamily="34" charset="-128"/>
              </a:rPr>
              <a:pPr/>
              <a:t>5</a:t>
            </a:fld>
            <a:endParaRPr lang="en-US" dirty="0">
              <a:latin typeface="Yu Gothic" panose="020B0400000000000000" pitchFamily="34" charset="-128"/>
              <a:ea typeface="Yu Gothic" panose="020B0400000000000000" pitchFamily="34" charset="-128"/>
            </a:endParaRPr>
          </a:p>
        </p:txBody>
      </p:sp>
      <p:sp>
        <p:nvSpPr>
          <p:cNvPr id="16" name="テキスト ボックス 15">
            <a:extLst>
              <a:ext uri="{FF2B5EF4-FFF2-40B4-BE49-F238E27FC236}">
                <a16:creationId xmlns:a16="http://schemas.microsoft.com/office/drawing/2014/main" id="{8900963F-F792-96BE-2A80-59678515F2DA}"/>
              </a:ext>
            </a:extLst>
          </p:cNvPr>
          <p:cNvSpPr txBox="1"/>
          <p:nvPr/>
        </p:nvSpPr>
        <p:spPr>
          <a:xfrm>
            <a:off x="856856" y="9405306"/>
            <a:ext cx="11317522" cy="307777"/>
          </a:xfrm>
          <a:prstGeom prst="rect">
            <a:avLst/>
          </a:prstGeom>
          <a:noFill/>
        </p:spPr>
        <p:txBody>
          <a:bodyPr wrap="none" rtlCol="0">
            <a:spAutoFit/>
          </a:bodyPr>
          <a:lstStyle/>
          <a:p>
            <a:r>
              <a:rPr kumimoji="1" lang="ja-JP" altLang="en-US" sz="1400">
                <a:latin typeface="Yu Gothic" panose="020B0400000000000000" pitchFamily="34" charset="-128"/>
                <a:ea typeface="Yu Gothic" panose="020B0400000000000000" pitchFamily="34" charset="-128"/>
              </a:rPr>
              <a:t>［参考］</a:t>
            </a:r>
            <a:r>
              <a:rPr kumimoji="1" lang="en-US" altLang="ja-JP" sz="1400" dirty="0">
                <a:latin typeface="Yu Gothic" panose="020B0400000000000000" pitchFamily="34" charset="-128"/>
                <a:ea typeface="Yu Gothic" panose="020B0400000000000000" pitchFamily="34" charset="-128"/>
              </a:rPr>
              <a:t>	Google Cloud”</a:t>
            </a:r>
            <a:r>
              <a:rPr kumimoji="1" lang="ja-JP" altLang="en-US" sz="1400">
                <a:latin typeface="Yu Gothic" panose="020B0400000000000000" pitchFamily="34" charset="-128"/>
                <a:ea typeface="Yu Gothic" panose="020B0400000000000000" pitchFamily="34" charset="-128"/>
              </a:rPr>
              <a:t>音声録音内の異なる話者を分離する</a:t>
            </a:r>
            <a:r>
              <a:rPr kumimoji="1" lang="en-US" altLang="ja-JP" sz="1400" dirty="0">
                <a:latin typeface="Yu Gothic" panose="020B0400000000000000" pitchFamily="34" charset="-128"/>
                <a:ea typeface="Yu Gothic" panose="020B0400000000000000" pitchFamily="34" charset="-128"/>
              </a:rPr>
              <a:t>” https://</a:t>
            </a:r>
            <a:r>
              <a:rPr kumimoji="1" lang="en-US" altLang="ja-JP" sz="1400" dirty="0" err="1">
                <a:latin typeface="Yu Gothic" panose="020B0400000000000000" pitchFamily="34" charset="-128"/>
                <a:ea typeface="Yu Gothic" panose="020B0400000000000000" pitchFamily="34" charset="-128"/>
              </a:rPr>
              <a:t>cloud.google.com</a:t>
            </a:r>
            <a:r>
              <a:rPr kumimoji="1" lang="en-US" altLang="ja-JP" sz="1400" dirty="0">
                <a:latin typeface="Yu Gothic" panose="020B0400000000000000" pitchFamily="34" charset="-128"/>
                <a:ea typeface="Yu Gothic" panose="020B0400000000000000" pitchFamily="34" charset="-128"/>
              </a:rPr>
              <a:t>/speech-to-text/v2/docs/</a:t>
            </a:r>
            <a:r>
              <a:rPr kumimoji="1" lang="en-US" altLang="ja-JP" sz="1400" dirty="0" err="1">
                <a:latin typeface="Yu Gothic" panose="020B0400000000000000" pitchFamily="34" charset="-128"/>
                <a:ea typeface="Yu Gothic" panose="020B0400000000000000" pitchFamily="34" charset="-128"/>
              </a:rPr>
              <a:t>multiple-voices?hl</a:t>
            </a:r>
            <a:r>
              <a:rPr kumimoji="1" lang="en-US" altLang="ja-JP" sz="1400" dirty="0">
                <a:latin typeface="Yu Gothic" panose="020B0400000000000000" pitchFamily="34" charset="-128"/>
                <a:ea typeface="Yu Gothic" panose="020B0400000000000000" pitchFamily="34" charset="-128"/>
              </a:rPr>
              <a:t>=ja</a:t>
            </a:r>
          </a:p>
        </p:txBody>
      </p:sp>
      <p:grpSp>
        <p:nvGrpSpPr>
          <p:cNvPr id="33" name="Group 18">
            <a:extLst>
              <a:ext uri="{FF2B5EF4-FFF2-40B4-BE49-F238E27FC236}">
                <a16:creationId xmlns:a16="http://schemas.microsoft.com/office/drawing/2014/main" id="{EAF79DB8-0FB1-FC7D-9F6A-862F76FAB67A}"/>
              </a:ext>
            </a:extLst>
          </p:cNvPr>
          <p:cNvGrpSpPr/>
          <p:nvPr/>
        </p:nvGrpSpPr>
        <p:grpSpPr>
          <a:xfrm>
            <a:off x="2138872" y="2476500"/>
            <a:ext cx="14010256" cy="1794059"/>
            <a:chOff x="0" y="0"/>
            <a:chExt cx="3689944" cy="472509"/>
          </a:xfrm>
        </p:grpSpPr>
        <p:sp>
          <p:nvSpPr>
            <p:cNvPr id="34" name="Freeform 19">
              <a:extLst>
                <a:ext uri="{FF2B5EF4-FFF2-40B4-BE49-F238E27FC236}">
                  <a16:creationId xmlns:a16="http://schemas.microsoft.com/office/drawing/2014/main" id="{7865E462-2F7C-83D4-8991-DFBF9C2834BE}"/>
                </a:ext>
              </a:extLst>
            </p:cNvPr>
            <p:cNvSpPr/>
            <p:nvPr/>
          </p:nvSpPr>
          <p:spPr>
            <a:xfrm>
              <a:off x="0" y="0"/>
              <a:ext cx="3689944" cy="472509"/>
            </a:xfrm>
            <a:custGeom>
              <a:avLst/>
              <a:gdLst/>
              <a:ahLst/>
              <a:cxnLst/>
              <a:rect l="l" t="t" r="r" b="b"/>
              <a:pathLst>
                <a:path w="3689944" h="472509">
                  <a:moveTo>
                    <a:pt x="0" y="0"/>
                  </a:moveTo>
                  <a:lnTo>
                    <a:pt x="3689944" y="0"/>
                  </a:lnTo>
                  <a:lnTo>
                    <a:pt x="3689944" y="472509"/>
                  </a:lnTo>
                  <a:lnTo>
                    <a:pt x="0" y="472509"/>
                  </a:lnTo>
                  <a:close/>
                </a:path>
              </a:pathLst>
            </a:custGeom>
            <a:solidFill>
              <a:srgbClr val="E9E9E9"/>
            </a:solidFill>
          </p:spPr>
          <p:txBody>
            <a:bodyPr/>
            <a:lstStyle/>
            <a:p>
              <a:endParaRPr lang="ja-JP" altLang="en-US">
                <a:latin typeface="Yu Gothic" panose="020B0400000000000000" pitchFamily="34" charset="-128"/>
                <a:ea typeface="Yu Gothic" panose="020B0400000000000000" pitchFamily="34" charset="-128"/>
              </a:endParaRPr>
            </a:p>
          </p:txBody>
        </p:sp>
        <p:sp>
          <p:nvSpPr>
            <p:cNvPr id="35" name="TextBox 20">
              <a:extLst>
                <a:ext uri="{FF2B5EF4-FFF2-40B4-BE49-F238E27FC236}">
                  <a16:creationId xmlns:a16="http://schemas.microsoft.com/office/drawing/2014/main" id="{DCA924F1-A661-C5C0-4999-EFE0C9BE02D9}"/>
                </a:ext>
              </a:extLst>
            </p:cNvPr>
            <p:cNvSpPr txBox="1"/>
            <p:nvPr/>
          </p:nvSpPr>
          <p:spPr>
            <a:xfrm>
              <a:off x="0" y="-47625"/>
              <a:ext cx="3689944" cy="520134"/>
            </a:xfrm>
            <a:prstGeom prst="rect">
              <a:avLst/>
            </a:prstGeom>
          </p:spPr>
          <p:txBody>
            <a:bodyPr lIns="50800" tIns="50800" rIns="50800" bIns="50800" rtlCol="0" anchor="ctr"/>
            <a:lstStyle/>
            <a:p>
              <a:pPr algn="ctr">
                <a:lnSpc>
                  <a:spcPts val="3359"/>
                </a:lnSpc>
              </a:pPr>
              <a:endParaRPr>
                <a:latin typeface="Yu Gothic" panose="020B0400000000000000" pitchFamily="34" charset="-128"/>
                <a:ea typeface="Yu Gothic" panose="020B0400000000000000" pitchFamily="34" charset="-128"/>
              </a:endParaRPr>
            </a:p>
          </p:txBody>
        </p:sp>
      </p:grpSp>
      <p:sp>
        <p:nvSpPr>
          <p:cNvPr id="46" name="TextBox 22">
            <a:extLst>
              <a:ext uri="{FF2B5EF4-FFF2-40B4-BE49-F238E27FC236}">
                <a16:creationId xmlns:a16="http://schemas.microsoft.com/office/drawing/2014/main" id="{D65C3BA6-9988-D7CD-D8BA-35658BD1327A}"/>
              </a:ext>
            </a:extLst>
          </p:cNvPr>
          <p:cNvSpPr txBox="1"/>
          <p:nvPr/>
        </p:nvSpPr>
        <p:spPr>
          <a:xfrm>
            <a:off x="7233576" y="3201331"/>
            <a:ext cx="8194277" cy="432939"/>
          </a:xfrm>
          <a:prstGeom prst="rect">
            <a:avLst/>
          </a:prstGeom>
        </p:spPr>
        <p:txBody>
          <a:bodyPr lIns="0" tIns="0" rIns="0" bIns="0" rtlCol="0" anchor="t">
            <a:spAutoFit/>
          </a:bodyPr>
          <a:lstStyle/>
          <a:p>
            <a:pPr algn="l">
              <a:lnSpc>
                <a:spcPts val="3600"/>
              </a:lnSpc>
            </a:pPr>
            <a:r>
              <a:rPr lang="en-US" altLang="ja-JP" sz="2400" spc="100" dirty="0">
                <a:latin typeface="Yu Gothic" panose="020B0400000000000000" pitchFamily="34" charset="-128"/>
                <a:ea typeface="Yu Gothic" panose="020B0400000000000000" pitchFamily="34" charset="-128"/>
                <a:cs typeface="Noto Sans JP"/>
                <a:sym typeface="Noto Sans JP"/>
              </a:rPr>
              <a:t>Google</a:t>
            </a:r>
            <a:r>
              <a:rPr lang="ja-JP" altLang="en-US" sz="2400" spc="100">
                <a:latin typeface="Yu Gothic" panose="020B0400000000000000" pitchFamily="34" charset="-128"/>
                <a:ea typeface="Yu Gothic" panose="020B0400000000000000" pitchFamily="34" charset="-128"/>
                <a:cs typeface="Noto Sans JP"/>
                <a:sym typeface="Noto Sans JP"/>
              </a:rPr>
              <a:t>の</a:t>
            </a:r>
            <a:r>
              <a:rPr lang="en-US" altLang="ja-JP" sz="2400" spc="100" dirty="0">
                <a:latin typeface="Yu Gothic" panose="020B0400000000000000" pitchFamily="34" charset="-128"/>
                <a:ea typeface="Yu Gothic" panose="020B0400000000000000" pitchFamily="34" charset="-128"/>
                <a:cs typeface="Noto Sans JP"/>
                <a:sym typeface="Noto Sans JP"/>
              </a:rPr>
              <a:t>Speech-to-Text</a:t>
            </a:r>
            <a:r>
              <a:rPr lang="ja-JP" altLang="en-US" sz="2400" spc="100">
                <a:latin typeface="Yu Gothic" panose="020B0400000000000000" pitchFamily="34" charset="-128"/>
                <a:ea typeface="Yu Gothic" panose="020B0400000000000000" pitchFamily="34" charset="-128"/>
                <a:cs typeface="Noto Sans JP"/>
                <a:sym typeface="Noto Sans JP"/>
              </a:rPr>
              <a:t>に付随する機能</a:t>
            </a:r>
            <a:endParaRPr lang="en-US" altLang="ja-JP" sz="2400" spc="100" dirty="0">
              <a:latin typeface="Yu Gothic" panose="020B0400000000000000" pitchFamily="34" charset="-128"/>
              <a:ea typeface="Yu Gothic" panose="020B0400000000000000" pitchFamily="34" charset="-128"/>
              <a:cs typeface="Noto Sans JP"/>
              <a:sym typeface="Noto Sans JP"/>
            </a:endParaRPr>
          </a:p>
        </p:txBody>
      </p:sp>
      <p:sp>
        <p:nvSpPr>
          <p:cNvPr id="49" name="AutoShape 28">
            <a:extLst>
              <a:ext uri="{FF2B5EF4-FFF2-40B4-BE49-F238E27FC236}">
                <a16:creationId xmlns:a16="http://schemas.microsoft.com/office/drawing/2014/main" id="{3174F91A-A9DA-3993-9E04-BFD932DD0694}"/>
              </a:ext>
            </a:extLst>
          </p:cNvPr>
          <p:cNvSpPr/>
          <p:nvPr/>
        </p:nvSpPr>
        <p:spPr>
          <a:xfrm flipH="1">
            <a:off x="6705600" y="2993779"/>
            <a:ext cx="0" cy="759500"/>
          </a:xfrm>
          <a:prstGeom prst="line">
            <a:avLst/>
          </a:prstGeom>
          <a:ln w="9525" cap="flat">
            <a:solidFill>
              <a:srgbClr val="737373"/>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51" name="テキスト ボックス 50">
            <a:extLst>
              <a:ext uri="{FF2B5EF4-FFF2-40B4-BE49-F238E27FC236}">
                <a16:creationId xmlns:a16="http://schemas.microsoft.com/office/drawing/2014/main" id="{49CB84C2-BE5B-CE44-7CFD-CA53F95EEF96}"/>
              </a:ext>
            </a:extLst>
          </p:cNvPr>
          <p:cNvSpPr txBox="1"/>
          <p:nvPr/>
        </p:nvSpPr>
        <p:spPr>
          <a:xfrm>
            <a:off x="2316732" y="2935459"/>
            <a:ext cx="4267197" cy="960519"/>
          </a:xfrm>
          <a:prstGeom prst="rect">
            <a:avLst/>
          </a:prstGeom>
          <a:noFill/>
        </p:spPr>
        <p:txBody>
          <a:bodyPr wrap="square">
            <a:spAutoFit/>
          </a:bodyPr>
          <a:lstStyle/>
          <a:p>
            <a:pPr marL="0" marR="0" lvl="0" indent="0" algn="l" defTabSz="914400" rtl="0" eaLnBrk="1" fontAlgn="auto" latinLnBrk="0" hangingPunct="1">
              <a:lnSpc>
                <a:spcPts val="3499"/>
              </a:lnSpc>
              <a:spcBef>
                <a:spcPts val="0"/>
              </a:spcBef>
              <a:spcAft>
                <a:spcPts val="0"/>
              </a:spcAft>
              <a:buClrTx/>
              <a:buSzTx/>
              <a:buFontTx/>
              <a:buNone/>
              <a:tabLst/>
              <a:defRPr/>
            </a:pPr>
            <a:r>
              <a:rPr kumimoji="0" lang="en-US" altLang="ja-JP" sz="2499" b="1" i="0" u="none" strike="noStrike" kern="1200" cap="none" spc="124" normalizeH="0" baseline="0" noProof="0" dirty="0">
                <a:ln>
                  <a:noFill/>
                </a:ln>
                <a:solidFill>
                  <a:srgbClr val="C00000"/>
                </a:solidFill>
                <a:effectLst/>
                <a:uLnTx/>
                <a:uFillTx/>
                <a:latin typeface="Yu Gothic" panose="020B0400000000000000" pitchFamily="34" charset="-128"/>
                <a:ea typeface="Yu Gothic" panose="020B0400000000000000" pitchFamily="34" charset="-128"/>
                <a:cs typeface="Noto Sans JP Heavy"/>
                <a:sym typeface="Noto Sans JP Heavy"/>
              </a:rPr>
              <a:t>Google Cloud</a:t>
            </a:r>
          </a:p>
          <a:p>
            <a:pPr marL="0" marR="0" lvl="0" indent="0" algn="l" defTabSz="914400" rtl="0" eaLnBrk="1" fontAlgn="auto" latinLnBrk="0" hangingPunct="1">
              <a:lnSpc>
                <a:spcPts val="3499"/>
              </a:lnSpc>
              <a:spcBef>
                <a:spcPts val="0"/>
              </a:spcBef>
              <a:spcAft>
                <a:spcPts val="0"/>
              </a:spcAft>
              <a:buClrTx/>
              <a:buSzTx/>
              <a:buFontTx/>
              <a:buNone/>
              <a:tabLst/>
              <a:defRPr/>
            </a:pPr>
            <a:r>
              <a:rPr lang="ja-JP" altLang="en-US" sz="2499" b="1" spc="124">
                <a:solidFill>
                  <a:srgbClr val="C00000"/>
                </a:solidFill>
                <a:latin typeface="Yu Gothic" panose="020B0400000000000000" pitchFamily="34" charset="-128"/>
                <a:ea typeface="Yu Gothic" panose="020B0400000000000000" pitchFamily="34" charset="-128"/>
                <a:cs typeface="Noto Sans JP Heavy"/>
                <a:sym typeface="Noto Sans JP Heavy"/>
              </a:rPr>
              <a:t>話者ダイアライゼーション</a:t>
            </a:r>
            <a:endParaRPr kumimoji="0" lang="en-US" altLang="ja-JP" sz="2499" b="1" i="0" u="none" strike="noStrike" kern="1200" cap="none" spc="124" normalizeH="0" baseline="0" noProof="0" dirty="0">
              <a:ln>
                <a:noFill/>
              </a:ln>
              <a:solidFill>
                <a:srgbClr val="C00000"/>
              </a:solidFill>
              <a:effectLst/>
              <a:uLnTx/>
              <a:uFillTx/>
              <a:latin typeface="Yu Gothic" panose="020B0400000000000000" pitchFamily="34" charset="-128"/>
              <a:ea typeface="Yu Gothic" panose="020B0400000000000000" pitchFamily="34" charset="-128"/>
              <a:cs typeface="Noto Sans JP Heavy"/>
              <a:sym typeface="Noto Sans JP Heavy"/>
            </a:endParaRPr>
          </a:p>
        </p:txBody>
      </p:sp>
      <p:sp>
        <p:nvSpPr>
          <p:cNvPr id="10" name="テキスト ボックス 9">
            <a:extLst>
              <a:ext uri="{FF2B5EF4-FFF2-40B4-BE49-F238E27FC236}">
                <a16:creationId xmlns:a16="http://schemas.microsoft.com/office/drawing/2014/main" id="{F003753C-6BC5-17CC-BCA1-127C07B235E1}"/>
              </a:ext>
            </a:extLst>
          </p:cNvPr>
          <p:cNvSpPr txBox="1"/>
          <p:nvPr/>
        </p:nvSpPr>
        <p:spPr>
          <a:xfrm>
            <a:off x="3101298" y="4293269"/>
            <a:ext cx="12085360" cy="1077218"/>
          </a:xfrm>
          <a:prstGeom prst="rect">
            <a:avLst/>
          </a:prstGeom>
          <a:noFill/>
        </p:spPr>
        <p:txBody>
          <a:bodyPr wrap="none" rtlCol="0">
            <a:spAutoFit/>
          </a:bodyPr>
          <a:lstStyle/>
          <a:p>
            <a:pPr algn="ctr"/>
            <a:r>
              <a:rPr kumimoji="1" lang="ja-JP" altLang="en-US" sz="3200">
                <a:latin typeface="Yu Gothic" panose="020B0400000000000000" pitchFamily="34" charset="-128"/>
                <a:ea typeface="Yu Gothic" panose="020B0400000000000000" pitchFamily="34" charset="-128"/>
              </a:rPr>
              <a:t>文字起こしする際に，話者ダイアライゼーションを有効にすると</a:t>
            </a:r>
            <a:endParaRPr kumimoji="1" lang="en-US" altLang="ja-JP" sz="3200" dirty="0">
              <a:latin typeface="Yu Gothic" panose="020B0400000000000000" pitchFamily="34" charset="-128"/>
              <a:ea typeface="Yu Gothic" panose="020B0400000000000000" pitchFamily="34" charset="-128"/>
            </a:endParaRPr>
          </a:p>
          <a:p>
            <a:pPr algn="ctr"/>
            <a:r>
              <a:rPr kumimoji="1" lang="ja-JP" altLang="en-US" sz="3200">
                <a:latin typeface="Yu Gothic" panose="020B0400000000000000" pitchFamily="34" charset="-128"/>
                <a:ea typeface="Yu Gothic" panose="020B0400000000000000" pitchFamily="34" charset="-128"/>
              </a:rPr>
              <a:t>音声内に含まれる</a:t>
            </a:r>
            <a:r>
              <a:rPr kumimoji="1" lang="ja-JP" altLang="en-US" sz="3200" b="1" u="sng">
                <a:solidFill>
                  <a:srgbClr val="C00000"/>
                </a:solidFill>
                <a:latin typeface="Yu Gothic" panose="020B0400000000000000" pitchFamily="34" charset="-128"/>
                <a:ea typeface="Yu Gothic" panose="020B0400000000000000" pitchFamily="34" charset="-128"/>
              </a:rPr>
              <a:t>異なる音声を識別</a:t>
            </a:r>
            <a:r>
              <a:rPr kumimoji="1" lang="ja-JP" altLang="en-US" sz="3200">
                <a:latin typeface="Yu Gothic" panose="020B0400000000000000" pitchFamily="34" charset="-128"/>
                <a:ea typeface="Yu Gothic" panose="020B0400000000000000" pitchFamily="34" charset="-128"/>
              </a:rPr>
              <a:t>することができる！</a:t>
            </a:r>
            <a:endParaRPr kumimoji="1" lang="en-US" altLang="ja-JP" sz="3200" dirty="0">
              <a:latin typeface="Yu Gothic" panose="020B0400000000000000" pitchFamily="34" charset="-128"/>
              <a:ea typeface="Yu Gothic" panose="020B0400000000000000" pitchFamily="34" charset="-128"/>
            </a:endParaRPr>
          </a:p>
        </p:txBody>
      </p:sp>
      <p:pic>
        <p:nvPicPr>
          <p:cNvPr id="14" name="図 13" descr="シャツ が含まれている画像&#10;&#10;AI によって生成されたコンテンツは間違っている可能性があります。">
            <a:extLst>
              <a:ext uri="{FF2B5EF4-FFF2-40B4-BE49-F238E27FC236}">
                <a16:creationId xmlns:a16="http://schemas.microsoft.com/office/drawing/2014/main" id="{BF54019F-4E14-9FD5-B4EC-F5C1457749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1318879" y="5339501"/>
            <a:ext cx="3260927" cy="3469764"/>
          </a:xfrm>
          <a:prstGeom prst="rect">
            <a:avLst/>
          </a:prstGeom>
        </p:spPr>
      </p:pic>
      <p:pic>
        <p:nvPicPr>
          <p:cNvPr id="19" name="図 18">
            <a:extLst>
              <a:ext uri="{FF2B5EF4-FFF2-40B4-BE49-F238E27FC236}">
                <a16:creationId xmlns:a16="http://schemas.microsoft.com/office/drawing/2014/main" id="{8FD3FE20-2C6B-65F6-4391-5FD69D7AB3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49088" y="6089430"/>
            <a:ext cx="3469764" cy="3469764"/>
          </a:xfrm>
          <a:prstGeom prst="rect">
            <a:avLst/>
          </a:prstGeom>
        </p:spPr>
      </p:pic>
      <p:sp>
        <p:nvSpPr>
          <p:cNvPr id="21" name="右矢印 20">
            <a:extLst>
              <a:ext uri="{FF2B5EF4-FFF2-40B4-BE49-F238E27FC236}">
                <a16:creationId xmlns:a16="http://schemas.microsoft.com/office/drawing/2014/main" id="{03915E09-69A4-4780-9121-13C6D58E0AEF}"/>
              </a:ext>
            </a:extLst>
          </p:cNvPr>
          <p:cNvSpPr/>
          <p:nvPr/>
        </p:nvSpPr>
        <p:spPr>
          <a:xfrm>
            <a:off x="6711840" y="6367127"/>
            <a:ext cx="4338074" cy="2094509"/>
          </a:xfrm>
          <a:prstGeom prst="rightArrow">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latin typeface="Yu Gothic" panose="020B0400000000000000" pitchFamily="34" charset="-128"/>
                <a:ea typeface="Yu Gothic" panose="020B0400000000000000" pitchFamily="34" charset="-128"/>
              </a:rPr>
              <a:t>Google Cloud</a:t>
            </a:r>
          </a:p>
          <a:p>
            <a:pPr algn="ctr"/>
            <a:r>
              <a:rPr kumimoji="1" lang="en-US" altLang="ja-JP" sz="2000" dirty="0">
                <a:latin typeface="Yu Gothic" panose="020B0400000000000000" pitchFamily="34" charset="-128"/>
                <a:ea typeface="Yu Gothic" panose="020B0400000000000000" pitchFamily="34" charset="-128"/>
              </a:rPr>
              <a:t>Speech-to-Text</a:t>
            </a:r>
            <a:endParaRPr kumimoji="1" lang="ja-JP" altLang="en-US" sz="2000">
              <a:latin typeface="Yu Gothic" panose="020B0400000000000000" pitchFamily="34" charset="-128"/>
              <a:ea typeface="Yu Gothic" panose="020B0400000000000000" pitchFamily="34" charset="-128"/>
            </a:endParaRPr>
          </a:p>
        </p:txBody>
      </p:sp>
      <p:sp>
        <p:nvSpPr>
          <p:cNvPr id="23" name="テキスト ボックス 22">
            <a:extLst>
              <a:ext uri="{FF2B5EF4-FFF2-40B4-BE49-F238E27FC236}">
                <a16:creationId xmlns:a16="http://schemas.microsoft.com/office/drawing/2014/main" id="{43E4A75D-5A48-0C36-4B01-4E7A44F983D7}"/>
              </a:ext>
            </a:extLst>
          </p:cNvPr>
          <p:cNvSpPr txBox="1"/>
          <p:nvPr/>
        </p:nvSpPr>
        <p:spPr>
          <a:xfrm>
            <a:off x="11330714" y="6367127"/>
            <a:ext cx="6312947" cy="1702517"/>
          </a:xfrm>
          <a:prstGeom prst="rect">
            <a:avLst/>
          </a:prstGeom>
          <a:noFill/>
        </p:spPr>
        <p:txBody>
          <a:bodyPr wrap="none" rtlCol="0">
            <a:spAutoFit/>
          </a:bodyPr>
          <a:lstStyle/>
          <a:p>
            <a:pPr>
              <a:lnSpc>
                <a:spcPct val="150000"/>
              </a:lnSpc>
            </a:pPr>
            <a:r>
              <a:rPr kumimoji="1" lang="en-US" altLang="ja-JP" sz="2400" dirty="0">
                <a:highlight>
                  <a:srgbClr val="E8C375"/>
                </a:highlight>
                <a:latin typeface="Yu Gothic" panose="020B0400000000000000" pitchFamily="34" charset="-128"/>
                <a:ea typeface="Yu Gothic" panose="020B0400000000000000" pitchFamily="34" charset="-128"/>
              </a:rPr>
              <a:t> 1 </a:t>
            </a:r>
            <a:r>
              <a:rPr kumimoji="1" lang="ja-JP" altLang="en-US" sz="2400">
                <a:latin typeface="Yu Gothic" panose="020B0400000000000000" pitchFamily="34" charset="-128"/>
                <a:ea typeface="Yu Gothic" panose="020B0400000000000000" pitchFamily="34" charset="-128"/>
              </a:rPr>
              <a:t>　最近なんかハマってることある？</a:t>
            </a:r>
            <a:br>
              <a:rPr kumimoji="1" lang="ja-JP" altLang="en-US" sz="2400">
                <a:latin typeface="Yu Gothic" panose="020B0400000000000000" pitchFamily="34" charset="-128"/>
                <a:ea typeface="Yu Gothic" panose="020B0400000000000000" pitchFamily="34" charset="-128"/>
              </a:rPr>
            </a:br>
            <a:r>
              <a:rPr kumimoji="1" lang="en-US" altLang="ja-JP" sz="2400" dirty="0">
                <a:highlight>
                  <a:srgbClr val="76E2E8"/>
                </a:highlight>
                <a:latin typeface="Yu Gothic" panose="020B0400000000000000" pitchFamily="34" charset="-128"/>
                <a:ea typeface="Yu Gothic" panose="020B0400000000000000" pitchFamily="34" charset="-128"/>
              </a:rPr>
              <a:t> 2 </a:t>
            </a:r>
            <a:r>
              <a:rPr kumimoji="1" lang="ja-JP" altLang="en-US" sz="2400">
                <a:latin typeface="Yu Gothic" panose="020B0400000000000000" pitchFamily="34" charset="-128"/>
                <a:ea typeface="Yu Gothic" panose="020B0400000000000000" pitchFamily="34" charset="-128"/>
              </a:rPr>
              <a:t>　夜に散歩するのが楽しくてさ、</a:t>
            </a:r>
            <a:r>
              <a:rPr kumimoji="1" lang="en-US" altLang="ja-JP" sz="2400" dirty="0">
                <a:latin typeface="Yu Gothic" panose="020B0400000000000000" pitchFamily="34" charset="-128"/>
                <a:ea typeface="Yu Gothic" panose="020B0400000000000000" pitchFamily="34" charset="-128"/>
              </a:rPr>
              <a:t>...</a:t>
            </a:r>
            <a:br>
              <a:rPr kumimoji="1" lang="ja-JP" altLang="en-US" sz="2400">
                <a:latin typeface="Yu Gothic" panose="020B0400000000000000" pitchFamily="34" charset="-128"/>
                <a:ea typeface="Yu Gothic" panose="020B0400000000000000" pitchFamily="34" charset="-128"/>
              </a:rPr>
            </a:br>
            <a:r>
              <a:rPr kumimoji="1" lang="en-US" altLang="ja-JP" sz="2400" dirty="0">
                <a:highlight>
                  <a:srgbClr val="E8C375"/>
                </a:highlight>
                <a:latin typeface="Yu Gothic" panose="020B0400000000000000" pitchFamily="34" charset="-128"/>
                <a:ea typeface="Yu Gothic" panose="020B0400000000000000" pitchFamily="34" charset="-128"/>
              </a:rPr>
              <a:t> 1 </a:t>
            </a:r>
            <a:r>
              <a:rPr kumimoji="1" lang="ja-JP" altLang="en-US" sz="2400">
                <a:latin typeface="Yu Gothic" panose="020B0400000000000000" pitchFamily="34" charset="-128"/>
                <a:ea typeface="Yu Gothic" panose="020B0400000000000000" pitchFamily="34" charset="-128"/>
              </a:rPr>
              <a:t>　わかる！夜の空気って気持ちいいし、</a:t>
            </a:r>
            <a:r>
              <a:rPr kumimoji="1" lang="en-US" altLang="ja-JP" sz="2400" dirty="0">
                <a:latin typeface="Yu Gothic" panose="020B0400000000000000" pitchFamily="34" charset="-128"/>
                <a:ea typeface="Yu Gothic" panose="020B0400000000000000" pitchFamily="34" charset="-128"/>
              </a:rPr>
              <a:t>...</a:t>
            </a:r>
            <a:endParaRPr kumimoji="1" lang="ja-JP" altLang="en-US" sz="240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25613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91839-E5F5-C91A-24D5-24CEAC1562B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ACA5914-32DD-C723-1138-4267CC5773D8}"/>
              </a:ext>
            </a:extLst>
          </p:cNvPr>
          <p:cNvSpPr/>
          <p:nvPr/>
        </p:nvSpPr>
        <p:spPr>
          <a:xfrm>
            <a:off x="857250" y="2361305"/>
            <a:ext cx="16573500"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3" name="AutoShape 3">
            <a:extLst>
              <a:ext uri="{FF2B5EF4-FFF2-40B4-BE49-F238E27FC236}">
                <a16:creationId xmlns:a16="http://schemas.microsoft.com/office/drawing/2014/main" id="{81AF8CDA-877E-80B6-2CAA-67D429455ADF}"/>
              </a:ext>
            </a:extLst>
          </p:cNvPr>
          <p:cNvSpPr/>
          <p:nvPr/>
        </p:nvSpPr>
        <p:spPr>
          <a:xfrm>
            <a:off x="857250" y="1047750"/>
            <a:ext cx="16573459"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4" name="AutoShape 4">
            <a:extLst>
              <a:ext uri="{FF2B5EF4-FFF2-40B4-BE49-F238E27FC236}">
                <a16:creationId xmlns:a16="http://schemas.microsoft.com/office/drawing/2014/main" id="{CFAC724F-26D0-E448-EA22-969CF277F07E}"/>
              </a:ext>
            </a:extLst>
          </p:cNvPr>
          <p:cNvSpPr/>
          <p:nvPr/>
        </p:nvSpPr>
        <p:spPr>
          <a:xfrm flipV="1">
            <a:off x="856856" y="904405"/>
            <a:ext cx="16574288"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5" name="AutoShape 5">
            <a:extLst>
              <a:ext uri="{FF2B5EF4-FFF2-40B4-BE49-F238E27FC236}">
                <a16:creationId xmlns:a16="http://schemas.microsoft.com/office/drawing/2014/main" id="{7D06BFCB-0655-927E-8FCD-4015A7B22A2E}"/>
              </a:ext>
            </a:extLst>
          </p:cNvPr>
          <p:cNvSpPr/>
          <p:nvPr/>
        </p:nvSpPr>
        <p:spPr>
          <a:xfrm>
            <a:off x="857250" y="9382595"/>
            <a:ext cx="16573500"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6" name="AutoShape 6">
            <a:extLst>
              <a:ext uri="{FF2B5EF4-FFF2-40B4-BE49-F238E27FC236}">
                <a16:creationId xmlns:a16="http://schemas.microsoft.com/office/drawing/2014/main" id="{39CE9B57-461A-FAAC-3B1E-F38B65CE95AF}"/>
              </a:ext>
            </a:extLst>
          </p:cNvPr>
          <p:cNvSpPr/>
          <p:nvPr/>
        </p:nvSpPr>
        <p:spPr>
          <a:xfrm>
            <a:off x="857250" y="9239250"/>
            <a:ext cx="16573500"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grpSp>
        <p:nvGrpSpPr>
          <p:cNvPr id="7" name="Group 7">
            <a:extLst>
              <a:ext uri="{FF2B5EF4-FFF2-40B4-BE49-F238E27FC236}">
                <a16:creationId xmlns:a16="http://schemas.microsoft.com/office/drawing/2014/main" id="{800C5E7D-EF7B-D6E8-587D-355CCED506E8}"/>
              </a:ext>
            </a:extLst>
          </p:cNvPr>
          <p:cNvGrpSpPr/>
          <p:nvPr/>
        </p:nvGrpSpPr>
        <p:grpSpPr>
          <a:xfrm>
            <a:off x="1282599" y="650625"/>
            <a:ext cx="1213487" cy="1720205"/>
            <a:chOff x="0" y="0"/>
            <a:chExt cx="319601" cy="453058"/>
          </a:xfrm>
        </p:grpSpPr>
        <p:sp>
          <p:nvSpPr>
            <p:cNvPr id="8" name="Freeform 8">
              <a:extLst>
                <a:ext uri="{FF2B5EF4-FFF2-40B4-BE49-F238E27FC236}">
                  <a16:creationId xmlns:a16="http://schemas.microsoft.com/office/drawing/2014/main" id="{D1F927EB-8AB1-D671-B7D9-3F63D409B9CB}"/>
                </a:ext>
              </a:extLst>
            </p:cNvPr>
            <p:cNvSpPr/>
            <p:nvPr/>
          </p:nvSpPr>
          <p:spPr>
            <a:xfrm>
              <a:off x="0" y="0"/>
              <a:ext cx="319601" cy="453058"/>
            </a:xfrm>
            <a:custGeom>
              <a:avLst/>
              <a:gdLst/>
              <a:ahLst/>
              <a:cxnLst/>
              <a:rect l="l" t="t" r="r" b="b"/>
              <a:pathLst>
                <a:path w="319601" h="453058">
                  <a:moveTo>
                    <a:pt x="0" y="0"/>
                  </a:moveTo>
                  <a:lnTo>
                    <a:pt x="319601" y="0"/>
                  </a:lnTo>
                  <a:lnTo>
                    <a:pt x="319601" y="453058"/>
                  </a:lnTo>
                  <a:lnTo>
                    <a:pt x="0" y="453058"/>
                  </a:lnTo>
                  <a:close/>
                </a:path>
              </a:pathLst>
            </a:custGeom>
            <a:solidFill>
              <a:srgbClr val="1B1B1B"/>
            </a:solidFill>
          </p:spPr>
          <p:txBody>
            <a:bodyPr/>
            <a:lstStyle/>
            <a:p>
              <a:endParaRPr lang="ja-JP" altLang="en-US">
                <a:latin typeface="Yu Gothic" panose="020B0400000000000000" pitchFamily="34" charset="-128"/>
                <a:ea typeface="Yu Gothic" panose="020B0400000000000000" pitchFamily="34" charset="-128"/>
              </a:endParaRPr>
            </a:p>
          </p:txBody>
        </p:sp>
        <p:sp>
          <p:nvSpPr>
            <p:cNvPr id="9" name="TextBox 9">
              <a:extLst>
                <a:ext uri="{FF2B5EF4-FFF2-40B4-BE49-F238E27FC236}">
                  <a16:creationId xmlns:a16="http://schemas.microsoft.com/office/drawing/2014/main" id="{B7476F49-779C-A419-EBEB-5FDBCEA0AF6D}"/>
                </a:ext>
              </a:extLst>
            </p:cNvPr>
            <p:cNvSpPr txBox="1"/>
            <p:nvPr/>
          </p:nvSpPr>
          <p:spPr>
            <a:xfrm>
              <a:off x="0" y="-47625"/>
              <a:ext cx="319601" cy="500683"/>
            </a:xfrm>
            <a:prstGeom prst="rect">
              <a:avLst/>
            </a:prstGeom>
          </p:spPr>
          <p:txBody>
            <a:bodyPr lIns="50800" tIns="50800" rIns="50800" bIns="50800" rtlCol="0" anchor="ctr"/>
            <a:lstStyle/>
            <a:p>
              <a:pPr algn="ctr">
                <a:lnSpc>
                  <a:spcPts val="3359"/>
                </a:lnSpc>
              </a:pPr>
              <a:endParaRPr>
                <a:latin typeface="Yu Gothic" panose="020B0400000000000000" pitchFamily="34" charset="-128"/>
                <a:ea typeface="Yu Gothic" panose="020B0400000000000000" pitchFamily="34" charset="-128"/>
              </a:endParaRPr>
            </a:p>
          </p:txBody>
        </p:sp>
      </p:grpSp>
      <p:sp>
        <p:nvSpPr>
          <p:cNvPr id="12" name="TextBox 12">
            <a:extLst>
              <a:ext uri="{FF2B5EF4-FFF2-40B4-BE49-F238E27FC236}">
                <a16:creationId xmlns:a16="http://schemas.microsoft.com/office/drawing/2014/main" id="{F1FC3FFB-0CDB-5EF0-12D2-D4B45362FCDC}"/>
              </a:ext>
            </a:extLst>
          </p:cNvPr>
          <p:cNvSpPr txBox="1"/>
          <p:nvPr/>
        </p:nvSpPr>
        <p:spPr>
          <a:xfrm>
            <a:off x="2949343" y="1458741"/>
            <a:ext cx="14309957" cy="538609"/>
          </a:xfrm>
          <a:prstGeom prst="rect">
            <a:avLst/>
          </a:prstGeom>
        </p:spPr>
        <p:txBody>
          <a:bodyPr lIns="0" tIns="0" rIns="0" bIns="0" rtlCol="0" anchor="ctr">
            <a:spAutoFit/>
          </a:bodyPr>
          <a:lstStyle/>
          <a:p>
            <a:r>
              <a:rPr lang="ja-JP" altLang="en-US" sz="3500" b="1" spc="175">
                <a:solidFill>
                  <a:srgbClr val="1B1B1B"/>
                </a:solidFill>
                <a:latin typeface="Yu Gothic" panose="020B0400000000000000" pitchFamily="34" charset="-128"/>
                <a:ea typeface="Yu Gothic" panose="020B0400000000000000" pitchFamily="34" charset="-128"/>
                <a:cs typeface="Noto Sans JP Heavy"/>
                <a:sym typeface="Noto Sans JP Heavy"/>
              </a:rPr>
              <a:t>今回活用する話者分離の手法</a:t>
            </a:r>
            <a:endParaRPr lang="en-US" altLang="ja-JP" sz="3500" b="1" spc="175" dirty="0">
              <a:solidFill>
                <a:srgbClr val="1B1B1B"/>
              </a:solidFill>
              <a:latin typeface="Yu Gothic" panose="020B0400000000000000" pitchFamily="34" charset="-128"/>
              <a:ea typeface="Yu Gothic" panose="020B0400000000000000" pitchFamily="34" charset="-128"/>
              <a:cs typeface="Noto Sans JP Heavy"/>
              <a:sym typeface="Noto Sans JP Heavy"/>
            </a:endParaRPr>
          </a:p>
        </p:txBody>
      </p:sp>
      <p:sp>
        <p:nvSpPr>
          <p:cNvPr id="13" name="TextBox 13">
            <a:extLst>
              <a:ext uri="{FF2B5EF4-FFF2-40B4-BE49-F238E27FC236}">
                <a16:creationId xmlns:a16="http://schemas.microsoft.com/office/drawing/2014/main" id="{387FEE01-CEE3-38F9-91BB-58E44F2EF601}"/>
              </a:ext>
            </a:extLst>
          </p:cNvPr>
          <p:cNvSpPr txBox="1"/>
          <p:nvPr/>
        </p:nvSpPr>
        <p:spPr>
          <a:xfrm>
            <a:off x="1461953" y="1228278"/>
            <a:ext cx="854779" cy="733425"/>
          </a:xfrm>
          <a:prstGeom prst="rect">
            <a:avLst/>
          </a:prstGeom>
        </p:spPr>
        <p:txBody>
          <a:bodyPr lIns="0" tIns="0" rIns="0" bIns="0" rtlCol="0" anchor="t">
            <a:spAutoFit/>
          </a:bodyPr>
          <a:lstStyle/>
          <a:p>
            <a:pPr marL="0" lvl="0" indent="0" algn="ctr">
              <a:lnSpc>
                <a:spcPts val="6300"/>
              </a:lnSpc>
              <a:spcBef>
                <a:spcPct val="0"/>
              </a:spcBef>
            </a:pPr>
            <a:r>
              <a:rPr lang="en-US" sz="3500" b="1" u="none" strike="noStrike" dirty="0">
                <a:solidFill>
                  <a:srgbClr val="FAFAFA"/>
                </a:solidFill>
                <a:latin typeface="Yu Gothic" panose="020B0400000000000000" pitchFamily="34" charset="-128"/>
                <a:ea typeface="Yu Gothic" panose="020B0400000000000000" pitchFamily="34" charset="-128"/>
                <a:cs typeface="Open Sans Bold"/>
                <a:sym typeface="Open Sans Bold"/>
              </a:rPr>
              <a:t>02</a:t>
            </a:r>
          </a:p>
        </p:txBody>
      </p:sp>
      <p:sp>
        <p:nvSpPr>
          <p:cNvPr id="22" name="スライド番号プレースホルダー 21">
            <a:extLst>
              <a:ext uri="{FF2B5EF4-FFF2-40B4-BE49-F238E27FC236}">
                <a16:creationId xmlns:a16="http://schemas.microsoft.com/office/drawing/2014/main" id="{75AC586E-D1BA-3C90-558F-326AD42B3EEB}"/>
              </a:ext>
            </a:extLst>
          </p:cNvPr>
          <p:cNvSpPr>
            <a:spLocks noGrp="1"/>
          </p:cNvSpPr>
          <p:nvPr>
            <p:ph type="sldNum" sz="quarter" idx="12"/>
          </p:nvPr>
        </p:nvSpPr>
        <p:spPr/>
        <p:txBody>
          <a:bodyPr/>
          <a:lstStyle/>
          <a:p>
            <a:fld id="{B6F15528-21DE-4FAA-801E-634DDDAF4B2B}" type="slidenum">
              <a:rPr lang="en-US" smtClean="0">
                <a:latin typeface="Yu Gothic" panose="020B0400000000000000" pitchFamily="34" charset="-128"/>
                <a:ea typeface="Yu Gothic" panose="020B0400000000000000" pitchFamily="34" charset="-128"/>
              </a:rPr>
              <a:pPr/>
              <a:t>6</a:t>
            </a:fld>
            <a:endParaRPr lang="en-US" dirty="0">
              <a:latin typeface="Yu Gothic" panose="020B0400000000000000" pitchFamily="34" charset="-128"/>
              <a:ea typeface="Yu Gothic" panose="020B0400000000000000" pitchFamily="34" charset="-128"/>
            </a:endParaRPr>
          </a:p>
        </p:txBody>
      </p:sp>
      <p:sp>
        <p:nvSpPr>
          <p:cNvPr id="16" name="テキスト ボックス 15">
            <a:extLst>
              <a:ext uri="{FF2B5EF4-FFF2-40B4-BE49-F238E27FC236}">
                <a16:creationId xmlns:a16="http://schemas.microsoft.com/office/drawing/2014/main" id="{2F0112D3-59C9-8241-958A-28DD0255C487}"/>
              </a:ext>
            </a:extLst>
          </p:cNvPr>
          <p:cNvSpPr txBox="1"/>
          <p:nvPr/>
        </p:nvSpPr>
        <p:spPr>
          <a:xfrm>
            <a:off x="856856" y="9405306"/>
            <a:ext cx="11317522" cy="307777"/>
          </a:xfrm>
          <a:prstGeom prst="rect">
            <a:avLst/>
          </a:prstGeom>
          <a:noFill/>
        </p:spPr>
        <p:txBody>
          <a:bodyPr wrap="none" rtlCol="0">
            <a:spAutoFit/>
          </a:bodyPr>
          <a:lstStyle/>
          <a:p>
            <a:r>
              <a:rPr kumimoji="1" lang="ja-JP" altLang="en-US" sz="1400">
                <a:latin typeface="Yu Gothic" panose="020B0400000000000000" pitchFamily="34" charset="-128"/>
                <a:ea typeface="Yu Gothic" panose="020B0400000000000000" pitchFamily="34" charset="-128"/>
              </a:rPr>
              <a:t>［参考］</a:t>
            </a:r>
            <a:r>
              <a:rPr kumimoji="1" lang="en-US" altLang="ja-JP" sz="1400" dirty="0">
                <a:latin typeface="Yu Gothic" panose="020B0400000000000000" pitchFamily="34" charset="-128"/>
                <a:ea typeface="Yu Gothic" panose="020B0400000000000000" pitchFamily="34" charset="-128"/>
              </a:rPr>
              <a:t>	Google Cloud”</a:t>
            </a:r>
            <a:r>
              <a:rPr kumimoji="1" lang="ja-JP" altLang="en-US" sz="1400">
                <a:latin typeface="Yu Gothic" panose="020B0400000000000000" pitchFamily="34" charset="-128"/>
                <a:ea typeface="Yu Gothic" panose="020B0400000000000000" pitchFamily="34" charset="-128"/>
              </a:rPr>
              <a:t>音声録音内の異なる話者を分離する</a:t>
            </a:r>
            <a:r>
              <a:rPr kumimoji="1" lang="en-US" altLang="ja-JP" sz="1400" dirty="0">
                <a:latin typeface="Yu Gothic" panose="020B0400000000000000" pitchFamily="34" charset="-128"/>
                <a:ea typeface="Yu Gothic" panose="020B0400000000000000" pitchFamily="34" charset="-128"/>
              </a:rPr>
              <a:t>” https://</a:t>
            </a:r>
            <a:r>
              <a:rPr kumimoji="1" lang="en-US" altLang="ja-JP" sz="1400" dirty="0" err="1">
                <a:latin typeface="Yu Gothic" panose="020B0400000000000000" pitchFamily="34" charset="-128"/>
                <a:ea typeface="Yu Gothic" panose="020B0400000000000000" pitchFamily="34" charset="-128"/>
              </a:rPr>
              <a:t>cloud.google.com</a:t>
            </a:r>
            <a:r>
              <a:rPr kumimoji="1" lang="en-US" altLang="ja-JP" sz="1400" dirty="0">
                <a:latin typeface="Yu Gothic" panose="020B0400000000000000" pitchFamily="34" charset="-128"/>
                <a:ea typeface="Yu Gothic" panose="020B0400000000000000" pitchFamily="34" charset="-128"/>
              </a:rPr>
              <a:t>/speech-to-text/v2/docs/</a:t>
            </a:r>
            <a:r>
              <a:rPr kumimoji="1" lang="en-US" altLang="ja-JP" sz="1400" dirty="0" err="1">
                <a:latin typeface="Yu Gothic" panose="020B0400000000000000" pitchFamily="34" charset="-128"/>
                <a:ea typeface="Yu Gothic" panose="020B0400000000000000" pitchFamily="34" charset="-128"/>
              </a:rPr>
              <a:t>multiple-voices?hl</a:t>
            </a:r>
            <a:r>
              <a:rPr kumimoji="1" lang="en-US" altLang="ja-JP" sz="1400" dirty="0">
                <a:latin typeface="Yu Gothic" panose="020B0400000000000000" pitchFamily="34" charset="-128"/>
                <a:ea typeface="Yu Gothic" panose="020B0400000000000000" pitchFamily="34" charset="-128"/>
              </a:rPr>
              <a:t>=ja</a:t>
            </a:r>
          </a:p>
        </p:txBody>
      </p:sp>
      <p:grpSp>
        <p:nvGrpSpPr>
          <p:cNvPr id="33" name="Group 18">
            <a:extLst>
              <a:ext uri="{FF2B5EF4-FFF2-40B4-BE49-F238E27FC236}">
                <a16:creationId xmlns:a16="http://schemas.microsoft.com/office/drawing/2014/main" id="{5C37FDEC-1D2B-69B7-CF06-A50CCDE6468A}"/>
              </a:ext>
            </a:extLst>
          </p:cNvPr>
          <p:cNvGrpSpPr/>
          <p:nvPr/>
        </p:nvGrpSpPr>
        <p:grpSpPr>
          <a:xfrm>
            <a:off x="2138872" y="2476500"/>
            <a:ext cx="14010256" cy="1794059"/>
            <a:chOff x="0" y="0"/>
            <a:chExt cx="3689944" cy="472509"/>
          </a:xfrm>
        </p:grpSpPr>
        <p:sp>
          <p:nvSpPr>
            <p:cNvPr id="34" name="Freeform 19">
              <a:extLst>
                <a:ext uri="{FF2B5EF4-FFF2-40B4-BE49-F238E27FC236}">
                  <a16:creationId xmlns:a16="http://schemas.microsoft.com/office/drawing/2014/main" id="{6A4538E1-BEE4-0A08-0CCE-FB792ADC580D}"/>
                </a:ext>
              </a:extLst>
            </p:cNvPr>
            <p:cNvSpPr/>
            <p:nvPr/>
          </p:nvSpPr>
          <p:spPr>
            <a:xfrm>
              <a:off x="0" y="0"/>
              <a:ext cx="3689944" cy="472509"/>
            </a:xfrm>
            <a:custGeom>
              <a:avLst/>
              <a:gdLst/>
              <a:ahLst/>
              <a:cxnLst/>
              <a:rect l="l" t="t" r="r" b="b"/>
              <a:pathLst>
                <a:path w="3689944" h="472509">
                  <a:moveTo>
                    <a:pt x="0" y="0"/>
                  </a:moveTo>
                  <a:lnTo>
                    <a:pt x="3689944" y="0"/>
                  </a:lnTo>
                  <a:lnTo>
                    <a:pt x="3689944" y="472509"/>
                  </a:lnTo>
                  <a:lnTo>
                    <a:pt x="0" y="472509"/>
                  </a:lnTo>
                  <a:close/>
                </a:path>
              </a:pathLst>
            </a:custGeom>
            <a:solidFill>
              <a:srgbClr val="E9E9E9"/>
            </a:solidFill>
          </p:spPr>
          <p:txBody>
            <a:bodyPr/>
            <a:lstStyle/>
            <a:p>
              <a:endParaRPr lang="ja-JP" altLang="en-US">
                <a:latin typeface="Yu Gothic" panose="020B0400000000000000" pitchFamily="34" charset="-128"/>
                <a:ea typeface="Yu Gothic" panose="020B0400000000000000" pitchFamily="34" charset="-128"/>
              </a:endParaRPr>
            </a:p>
          </p:txBody>
        </p:sp>
        <p:sp>
          <p:nvSpPr>
            <p:cNvPr id="35" name="TextBox 20">
              <a:extLst>
                <a:ext uri="{FF2B5EF4-FFF2-40B4-BE49-F238E27FC236}">
                  <a16:creationId xmlns:a16="http://schemas.microsoft.com/office/drawing/2014/main" id="{80BF177F-4476-F0BF-E507-199D7FC3FFCB}"/>
                </a:ext>
              </a:extLst>
            </p:cNvPr>
            <p:cNvSpPr txBox="1"/>
            <p:nvPr/>
          </p:nvSpPr>
          <p:spPr>
            <a:xfrm>
              <a:off x="0" y="-47625"/>
              <a:ext cx="3689944" cy="520134"/>
            </a:xfrm>
            <a:prstGeom prst="rect">
              <a:avLst/>
            </a:prstGeom>
          </p:spPr>
          <p:txBody>
            <a:bodyPr lIns="50800" tIns="50800" rIns="50800" bIns="50800" rtlCol="0" anchor="ctr"/>
            <a:lstStyle/>
            <a:p>
              <a:pPr algn="ctr">
                <a:lnSpc>
                  <a:spcPts val="3359"/>
                </a:lnSpc>
              </a:pPr>
              <a:endParaRPr>
                <a:latin typeface="Yu Gothic" panose="020B0400000000000000" pitchFamily="34" charset="-128"/>
                <a:ea typeface="Yu Gothic" panose="020B0400000000000000" pitchFamily="34" charset="-128"/>
              </a:endParaRPr>
            </a:p>
          </p:txBody>
        </p:sp>
      </p:grpSp>
      <p:sp>
        <p:nvSpPr>
          <p:cNvPr id="46" name="TextBox 22">
            <a:extLst>
              <a:ext uri="{FF2B5EF4-FFF2-40B4-BE49-F238E27FC236}">
                <a16:creationId xmlns:a16="http://schemas.microsoft.com/office/drawing/2014/main" id="{E66CFF09-6EB8-52A4-195E-8860688A36B0}"/>
              </a:ext>
            </a:extLst>
          </p:cNvPr>
          <p:cNvSpPr txBox="1"/>
          <p:nvPr/>
        </p:nvSpPr>
        <p:spPr>
          <a:xfrm>
            <a:off x="7233576" y="3201331"/>
            <a:ext cx="8194277" cy="432939"/>
          </a:xfrm>
          <a:prstGeom prst="rect">
            <a:avLst/>
          </a:prstGeom>
        </p:spPr>
        <p:txBody>
          <a:bodyPr lIns="0" tIns="0" rIns="0" bIns="0" rtlCol="0" anchor="t">
            <a:spAutoFit/>
          </a:bodyPr>
          <a:lstStyle/>
          <a:p>
            <a:pPr algn="l">
              <a:lnSpc>
                <a:spcPts val="3600"/>
              </a:lnSpc>
            </a:pPr>
            <a:r>
              <a:rPr lang="en-US" altLang="ja-JP" sz="2400" spc="100" dirty="0">
                <a:latin typeface="Yu Gothic" panose="020B0400000000000000" pitchFamily="34" charset="-128"/>
                <a:ea typeface="Yu Gothic" panose="020B0400000000000000" pitchFamily="34" charset="-128"/>
                <a:cs typeface="Noto Sans JP"/>
                <a:sym typeface="Noto Sans JP"/>
              </a:rPr>
              <a:t>Google</a:t>
            </a:r>
            <a:r>
              <a:rPr lang="ja-JP" altLang="en-US" sz="2400" spc="100">
                <a:latin typeface="Yu Gothic" panose="020B0400000000000000" pitchFamily="34" charset="-128"/>
                <a:ea typeface="Yu Gothic" panose="020B0400000000000000" pitchFamily="34" charset="-128"/>
                <a:cs typeface="Noto Sans JP"/>
                <a:sym typeface="Noto Sans JP"/>
              </a:rPr>
              <a:t>の</a:t>
            </a:r>
            <a:r>
              <a:rPr lang="en-US" altLang="ja-JP" sz="2400" spc="100" dirty="0">
                <a:latin typeface="Yu Gothic" panose="020B0400000000000000" pitchFamily="34" charset="-128"/>
                <a:ea typeface="Yu Gothic" panose="020B0400000000000000" pitchFamily="34" charset="-128"/>
                <a:cs typeface="Noto Sans JP"/>
                <a:sym typeface="Noto Sans JP"/>
              </a:rPr>
              <a:t>Speech-to-Text</a:t>
            </a:r>
            <a:r>
              <a:rPr lang="ja-JP" altLang="en-US" sz="2400" spc="100">
                <a:latin typeface="Yu Gothic" panose="020B0400000000000000" pitchFamily="34" charset="-128"/>
                <a:ea typeface="Yu Gothic" panose="020B0400000000000000" pitchFamily="34" charset="-128"/>
                <a:cs typeface="Noto Sans JP"/>
                <a:sym typeface="Noto Sans JP"/>
              </a:rPr>
              <a:t>に付随する機能．</a:t>
            </a:r>
            <a:endParaRPr lang="en-US" altLang="ja-JP" sz="2400" spc="100" dirty="0">
              <a:latin typeface="Yu Gothic" panose="020B0400000000000000" pitchFamily="34" charset="-128"/>
              <a:ea typeface="Yu Gothic" panose="020B0400000000000000" pitchFamily="34" charset="-128"/>
              <a:cs typeface="Noto Sans JP"/>
              <a:sym typeface="Noto Sans JP"/>
            </a:endParaRPr>
          </a:p>
        </p:txBody>
      </p:sp>
      <p:sp>
        <p:nvSpPr>
          <p:cNvPr id="49" name="AutoShape 28">
            <a:extLst>
              <a:ext uri="{FF2B5EF4-FFF2-40B4-BE49-F238E27FC236}">
                <a16:creationId xmlns:a16="http://schemas.microsoft.com/office/drawing/2014/main" id="{CF3285A6-EC23-A518-C6B7-0FB98A25EC98}"/>
              </a:ext>
            </a:extLst>
          </p:cNvPr>
          <p:cNvSpPr/>
          <p:nvPr/>
        </p:nvSpPr>
        <p:spPr>
          <a:xfrm flipH="1">
            <a:off x="6705600" y="2993779"/>
            <a:ext cx="0" cy="759500"/>
          </a:xfrm>
          <a:prstGeom prst="line">
            <a:avLst/>
          </a:prstGeom>
          <a:ln w="9525" cap="flat">
            <a:solidFill>
              <a:srgbClr val="737373"/>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51" name="テキスト ボックス 50">
            <a:extLst>
              <a:ext uri="{FF2B5EF4-FFF2-40B4-BE49-F238E27FC236}">
                <a16:creationId xmlns:a16="http://schemas.microsoft.com/office/drawing/2014/main" id="{4C4A43EE-7F9F-74C8-834F-F7B0C78EB0A4}"/>
              </a:ext>
            </a:extLst>
          </p:cNvPr>
          <p:cNvSpPr txBox="1"/>
          <p:nvPr/>
        </p:nvSpPr>
        <p:spPr>
          <a:xfrm>
            <a:off x="2316732" y="2935459"/>
            <a:ext cx="4267197" cy="960519"/>
          </a:xfrm>
          <a:prstGeom prst="rect">
            <a:avLst/>
          </a:prstGeom>
          <a:noFill/>
        </p:spPr>
        <p:txBody>
          <a:bodyPr wrap="square">
            <a:spAutoFit/>
          </a:bodyPr>
          <a:lstStyle/>
          <a:p>
            <a:pPr marL="0" marR="0" lvl="0" indent="0" algn="l" defTabSz="914400" rtl="0" eaLnBrk="1" fontAlgn="auto" latinLnBrk="0" hangingPunct="1">
              <a:lnSpc>
                <a:spcPts val="3499"/>
              </a:lnSpc>
              <a:spcBef>
                <a:spcPts val="0"/>
              </a:spcBef>
              <a:spcAft>
                <a:spcPts val="0"/>
              </a:spcAft>
              <a:buClrTx/>
              <a:buSzTx/>
              <a:buFontTx/>
              <a:buNone/>
              <a:tabLst/>
              <a:defRPr/>
            </a:pPr>
            <a:r>
              <a:rPr kumimoji="0" lang="en-US" altLang="ja-JP" sz="2499" b="1" i="0" u="none" strike="noStrike" kern="1200" cap="none" spc="124" normalizeH="0" baseline="0" noProof="0" dirty="0">
                <a:ln>
                  <a:noFill/>
                </a:ln>
                <a:solidFill>
                  <a:srgbClr val="C00000"/>
                </a:solidFill>
                <a:effectLst/>
                <a:uLnTx/>
                <a:uFillTx/>
                <a:latin typeface="Yu Gothic" panose="020B0400000000000000" pitchFamily="34" charset="-128"/>
                <a:ea typeface="Yu Gothic" panose="020B0400000000000000" pitchFamily="34" charset="-128"/>
                <a:cs typeface="Noto Sans JP Heavy"/>
                <a:sym typeface="Noto Sans JP Heavy"/>
              </a:rPr>
              <a:t>Google Cloud</a:t>
            </a:r>
          </a:p>
          <a:p>
            <a:pPr marL="0" marR="0" lvl="0" indent="0" algn="l" defTabSz="914400" rtl="0" eaLnBrk="1" fontAlgn="auto" latinLnBrk="0" hangingPunct="1">
              <a:lnSpc>
                <a:spcPts val="3499"/>
              </a:lnSpc>
              <a:spcBef>
                <a:spcPts val="0"/>
              </a:spcBef>
              <a:spcAft>
                <a:spcPts val="0"/>
              </a:spcAft>
              <a:buClrTx/>
              <a:buSzTx/>
              <a:buFontTx/>
              <a:buNone/>
              <a:tabLst/>
              <a:defRPr/>
            </a:pPr>
            <a:r>
              <a:rPr lang="ja-JP" altLang="en-US" sz="2499" b="1" spc="124">
                <a:solidFill>
                  <a:srgbClr val="C00000"/>
                </a:solidFill>
                <a:latin typeface="Yu Gothic" panose="020B0400000000000000" pitchFamily="34" charset="-128"/>
                <a:ea typeface="Yu Gothic" panose="020B0400000000000000" pitchFamily="34" charset="-128"/>
                <a:cs typeface="Noto Sans JP Heavy"/>
                <a:sym typeface="Noto Sans JP Heavy"/>
              </a:rPr>
              <a:t>話者ダイアライゼーション</a:t>
            </a:r>
            <a:endParaRPr kumimoji="0" lang="en-US" altLang="ja-JP" sz="2499" b="1" i="0" u="none" strike="noStrike" kern="1200" cap="none" spc="124" normalizeH="0" baseline="0" noProof="0" dirty="0">
              <a:ln>
                <a:noFill/>
              </a:ln>
              <a:solidFill>
                <a:srgbClr val="C00000"/>
              </a:solidFill>
              <a:effectLst/>
              <a:uLnTx/>
              <a:uFillTx/>
              <a:latin typeface="Yu Gothic" panose="020B0400000000000000" pitchFamily="34" charset="-128"/>
              <a:ea typeface="Yu Gothic" panose="020B0400000000000000" pitchFamily="34" charset="-128"/>
              <a:cs typeface="Noto Sans JP Heavy"/>
              <a:sym typeface="Noto Sans JP Heavy"/>
            </a:endParaRPr>
          </a:p>
        </p:txBody>
      </p:sp>
      <p:sp>
        <p:nvSpPr>
          <p:cNvPr id="10" name="テキスト ボックス 9">
            <a:extLst>
              <a:ext uri="{FF2B5EF4-FFF2-40B4-BE49-F238E27FC236}">
                <a16:creationId xmlns:a16="http://schemas.microsoft.com/office/drawing/2014/main" id="{E309BB78-4D41-FC79-BF81-01B0FE809A7F}"/>
              </a:ext>
            </a:extLst>
          </p:cNvPr>
          <p:cNvSpPr txBox="1"/>
          <p:nvPr/>
        </p:nvSpPr>
        <p:spPr>
          <a:xfrm>
            <a:off x="3101298" y="4293269"/>
            <a:ext cx="12085360" cy="1077218"/>
          </a:xfrm>
          <a:prstGeom prst="rect">
            <a:avLst/>
          </a:prstGeom>
          <a:noFill/>
        </p:spPr>
        <p:txBody>
          <a:bodyPr wrap="none" rtlCol="0">
            <a:spAutoFit/>
          </a:bodyPr>
          <a:lstStyle/>
          <a:p>
            <a:pPr algn="ctr"/>
            <a:r>
              <a:rPr kumimoji="1" lang="ja-JP" altLang="en-US" sz="3200">
                <a:latin typeface="Yu Gothic" panose="020B0400000000000000" pitchFamily="34" charset="-128"/>
                <a:ea typeface="Yu Gothic" panose="020B0400000000000000" pitchFamily="34" charset="-128"/>
              </a:rPr>
              <a:t>文字起こしする際に，話者ダイアライゼーションを有効にすると</a:t>
            </a:r>
            <a:endParaRPr kumimoji="1" lang="en-US" altLang="ja-JP" sz="3200" dirty="0">
              <a:latin typeface="Yu Gothic" panose="020B0400000000000000" pitchFamily="34" charset="-128"/>
              <a:ea typeface="Yu Gothic" panose="020B0400000000000000" pitchFamily="34" charset="-128"/>
            </a:endParaRPr>
          </a:p>
          <a:p>
            <a:pPr algn="ctr"/>
            <a:r>
              <a:rPr kumimoji="1" lang="ja-JP" altLang="en-US" sz="3200">
                <a:latin typeface="Yu Gothic" panose="020B0400000000000000" pitchFamily="34" charset="-128"/>
                <a:ea typeface="Yu Gothic" panose="020B0400000000000000" pitchFamily="34" charset="-128"/>
              </a:rPr>
              <a:t>音声内に含まれる</a:t>
            </a:r>
            <a:r>
              <a:rPr kumimoji="1" lang="ja-JP" altLang="en-US" sz="3200" b="1" u="sng">
                <a:solidFill>
                  <a:srgbClr val="C00000"/>
                </a:solidFill>
                <a:latin typeface="Yu Gothic" panose="020B0400000000000000" pitchFamily="34" charset="-128"/>
                <a:ea typeface="Yu Gothic" panose="020B0400000000000000" pitchFamily="34" charset="-128"/>
              </a:rPr>
              <a:t>異なる音声を識別</a:t>
            </a:r>
            <a:r>
              <a:rPr kumimoji="1" lang="ja-JP" altLang="en-US" sz="3200">
                <a:latin typeface="Yu Gothic" panose="020B0400000000000000" pitchFamily="34" charset="-128"/>
                <a:ea typeface="Yu Gothic" panose="020B0400000000000000" pitchFamily="34" charset="-128"/>
              </a:rPr>
              <a:t>することができる！</a:t>
            </a:r>
            <a:endParaRPr kumimoji="1" lang="en-US" altLang="ja-JP" sz="3200" dirty="0">
              <a:latin typeface="Yu Gothic" panose="020B0400000000000000" pitchFamily="34" charset="-128"/>
              <a:ea typeface="Yu Gothic" panose="020B0400000000000000" pitchFamily="34" charset="-128"/>
            </a:endParaRPr>
          </a:p>
        </p:txBody>
      </p:sp>
      <p:pic>
        <p:nvPicPr>
          <p:cNvPr id="14" name="図 13" descr="シャツ が含まれている画像&#10;&#10;AI によって生成されたコンテンツは間違っている可能性があります。">
            <a:extLst>
              <a:ext uri="{FF2B5EF4-FFF2-40B4-BE49-F238E27FC236}">
                <a16:creationId xmlns:a16="http://schemas.microsoft.com/office/drawing/2014/main" id="{18ECDDF1-2BB7-A69E-2388-2F44F7F15C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1285912" y="5143500"/>
            <a:ext cx="3469764" cy="3469764"/>
          </a:xfrm>
          <a:prstGeom prst="rect">
            <a:avLst/>
          </a:prstGeom>
        </p:spPr>
      </p:pic>
      <p:pic>
        <p:nvPicPr>
          <p:cNvPr id="19" name="図 18">
            <a:extLst>
              <a:ext uri="{FF2B5EF4-FFF2-40B4-BE49-F238E27FC236}">
                <a16:creationId xmlns:a16="http://schemas.microsoft.com/office/drawing/2014/main" id="{883D4690-0234-FA85-EDF2-3EA5A5065B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05200" y="6090729"/>
            <a:ext cx="3469764" cy="3469764"/>
          </a:xfrm>
          <a:prstGeom prst="rect">
            <a:avLst/>
          </a:prstGeom>
        </p:spPr>
      </p:pic>
      <p:sp>
        <p:nvSpPr>
          <p:cNvPr id="21" name="右矢印 20">
            <a:extLst>
              <a:ext uri="{FF2B5EF4-FFF2-40B4-BE49-F238E27FC236}">
                <a16:creationId xmlns:a16="http://schemas.microsoft.com/office/drawing/2014/main" id="{DAF70A69-F238-CB9E-DF1F-78EABCD383FD}"/>
              </a:ext>
            </a:extLst>
          </p:cNvPr>
          <p:cNvSpPr/>
          <p:nvPr/>
        </p:nvSpPr>
        <p:spPr>
          <a:xfrm>
            <a:off x="6711840" y="6367127"/>
            <a:ext cx="4338074" cy="2094509"/>
          </a:xfrm>
          <a:prstGeom prst="rightArrow">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latin typeface="Yu Gothic" panose="020B0400000000000000" pitchFamily="34" charset="-128"/>
                <a:ea typeface="Yu Gothic" panose="020B0400000000000000" pitchFamily="34" charset="-128"/>
              </a:rPr>
              <a:t>Google Cloud</a:t>
            </a:r>
          </a:p>
          <a:p>
            <a:pPr algn="ctr"/>
            <a:r>
              <a:rPr kumimoji="1" lang="en-US" altLang="ja-JP" sz="2000" dirty="0">
                <a:latin typeface="Yu Gothic" panose="020B0400000000000000" pitchFamily="34" charset="-128"/>
                <a:ea typeface="Yu Gothic" panose="020B0400000000000000" pitchFamily="34" charset="-128"/>
              </a:rPr>
              <a:t>Speech-to-Text</a:t>
            </a:r>
            <a:endParaRPr kumimoji="1" lang="ja-JP" altLang="en-US" sz="2000">
              <a:latin typeface="Yu Gothic" panose="020B0400000000000000" pitchFamily="34" charset="-128"/>
              <a:ea typeface="Yu Gothic" panose="020B0400000000000000" pitchFamily="34" charset="-128"/>
            </a:endParaRPr>
          </a:p>
        </p:txBody>
      </p:sp>
      <p:sp>
        <p:nvSpPr>
          <p:cNvPr id="23" name="テキスト ボックス 22">
            <a:extLst>
              <a:ext uri="{FF2B5EF4-FFF2-40B4-BE49-F238E27FC236}">
                <a16:creationId xmlns:a16="http://schemas.microsoft.com/office/drawing/2014/main" id="{1B490391-3581-AB7D-AF80-AED8EACB997C}"/>
              </a:ext>
            </a:extLst>
          </p:cNvPr>
          <p:cNvSpPr txBox="1"/>
          <p:nvPr/>
        </p:nvSpPr>
        <p:spPr>
          <a:xfrm>
            <a:off x="11330714" y="6367127"/>
            <a:ext cx="6312947" cy="1702517"/>
          </a:xfrm>
          <a:prstGeom prst="rect">
            <a:avLst/>
          </a:prstGeom>
          <a:noFill/>
        </p:spPr>
        <p:txBody>
          <a:bodyPr wrap="none" rtlCol="0">
            <a:spAutoFit/>
          </a:bodyPr>
          <a:lstStyle/>
          <a:p>
            <a:pPr>
              <a:lnSpc>
                <a:spcPct val="150000"/>
              </a:lnSpc>
            </a:pPr>
            <a:r>
              <a:rPr kumimoji="1" lang="en-US" altLang="ja-JP" sz="2400" dirty="0">
                <a:highlight>
                  <a:srgbClr val="E8C375"/>
                </a:highlight>
                <a:latin typeface="Yu Gothic" panose="020B0400000000000000" pitchFamily="34" charset="-128"/>
                <a:ea typeface="Yu Gothic" panose="020B0400000000000000" pitchFamily="34" charset="-128"/>
              </a:rPr>
              <a:t> 1 </a:t>
            </a:r>
            <a:r>
              <a:rPr kumimoji="1" lang="ja-JP" altLang="en-US" sz="2400">
                <a:latin typeface="Yu Gothic" panose="020B0400000000000000" pitchFamily="34" charset="-128"/>
                <a:ea typeface="Yu Gothic" panose="020B0400000000000000" pitchFamily="34" charset="-128"/>
              </a:rPr>
              <a:t>　最近なんかハマってることある？</a:t>
            </a:r>
            <a:br>
              <a:rPr kumimoji="1" lang="ja-JP" altLang="en-US" sz="2400">
                <a:latin typeface="Yu Gothic" panose="020B0400000000000000" pitchFamily="34" charset="-128"/>
                <a:ea typeface="Yu Gothic" panose="020B0400000000000000" pitchFamily="34" charset="-128"/>
              </a:rPr>
            </a:br>
            <a:r>
              <a:rPr kumimoji="1" lang="en-US" altLang="ja-JP" sz="2400" dirty="0">
                <a:highlight>
                  <a:srgbClr val="76E2E8"/>
                </a:highlight>
                <a:latin typeface="Yu Gothic" panose="020B0400000000000000" pitchFamily="34" charset="-128"/>
                <a:ea typeface="Yu Gothic" panose="020B0400000000000000" pitchFamily="34" charset="-128"/>
              </a:rPr>
              <a:t> 2 </a:t>
            </a:r>
            <a:r>
              <a:rPr kumimoji="1" lang="ja-JP" altLang="en-US" sz="2400">
                <a:latin typeface="Yu Gothic" panose="020B0400000000000000" pitchFamily="34" charset="-128"/>
                <a:ea typeface="Yu Gothic" panose="020B0400000000000000" pitchFamily="34" charset="-128"/>
              </a:rPr>
              <a:t>　夜に散歩するのが楽しくてさ、</a:t>
            </a:r>
            <a:r>
              <a:rPr kumimoji="1" lang="en-US" altLang="ja-JP" sz="2400" dirty="0">
                <a:latin typeface="Yu Gothic" panose="020B0400000000000000" pitchFamily="34" charset="-128"/>
                <a:ea typeface="Yu Gothic" panose="020B0400000000000000" pitchFamily="34" charset="-128"/>
              </a:rPr>
              <a:t>...</a:t>
            </a:r>
            <a:br>
              <a:rPr kumimoji="1" lang="ja-JP" altLang="en-US" sz="2400">
                <a:latin typeface="Yu Gothic" panose="020B0400000000000000" pitchFamily="34" charset="-128"/>
                <a:ea typeface="Yu Gothic" panose="020B0400000000000000" pitchFamily="34" charset="-128"/>
              </a:rPr>
            </a:br>
            <a:r>
              <a:rPr kumimoji="1" lang="en-US" altLang="ja-JP" sz="2400" dirty="0">
                <a:highlight>
                  <a:srgbClr val="E8C375"/>
                </a:highlight>
                <a:latin typeface="Yu Gothic" panose="020B0400000000000000" pitchFamily="34" charset="-128"/>
                <a:ea typeface="Yu Gothic" panose="020B0400000000000000" pitchFamily="34" charset="-128"/>
              </a:rPr>
              <a:t> 1 </a:t>
            </a:r>
            <a:r>
              <a:rPr kumimoji="1" lang="ja-JP" altLang="en-US" sz="2400">
                <a:latin typeface="Yu Gothic" panose="020B0400000000000000" pitchFamily="34" charset="-128"/>
                <a:ea typeface="Yu Gothic" panose="020B0400000000000000" pitchFamily="34" charset="-128"/>
              </a:rPr>
              <a:t>　わかる！夜の空気って気持ちいいし、</a:t>
            </a:r>
            <a:r>
              <a:rPr kumimoji="1" lang="en-US" altLang="ja-JP" sz="2400" dirty="0">
                <a:latin typeface="Yu Gothic" panose="020B0400000000000000" pitchFamily="34" charset="-128"/>
                <a:ea typeface="Yu Gothic" panose="020B0400000000000000" pitchFamily="34" charset="-128"/>
              </a:rPr>
              <a:t>...</a:t>
            </a:r>
            <a:endParaRPr kumimoji="1" lang="ja-JP" altLang="en-US" sz="2400">
              <a:latin typeface="Yu Gothic" panose="020B0400000000000000" pitchFamily="34" charset="-128"/>
              <a:ea typeface="Yu Gothic" panose="020B0400000000000000" pitchFamily="34" charset="-128"/>
            </a:endParaRPr>
          </a:p>
        </p:txBody>
      </p:sp>
      <p:sp>
        <p:nvSpPr>
          <p:cNvPr id="11" name="正方形/長方形 10">
            <a:extLst>
              <a:ext uri="{FF2B5EF4-FFF2-40B4-BE49-F238E27FC236}">
                <a16:creationId xmlns:a16="http://schemas.microsoft.com/office/drawing/2014/main" id="{4456A709-5B00-4BE6-A1FA-B47E7543B291}"/>
              </a:ext>
            </a:extLst>
          </p:cNvPr>
          <p:cNvSpPr/>
          <p:nvPr/>
        </p:nvSpPr>
        <p:spPr>
          <a:xfrm>
            <a:off x="152400" y="114300"/>
            <a:ext cx="17491261" cy="9982200"/>
          </a:xfrm>
          <a:prstGeom prst="rect">
            <a:avLst/>
          </a:prstGeom>
          <a:solidFill>
            <a:srgbClr val="FFFFFF">
              <a:alpha val="7215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角丸四角形 14">
            <a:extLst>
              <a:ext uri="{FF2B5EF4-FFF2-40B4-BE49-F238E27FC236}">
                <a16:creationId xmlns:a16="http://schemas.microsoft.com/office/drawing/2014/main" id="{FF3FCC27-BFCC-6C35-1F1F-B9038BF1B2F1}"/>
              </a:ext>
            </a:extLst>
          </p:cNvPr>
          <p:cNvSpPr/>
          <p:nvPr/>
        </p:nvSpPr>
        <p:spPr>
          <a:xfrm>
            <a:off x="3383531" y="3055300"/>
            <a:ext cx="11506200" cy="5057626"/>
          </a:xfrm>
          <a:prstGeom prst="roundRect">
            <a:avLst/>
          </a:prstGeom>
          <a:solidFill>
            <a:srgbClr val="F1D2D5"/>
          </a:solidFill>
          <a:ln w="381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solidFill>
                  <a:schemeClr val="tx1"/>
                </a:solidFill>
                <a:latin typeface="Yu Gothic" panose="020B0400000000000000" pitchFamily="34" charset="-128"/>
                <a:ea typeface="Yu Gothic" panose="020B0400000000000000" pitchFamily="34" charset="-128"/>
              </a:rPr>
              <a:t>-</a:t>
            </a:r>
            <a:r>
              <a:rPr kumimoji="1" lang="ja-JP" altLang="en-US" sz="3200">
                <a:solidFill>
                  <a:schemeClr val="tx1"/>
                </a:solidFill>
                <a:latin typeface="Yu Gothic" panose="020B0400000000000000" pitchFamily="34" charset="-128"/>
                <a:ea typeface="Yu Gothic" panose="020B0400000000000000" pitchFamily="34" charset="-128"/>
              </a:rPr>
              <a:t>問題点</a:t>
            </a:r>
            <a:r>
              <a:rPr kumimoji="1" lang="en-US" altLang="ja-JP" sz="3200" dirty="0">
                <a:solidFill>
                  <a:schemeClr val="tx1"/>
                </a:solidFill>
                <a:latin typeface="Yu Gothic" panose="020B0400000000000000" pitchFamily="34" charset="-128"/>
                <a:ea typeface="Yu Gothic" panose="020B0400000000000000" pitchFamily="34" charset="-128"/>
              </a:rPr>
              <a:t>-</a:t>
            </a:r>
          </a:p>
          <a:p>
            <a:pPr algn="ctr"/>
            <a:endParaRPr kumimoji="1" lang="en-US" altLang="ja-JP" sz="3200" dirty="0">
              <a:solidFill>
                <a:schemeClr val="tx1"/>
              </a:solidFill>
              <a:latin typeface="Yu Gothic" panose="020B0400000000000000" pitchFamily="34" charset="-128"/>
              <a:ea typeface="Yu Gothic" panose="020B0400000000000000" pitchFamily="34" charset="-128"/>
            </a:endParaRPr>
          </a:p>
          <a:p>
            <a:pPr algn="ctr"/>
            <a:r>
              <a:rPr kumimoji="1" lang="ja-JP" altLang="en-US" sz="4000" b="1">
                <a:solidFill>
                  <a:schemeClr val="tx1"/>
                </a:solidFill>
                <a:latin typeface="Yu Gothic" panose="020B0400000000000000" pitchFamily="34" charset="-128"/>
                <a:ea typeface="Yu Gothic" panose="020B0400000000000000" pitchFamily="34" charset="-128"/>
              </a:rPr>
              <a:t>音声認識結果と各ユーザーを</a:t>
            </a:r>
            <a:endParaRPr kumimoji="1" lang="en-US" altLang="ja-JP" sz="4000" b="1" dirty="0">
              <a:solidFill>
                <a:schemeClr val="tx1"/>
              </a:solidFill>
              <a:latin typeface="Yu Gothic" panose="020B0400000000000000" pitchFamily="34" charset="-128"/>
              <a:ea typeface="Yu Gothic" panose="020B0400000000000000" pitchFamily="34" charset="-128"/>
            </a:endParaRPr>
          </a:p>
          <a:p>
            <a:pPr algn="ctr"/>
            <a:r>
              <a:rPr kumimoji="1" lang="ja-JP" altLang="en-US" sz="4000" b="1">
                <a:solidFill>
                  <a:schemeClr val="tx1"/>
                </a:solidFill>
                <a:latin typeface="Yu Gothic" panose="020B0400000000000000" pitchFamily="34" charset="-128"/>
                <a:ea typeface="Yu Gothic" panose="020B0400000000000000" pitchFamily="34" charset="-128"/>
              </a:rPr>
              <a:t>どのように結びつけるか</a:t>
            </a:r>
          </a:p>
        </p:txBody>
      </p:sp>
    </p:spTree>
    <p:extLst>
      <p:ext uri="{BB962C8B-B14F-4D97-AF65-F5344CB8AC3E}">
        <p14:creationId xmlns:p14="http://schemas.microsoft.com/office/powerpoint/2010/main" val="8363360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15800-9E0F-82DF-0429-BF90658F0F0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E6B8C49-D178-0E1D-C14E-9764C27DE887}"/>
              </a:ext>
            </a:extLst>
          </p:cNvPr>
          <p:cNvSpPr/>
          <p:nvPr/>
        </p:nvSpPr>
        <p:spPr>
          <a:xfrm>
            <a:off x="857250" y="2361305"/>
            <a:ext cx="16573500"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3" name="AutoShape 3">
            <a:extLst>
              <a:ext uri="{FF2B5EF4-FFF2-40B4-BE49-F238E27FC236}">
                <a16:creationId xmlns:a16="http://schemas.microsoft.com/office/drawing/2014/main" id="{85EC44E0-658A-503F-CB5E-E331E61523F3}"/>
              </a:ext>
            </a:extLst>
          </p:cNvPr>
          <p:cNvSpPr/>
          <p:nvPr/>
        </p:nvSpPr>
        <p:spPr>
          <a:xfrm>
            <a:off x="857250" y="1047750"/>
            <a:ext cx="16573459"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4" name="AutoShape 4">
            <a:extLst>
              <a:ext uri="{FF2B5EF4-FFF2-40B4-BE49-F238E27FC236}">
                <a16:creationId xmlns:a16="http://schemas.microsoft.com/office/drawing/2014/main" id="{EC086BCE-C7D6-771D-D064-FAE7CAE5994B}"/>
              </a:ext>
            </a:extLst>
          </p:cNvPr>
          <p:cNvSpPr/>
          <p:nvPr/>
        </p:nvSpPr>
        <p:spPr>
          <a:xfrm flipV="1">
            <a:off x="856856" y="904405"/>
            <a:ext cx="16574288"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5" name="AutoShape 5">
            <a:extLst>
              <a:ext uri="{FF2B5EF4-FFF2-40B4-BE49-F238E27FC236}">
                <a16:creationId xmlns:a16="http://schemas.microsoft.com/office/drawing/2014/main" id="{6EAC06E6-967F-6FC9-090A-3469AB6B6538}"/>
              </a:ext>
            </a:extLst>
          </p:cNvPr>
          <p:cNvSpPr/>
          <p:nvPr/>
        </p:nvSpPr>
        <p:spPr>
          <a:xfrm>
            <a:off x="857250" y="9382595"/>
            <a:ext cx="16573500"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6" name="AutoShape 6">
            <a:extLst>
              <a:ext uri="{FF2B5EF4-FFF2-40B4-BE49-F238E27FC236}">
                <a16:creationId xmlns:a16="http://schemas.microsoft.com/office/drawing/2014/main" id="{A997F8BB-12F3-12B4-71BC-151FF4D2808E}"/>
              </a:ext>
            </a:extLst>
          </p:cNvPr>
          <p:cNvSpPr/>
          <p:nvPr/>
        </p:nvSpPr>
        <p:spPr>
          <a:xfrm>
            <a:off x="857250" y="9239250"/>
            <a:ext cx="16573500"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grpSp>
        <p:nvGrpSpPr>
          <p:cNvPr id="7" name="Group 7">
            <a:extLst>
              <a:ext uri="{FF2B5EF4-FFF2-40B4-BE49-F238E27FC236}">
                <a16:creationId xmlns:a16="http://schemas.microsoft.com/office/drawing/2014/main" id="{D7EF2149-A761-4574-DEB4-F1ECD23DC903}"/>
              </a:ext>
            </a:extLst>
          </p:cNvPr>
          <p:cNvGrpSpPr/>
          <p:nvPr/>
        </p:nvGrpSpPr>
        <p:grpSpPr>
          <a:xfrm>
            <a:off x="1282599" y="650625"/>
            <a:ext cx="1213487" cy="1720205"/>
            <a:chOff x="0" y="0"/>
            <a:chExt cx="319601" cy="453058"/>
          </a:xfrm>
        </p:grpSpPr>
        <p:sp>
          <p:nvSpPr>
            <p:cNvPr id="8" name="Freeform 8">
              <a:extLst>
                <a:ext uri="{FF2B5EF4-FFF2-40B4-BE49-F238E27FC236}">
                  <a16:creationId xmlns:a16="http://schemas.microsoft.com/office/drawing/2014/main" id="{7E859DDE-2BB7-8632-303F-97A095634DCD}"/>
                </a:ext>
              </a:extLst>
            </p:cNvPr>
            <p:cNvSpPr/>
            <p:nvPr/>
          </p:nvSpPr>
          <p:spPr>
            <a:xfrm>
              <a:off x="0" y="0"/>
              <a:ext cx="319601" cy="453058"/>
            </a:xfrm>
            <a:custGeom>
              <a:avLst/>
              <a:gdLst/>
              <a:ahLst/>
              <a:cxnLst/>
              <a:rect l="l" t="t" r="r" b="b"/>
              <a:pathLst>
                <a:path w="319601" h="453058">
                  <a:moveTo>
                    <a:pt x="0" y="0"/>
                  </a:moveTo>
                  <a:lnTo>
                    <a:pt x="319601" y="0"/>
                  </a:lnTo>
                  <a:lnTo>
                    <a:pt x="319601" y="453058"/>
                  </a:lnTo>
                  <a:lnTo>
                    <a:pt x="0" y="453058"/>
                  </a:lnTo>
                  <a:close/>
                </a:path>
              </a:pathLst>
            </a:custGeom>
            <a:solidFill>
              <a:srgbClr val="1B1B1B"/>
            </a:solidFill>
          </p:spPr>
          <p:txBody>
            <a:bodyPr/>
            <a:lstStyle/>
            <a:p>
              <a:endParaRPr lang="ja-JP" altLang="en-US">
                <a:latin typeface="Yu Gothic" panose="020B0400000000000000" pitchFamily="34" charset="-128"/>
                <a:ea typeface="Yu Gothic" panose="020B0400000000000000" pitchFamily="34" charset="-128"/>
              </a:endParaRPr>
            </a:p>
          </p:txBody>
        </p:sp>
        <p:sp>
          <p:nvSpPr>
            <p:cNvPr id="9" name="TextBox 9">
              <a:extLst>
                <a:ext uri="{FF2B5EF4-FFF2-40B4-BE49-F238E27FC236}">
                  <a16:creationId xmlns:a16="http://schemas.microsoft.com/office/drawing/2014/main" id="{825AC38A-584E-0687-9649-40253B70A7E2}"/>
                </a:ext>
              </a:extLst>
            </p:cNvPr>
            <p:cNvSpPr txBox="1"/>
            <p:nvPr/>
          </p:nvSpPr>
          <p:spPr>
            <a:xfrm>
              <a:off x="0" y="-47625"/>
              <a:ext cx="319601" cy="500683"/>
            </a:xfrm>
            <a:prstGeom prst="rect">
              <a:avLst/>
            </a:prstGeom>
          </p:spPr>
          <p:txBody>
            <a:bodyPr lIns="50800" tIns="50800" rIns="50800" bIns="50800" rtlCol="0" anchor="ctr"/>
            <a:lstStyle/>
            <a:p>
              <a:pPr algn="ctr">
                <a:lnSpc>
                  <a:spcPts val="3359"/>
                </a:lnSpc>
              </a:pPr>
              <a:endParaRPr>
                <a:latin typeface="Yu Gothic" panose="020B0400000000000000" pitchFamily="34" charset="-128"/>
                <a:ea typeface="Yu Gothic" panose="020B0400000000000000" pitchFamily="34" charset="-128"/>
              </a:endParaRPr>
            </a:p>
          </p:txBody>
        </p:sp>
      </p:grpSp>
      <p:sp>
        <p:nvSpPr>
          <p:cNvPr id="12" name="TextBox 12">
            <a:extLst>
              <a:ext uri="{FF2B5EF4-FFF2-40B4-BE49-F238E27FC236}">
                <a16:creationId xmlns:a16="http://schemas.microsoft.com/office/drawing/2014/main" id="{1C9B2875-142B-341C-0989-3E6952112EDA}"/>
              </a:ext>
            </a:extLst>
          </p:cNvPr>
          <p:cNvSpPr txBox="1"/>
          <p:nvPr/>
        </p:nvSpPr>
        <p:spPr>
          <a:xfrm>
            <a:off x="2949343" y="1458741"/>
            <a:ext cx="14309957" cy="538609"/>
          </a:xfrm>
          <a:prstGeom prst="rect">
            <a:avLst/>
          </a:prstGeom>
        </p:spPr>
        <p:txBody>
          <a:bodyPr lIns="0" tIns="0" rIns="0" bIns="0" rtlCol="0" anchor="ctr">
            <a:spAutoFit/>
          </a:bodyPr>
          <a:lstStyle/>
          <a:p>
            <a:r>
              <a:rPr lang="en-US" altLang="ja-JP" sz="3500" b="1" spc="175" dirty="0">
                <a:solidFill>
                  <a:srgbClr val="1B1B1B"/>
                </a:solidFill>
                <a:latin typeface="Yu Gothic" panose="020B0400000000000000" pitchFamily="34" charset="-128"/>
                <a:ea typeface="Yu Gothic" panose="020B0400000000000000" pitchFamily="34" charset="-128"/>
                <a:cs typeface="Noto Sans JP Heavy"/>
                <a:sym typeface="Noto Sans JP Heavy"/>
              </a:rPr>
              <a:t>Google </a:t>
            </a:r>
            <a:r>
              <a:rPr lang="en-US" altLang="ja-JP" sz="3500" b="1" spc="175" dirty="0" err="1">
                <a:solidFill>
                  <a:srgbClr val="1B1B1B"/>
                </a:solidFill>
                <a:latin typeface="Yu Gothic" panose="020B0400000000000000" pitchFamily="34" charset="-128"/>
                <a:ea typeface="Yu Gothic" panose="020B0400000000000000" pitchFamily="34" charset="-128"/>
                <a:cs typeface="Noto Sans JP Heavy"/>
                <a:sym typeface="Noto Sans JP Heavy"/>
              </a:rPr>
              <a:t>CloudのApp</a:t>
            </a:r>
            <a:r>
              <a:rPr lang="en-US" altLang="ja-JP" sz="3500" b="1" spc="175" dirty="0">
                <a:solidFill>
                  <a:srgbClr val="1B1B1B"/>
                </a:solidFill>
                <a:latin typeface="Yu Gothic" panose="020B0400000000000000" pitchFamily="34" charset="-128"/>
                <a:ea typeface="Yu Gothic" panose="020B0400000000000000" pitchFamily="34" charset="-128"/>
                <a:cs typeface="Noto Sans JP Heavy"/>
                <a:sym typeface="Noto Sans JP Heavy"/>
              </a:rPr>
              <a:t> Engine / Cloud </a:t>
            </a:r>
            <a:r>
              <a:rPr lang="en-US" altLang="ja-JP" sz="3500" b="1" spc="175" dirty="0" err="1">
                <a:solidFill>
                  <a:srgbClr val="1B1B1B"/>
                </a:solidFill>
                <a:latin typeface="Yu Gothic" panose="020B0400000000000000" pitchFamily="34" charset="-128"/>
                <a:ea typeface="Yu Gothic" panose="020B0400000000000000" pitchFamily="34" charset="-128"/>
                <a:cs typeface="Noto Sans JP Heavy"/>
                <a:sym typeface="Noto Sans JP Heavy"/>
              </a:rPr>
              <a:t>Runとは</a:t>
            </a:r>
            <a:endParaRPr lang="en-US" altLang="ja-JP" sz="3500" b="1" spc="175" dirty="0">
              <a:solidFill>
                <a:srgbClr val="1B1B1B"/>
              </a:solidFill>
              <a:latin typeface="Yu Gothic" panose="020B0400000000000000" pitchFamily="34" charset="-128"/>
              <a:ea typeface="Yu Gothic" panose="020B0400000000000000" pitchFamily="34" charset="-128"/>
              <a:cs typeface="Noto Sans JP Heavy"/>
              <a:sym typeface="Noto Sans JP Heavy"/>
            </a:endParaRPr>
          </a:p>
        </p:txBody>
      </p:sp>
      <p:sp>
        <p:nvSpPr>
          <p:cNvPr id="13" name="TextBox 13">
            <a:extLst>
              <a:ext uri="{FF2B5EF4-FFF2-40B4-BE49-F238E27FC236}">
                <a16:creationId xmlns:a16="http://schemas.microsoft.com/office/drawing/2014/main" id="{6151A869-CC68-6DF0-88F8-CBBB12D99000}"/>
              </a:ext>
            </a:extLst>
          </p:cNvPr>
          <p:cNvSpPr txBox="1"/>
          <p:nvPr/>
        </p:nvSpPr>
        <p:spPr>
          <a:xfrm>
            <a:off x="1461953" y="1228278"/>
            <a:ext cx="854779" cy="733425"/>
          </a:xfrm>
          <a:prstGeom prst="rect">
            <a:avLst/>
          </a:prstGeom>
        </p:spPr>
        <p:txBody>
          <a:bodyPr lIns="0" tIns="0" rIns="0" bIns="0" rtlCol="0" anchor="t">
            <a:spAutoFit/>
          </a:bodyPr>
          <a:lstStyle/>
          <a:p>
            <a:pPr marL="0" lvl="0" indent="0" algn="ctr">
              <a:lnSpc>
                <a:spcPts val="6300"/>
              </a:lnSpc>
              <a:spcBef>
                <a:spcPct val="0"/>
              </a:spcBef>
            </a:pPr>
            <a:r>
              <a:rPr lang="en-US" sz="3500" b="1" u="none" strike="noStrike" dirty="0">
                <a:solidFill>
                  <a:srgbClr val="FAFAFA"/>
                </a:solidFill>
                <a:latin typeface="Yu Gothic" panose="020B0400000000000000" pitchFamily="34" charset="-128"/>
                <a:ea typeface="Yu Gothic" panose="020B0400000000000000" pitchFamily="34" charset="-128"/>
                <a:cs typeface="Open Sans Bold"/>
                <a:sym typeface="Open Sans Bold"/>
              </a:rPr>
              <a:t>03</a:t>
            </a:r>
          </a:p>
        </p:txBody>
      </p:sp>
      <p:sp>
        <p:nvSpPr>
          <p:cNvPr id="22" name="スライド番号プレースホルダー 21">
            <a:extLst>
              <a:ext uri="{FF2B5EF4-FFF2-40B4-BE49-F238E27FC236}">
                <a16:creationId xmlns:a16="http://schemas.microsoft.com/office/drawing/2014/main" id="{B1613A03-4582-D1D8-32CE-CB5B3A1165C9}"/>
              </a:ext>
            </a:extLst>
          </p:cNvPr>
          <p:cNvSpPr>
            <a:spLocks noGrp="1"/>
          </p:cNvSpPr>
          <p:nvPr>
            <p:ph type="sldNum" sz="quarter" idx="12"/>
          </p:nvPr>
        </p:nvSpPr>
        <p:spPr/>
        <p:txBody>
          <a:bodyPr/>
          <a:lstStyle/>
          <a:p>
            <a:fld id="{B6F15528-21DE-4FAA-801E-634DDDAF4B2B}" type="slidenum">
              <a:rPr lang="en-US" smtClean="0">
                <a:latin typeface="Yu Gothic" panose="020B0400000000000000" pitchFamily="34" charset="-128"/>
                <a:ea typeface="Yu Gothic" panose="020B0400000000000000" pitchFamily="34" charset="-128"/>
              </a:rPr>
              <a:pPr/>
              <a:t>7</a:t>
            </a:fld>
            <a:endParaRPr lang="en-US" dirty="0">
              <a:latin typeface="Yu Gothic" panose="020B0400000000000000" pitchFamily="34" charset="-128"/>
              <a:ea typeface="Yu Gothic" panose="020B0400000000000000" pitchFamily="34" charset="-128"/>
            </a:endParaRPr>
          </a:p>
        </p:txBody>
      </p:sp>
      <p:sp>
        <p:nvSpPr>
          <p:cNvPr id="16" name="テキスト ボックス 15">
            <a:extLst>
              <a:ext uri="{FF2B5EF4-FFF2-40B4-BE49-F238E27FC236}">
                <a16:creationId xmlns:a16="http://schemas.microsoft.com/office/drawing/2014/main" id="{B6D7BA6A-2E17-72DF-53FE-CCAC9B1B02B2}"/>
              </a:ext>
            </a:extLst>
          </p:cNvPr>
          <p:cNvSpPr txBox="1"/>
          <p:nvPr/>
        </p:nvSpPr>
        <p:spPr>
          <a:xfrm>
            <a:off x="856856" y="9405306"/>
            <a:ext cx="12152686" cy="523220"/>
          </a:xfrm>
          <a:prstGeom prst="rect">
            <a:avLst/>
          </a:prstGeom>
          <a:noFill/>
        </p:spPr>
        <p:txBody>
          <a:bodyPr wrap="none" rtlCol="0">
            <a:spAutoFit/>
          </a:bodyPr>
          <a:lstStyle/>
          <a:p>
            <a:r>
              <a:rPr kumimoji="1" lang="ja-JP" altLang="en-US" sz="1400">
                <a:latin typeface="Yu Gothic" panose="020B0400000000000000" pitchFamily="34" charset="-128"/>
                <a:ea typeface="Yu Gothic" panose="020B0400000000000000" pitchFamily="34" charset="-128"/>
              </a:rPr>
              <a:t>［参考］</a:t>
            </a:r>
            <a:r>
              <a:rPr kumimoji="1" lang="en-US" altLang="ja-JP" sz="1400" dirty="0">
                <a:latin typeface="Yu Gothic" panose="020B0400000000000000" pitchFamily="34" charset="-128"/>
                <a:ea typeface="Yu Gothic" panose="020B0400000000000000" pitchFamily="34" charset="-128"/>
              </a:rPr>
              <a:t>	</a:t>
            </a:r>
            <a:r>
              <a:rPr kumimoji="1" lang="ja-JP" altLang="en-US" sz="1400">
                <a:latin typeface="Yu Gothic" panose="020B0400000000000000" pitchFamily="34" charset="-128"/>
                <a:ea typeface="Yu Gothic" panose="020B0400000000000000" pitchFamily="34" charset="-128"/>
              </a:rPr>
              <a:t>ユタラプトル</a:t>
            </a:r>
            <a:r>
              <a:rPr kumimoji="1" lang="en-US" altLang="ja-JP" sz="1400" dirty="0">
                <a:latin typeface="Yu Gothic" panose="020B0400000000000000" pitchFamily="34" charset="-128"/>
                <a:ea typeface="Yu Gothic" panose="020B0400000000000000" pitchFamily="34" charset="-128"/>
              </a:rPr>
              <a:t>”【</a:t>
            </a:r>
            <a:r>
              <a:rPr kumimoji="1" lang="en-US" altLang="ja-JP" sz="1400" dirty="0" err="1">
                <a:latin typeface="Yu Gothic" panose="020B0400000000000000" pitchFamily="34" charset="-128"/>
                <a:ea typeface="Yu Gothic" panose="020B0400000000000000" pitchFamily="34" charset="-128"/>
              </a:rPr>
              <a:t>GCP】App</a:t>
            </a:r>
            <a:r>
              <a:rPr kumimoji="1" lang="en-US" altLang="ja-JP" sz="1400" dirty="0">
                <a:latin typeface="Yu Gothic" panose="020B0400000000000000" pitchFamily="34" charset="-128"/>
                <a:ea typeface="Yu Gothic" panose="020B0400000000000000" pitchFamily="34" charset="-128"/>
              </a:rPr>
              <a:t> Engine</a:t>
            </a:r>
            <a:r>
              <a:rPr kumimoji="1" lang="ja-JP" altLang="en-US" sz="1400">
                <a:latin typeface="Yu Gothic" panose="020B0400000000000000" pitchFamily="34" charset="-128"/>
                <a:ea typeface="Yu Gothic" panose="020B0400000000000000" pitchFamily="34" charset="-128"/>
              </a:rPr>
              <a:t>と</a:t>
            </a:r>
            <a:r>
              <a:rPr kumimoji="1" lang="en-US" altLang="ja-JP" sz="1400" dirty="0">
                <a:latin typeface="Yu Gothic" panose="020B0400000000000000" pitchFamily="34" charset="-128"/>
                <a:ea typeface="Yu Gothic" panose="020B0400000000000000" pitchFamily="34" charset="-128"/>
              </a:rPr>
              <a:t>Cloud Run</a:t>
            </a:r>
            <a:r>
              <a:rPr kumimoji="1" lang="ja-JP" altLang="en-US" sz="1400">
                <a:latin typeface="Yu Gothic" panose="020B0400000000000000" pitchFamily="34" charset="-128"/>
                <a:ea typeface="Yu Gothic" panose="020B0400000000000000" pitchFamily="34" charset="-128"/>
              </a:rPr>
              <a:t>の違い</a:t>
            </a:r>
            <a:r>
              <a:rPr kumimoji="1" lang="en-US" altLang="ja-JP" sz="1400" dirty="0">
                <a:latin typeface="Yu Gothic" panose="020B0400000000000000" pitchFamily="34" charset="-128"/>
                <a:ea typeface="Yu Gothic" panose="020B0400000000000000" pitchFamily="34" charset="-128"/>
              </a:rPr>
              <a:t>” https://</a:t>
            </a:r>
            <a:r>
              <a:rPr kumimoji="1" lang="en-US" altLang="ja-JP" sz="1400" dirty="0" err="1">
                <a:latin typeface="Yu Gothic" panose="020B0400000000000000" pitchFamily="34" charset="-128"/>
                <a:ea typeface="Yu Gothic" panose="020B0400000000000000" pitchFamily="34" charset="-128"/>
              </a:rPr>
              <a:t>qiita.com</a:t>
            </a:r>
            <a:r>
              <a:rPr kumimoji="1" lang="en-US" altLang="ja-JP" sz="1400" dirty="0">
                <a:latin typeface="Yu Gothic" panose="020B0400000000000000" pitchFamily="34" charset="-128"/>
                <a:ea typeface="Yu Gothic" panose="020B0400000000000000" pitchFamily="34" charset="-128"/>
              </a:rPr>
              <a:t>/</a:t>
            </a:r>
            <a:r>
              <a:rPr kumimoji="1" lang="en-US" altLang="ja-JP" sz="1400" dirty="0" err="1">
                <a:latin typeface="Yu Gothic" panose="020B0400000000000000" pitchFamily="34" charset="-128"/>
                <a:ea typeface="Yu Gothic" panose="020B0400000000000000" pitchFamily="34" charset="-128"/>
              </a:rPr>
              <a:t>gozikyu</a:t>
            </a:r>
            <a:r>
              <a:rPr kumimoji="1" lang="en-US" altLang="ja-JP" sz="1400" dirty="0">
                <a:latin typeface="Yu Gothic" panose="020B0400000000000000" pitchFamily="34" charset="-128"/>
                <a:ea typeface="Yu Gothic" panose="020B0400000000000000" pitchFamily="34" charset="-128"/>
              </a:rPr>
              <a:t>/items/17a9d51cb2962c9b32e5</a:t>
            </a:r>
          </a:p>
          <a:p>
            <a:r>
              <a:rPr kumimoji="1" lang="en-US" altLang="ja-JP" sz="1400" dirty="0">
                <a:latin typeface="Yu Gothic" panose="020B0400000000000000" pitchFamily="34" charset="-128"/>
                <a:ea typeface="Yu Gothic" panose="020B0400000000000000" pitchFamily="34" charset="-128"/>
              </a:rPr>
              <a:t>	</a:t>
            </a:r>
            <a:r>
              <a:rPr kumimoji="1" lang="ja-JP" altLang="en-US" sz="1400">
                <a:latin typeface="Yu Gothic" panose="020B0400000000000000" pitchFamily="34" charset="-128"/>
                <a:ea typeface="Yu Gothic" panose="020B0400000000000000" pitchFamily="34" charset="-128"/>
              </a:rPr>
              <a:t>ジーアイクラウド株式会社</a:t>
            </a:r>
            <a:r>
              <a:rPr kumimoji="1" lang="en-US" altLang="ja-JP" sz="1400" dirty="0">
                <a:latin typeface="Yu Gothic" panose="020B0400000000000000" pitchFamily="34" charset="-128"/>
                <a:ea typeface="Yu Gothic" panose="020B0400000000000000" pitchFamily="34" charset="-128"/>
              </a:rPr>
              <a:t>”Cloud Run/App Engine/Cloud Functions</a:t>
            </a:r>
            <a:r>
              <a:rPr kumimoji="1" lang="ja-JP" altLang="en-US" sz="1400">
                <a:latin typeface="Yu Gothic" panose="020B0400000000000000" pitchFamily="34" charset="-128"/>
                <a:ea typeface="Yu Gothic" panose="020B0400000000000000" pitchFamily="34" charset="-128"/>
              </a:rPr>
              <a:t>の使い分け</a:t>
            </a:r>
            <a:r>
              <a:rPr kumimoji="1" lang="en-US" altLang="ja-JP" sz="1400" dirty="0">
                <a:latin typeface="Yu Gothic" panose="020B0400000000000000" pitchFamily="34" charset="-128"/>
                <a:ea typeface="Yu Gothic" panose="020B0400000000000000" pitchFamily="34" charset="-128"/>
              </a:rPr>
              <a:t>” https://</a:t>
            </a:r>
            <a:r>
              <a:rPr kumimoji="1" lang="en-US" altLang="ja-JP" sz="1400" dirty="0" err="1">
                <a:latin typeface="Yu Gothic" panose="020B0400000000000000" pitchFamily="34" charset="-128"/>
                <a:ea typeface="Yu Gothic" panose="020B0400000000000000" pitchFamily="34" charset="-128"/>
              </a:rPr>
              <a:t>dryaki.gicloud.co.jp</a:t>
            </a:r>
            <a:r>
              <a:rPr kumimoji="1" lang="en-US" altLang="ja-JP" sz="1400" dirty="0">
                <a:latin typeface="Yu Gothic" panose="020B0400000000000000" pitchFamily="34" charset="-128"/>
                <a:ea typeface="Yu Gothic" panose="020B0400000000000000" pitchFamily="34" charset="-128"/>
              </a:rPr>
              <a:t>/articles/choice-serverless</a:t>
            </a:r>
          </a:p>
        </p:txBody>
      </p:sp>
      <p:graphicFrame>
        <p:nvGraphicFramePr>
          <p:cNvPr id="15" name="表 14">
            <a:extLst>
              <a:ext uri="{FF2B5EF4-FFF2-40B4-BE49-F238E27FC236}">
                <a16:creationId xmlns:a16="http://schemas.microsoft.com/office/drawing/2014/main" id="{2010C2B9-D8F4-E4DD-E896-7C637FBD5FCF}"/>
              </a:ext>
            </a:extLst>
          </p:cNvPr>
          <p:cNvGraphicFramePr>
            <a:graphicFrameLocks noGrp="1"/>
          </p:cNvGraphicFramePr>
          <p:nvPr>
            <p:extLst>
              <p:ext uri="{D42A27DB-BD31-4B8C-83A1-F6EECF244321}">
                <p14:modId xmlns:p14="http://schemas.microsoft.com/office/powerpoint/2010/main" val="1617469077"/>
              </p:ext>
            </p:extLst>
          </p:nvPr>
        </p:nvGraphicFramePr>
        <p:xfrm>
          <a:off x="2496086" y="2887479"/>
          <a:ext cx="14420313" cy="5937614"/>
        </p:xfrm>
        <a:graphic>
          <a:graphicData uri="http://schemas.openxmlformats.org/drawingml/2006/table">
            <a:tbl>
              <a:tblPr firstRow="1" bandRow="1">
                <a:tableStyleId>{74C1A8A3-306A-4EB7-A6B1-4F7E0EB9C5D6}</a:tableStyleId>
              </a:tblPr>
              <a:tblGrid>
                <a:gridCol w="4806771">
                  <a:extLst>
                    <a:ext uri="{9D8B030D-6E8A-4147-A177-3AD203B41FA5}">
                      <a16:colId xmlns:a16="http://schemas.microsoft.com/office/drawing/2014/main" val="577179885"/>
                    </a:ext>
                  </a:extLst>
                </a:gridCol>
                <a:gridCol w="4806771">
                  <a:extLst>
                    <a:ext uri="{9D8B030D-6E8A-4147-A177-3AD203B41FA5}">
                      <a16:colId xmlns:a16="http://schemas.microsoft.com/office/drawing/2014/main" val="1526920075"/>
                    </a:ext>
                  </a:extLst>
                </a:gridCol>
                <a:gridCol w="4806771">
                  <a:extLst>
                    <a:ext uri="{9D8B030D-6E8A-4147-A177-3AD203B41FA5}">
                      <a16:colId xmlns:a16="http://schemas.microsoft.com/office/drawing/2014/main" val="830713356"/>
                    </a:ext>
                  </a:extLst>
                </a:gridCol>
              </a:tblGrid>
              <a:tr h="1083526">
                <a:tc>
                  <a:txBody>
                    <a:bodyPr/>
                    <a:lstStyle/>
                    <a:p>
                      <a:endParaRPr kumimoji="1" lang="ja-JP" altLang="en-US" sz="2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schemeClr>
                    </a:solidFill>
                  </a:tcPr>
                </a:tc>
                <a:tc>
                  <a:txBody>
                    <a:bodyPr/>
                    <a:lstStyle/>
                    <a:p>
                      <a:pPr algn="ctr"/>
                      <a:r>
                        <a:rPr kumimoji="1" lang="en-US" altLang="ja-JP" sz="3600" dirty="0">
                          <a:solidFill>
                            <a:schemeClr val="bg1"/>
                          </a:solidFill>
                        </a:rPr>
                        <a:t>App Engine</a:t>
                      </a:r>
                      <a:endParaRPr kumimoji="1" lang="ja-JP" altLang="en-US" sz="360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schemeClr>
                    </a:solidFill>
                  </a:tcPr>
                </a:tc>
                <a:tc>
                  <a:txBody>
                    <a:bodyPr/>
                    <a:lstStyle/>
                    <a:p>
                      <a:pPr algn="ctr"/>
                      <a:r>
                        <a:rPr kumimoji="1" lang="en-US" altLang="ja-JP" sz="3600" dirty="0">
                          <a:solidFill>
                            <a:schemeClr val="bg1"/>
                          </a:solidFill>
                        </a:rPr>
                        <a:t>Cloud Run</a:t>
                      </a:r>
                      <a:endParaRPr kumimoji="1" lang="ja-JP" altLang="en-US" sz="360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367631776"/>
                  </a:ext>
                </a:extLst>
              </a:tr>
              <a:tr h="1603510">
                <a:tc>
                  <a:txBody>
                    <a:bodyPr/>
                    <a:lstStyle/>
                    <a:p>
                      <a:pPr algn="ctr"/>
                      <a:r>
                        <a:rPr kumimoji="1" lang="ja-JP" altLang="en-US" sz="2800">
                          <a:solidFill>
                            <a:schemeClr val="tx1"/>
                          </a:solidFill>
                        </a:rPr>
                        <a:t>共通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r>
                        <a:rPr kumimoji="1" lang="ja-JP" altLang="en-US" sz="2400">
                          <a:solidFill>
                            <a:schemeClr val="tx1"/>
                          </a:solidFill>
                        </a:rPr>
                        <a:t>サーバーの管理が不要</a:t>
                      </a:r>
                      <a:endParaRPr kumimoji="1" lang="en-US" altLang="ja-JP" sz="2400" dirty="0">
                        <a:solidFill>
                          <a:schemeClr val="tx1"/>
                        </a:solidFill>
                      </a:endParaRPr>
                    </a:p>
                    <a:p>
                      <a:r>
                        <a:rPr kumimoji="1" lang="ja-JP" altLang="en-US" sz="2400">
                          <a:solidFill>
                            <a:schemeClr val="tx1"/>
                          </a:solidFill>
                        </a:rPr>
                        <a:t>従量課金制</a:t>
                      </a:r>
                      <a:endParaRPr kumimoji="1" lang="en-US" altLang="ja-JP" sz="2400" dirty="0">
                        <a:solidFill>
                          <a:schemeClr val="tx1"/>
                        </a:solidFill>
                      </a:endParaRPr>
                    </a:p>
                    <a:p>
                      <a:r>
                        <a:rPr kumimoji="1" lang="ja-JP" altLang="en-US" sz="2400">
                          <a:solidFill>
                            <a:schemeClr val="tx1"/>
                          </a:solidFill>
                        </a:rPr>
                        <a:t>オートスケーリング</a:t>
                      </a:r>
                      <a:r>
                        <a:rPr kumimoji="1" lang="en-US" altLang="ja-JP" sz="1800" dirty="0">
                          <a:solidFill>
                            <a:schemeClr val="tx1"/>
                          </a:solidFill>
                        </a:rPr>
                        <a:t>(=</a:t>
                      </a:r>
                      <a:r>
                        <a:rPr kumimoji="1" lang="ja-JP" altLang="en-US" sz="1800">
                          <a:solidFill>
                            <a:schemeClr val="tx1"/>
                          </a:solidFill>
                        </a:rPr>
                        <a:t>負荷に応じてサーバーの台数やスペックを自動的に調整する</a:t>
                      </a:r>
                      <a:r>
                        <a:rPr kumimoji="1" lang="en-US" altLang="ja-JP" sz="1800" dirty="0">
                          <a:solidFill>
                            <a:schemeClr val="tx1"/>
                          </a:solidFill>
                        </a:rPr>
                        <a:t>)</a:t>
                      </a:r>
                      <a:endParaRPr kumimoji="1" lang="ja-JP" altLang="en-US" sz="2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sz="2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5978745"/>
                  </a:ext>
                </a:extLst>
              </a:tr>
              <a:tr h="1083526">
                <a:tc>
                  <a:txBody>
                    <a:bodyPr/>
                    <a:lstStyle/>
                    <a:p>
                      <a:pPr algn="ctr"/>
                      <a:r>
                        <a:rPr kumimoji="1" lang="ja-JP" altLang="en-US" sz="2800">
                          <a:solidFill>
                            <a:schemeClr val="tx1"/>
                          </a:solidFill>
                        </a:rPr>
                        <a:t>デプロイ</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sz="2400" dirty="0">
                          <a:solidFill>
                            <a:schemeClr val="tx1"/>
                          </a:solidFill>
                        </a:rPr>
                        <a:t>GCP</a:t>
                      </a:r>
                      <a:r>
                        <a:rPr kumimoji="1" lang="en-US" altLang="ja-JP" sz="1800" dirty="0">
                          <a:solidFill>
                            <a:schemeClr val="tx1"/>
                          </a:solidFill>
                        </a:rPr>
                        <a:t>(=Google Cloud Platform)</a:t>
                      </a:r>
                      <a:r>
                        <a:rPr kumimoji="1" lang="ja-JP" altLang="en-US" sz="2400">
                          <a:solidFill>
                            <a:schemeClr val="tx1"/>
                          </a:solidFill>
                        </a:rPr>
                        <a:t>が用意する</a:t>
                      </a:r>
                      <a:endParaRPr kumimoji="1" lang="en-US" altLang="ja-JP" sz="2400" dirty="0">
                        <a:solidFill>
                          <a:schemeClr val="tx1"/>
                        </a:solidFill>
                      </a:endParaRPr>
                    </a:p>
                    <a:p>
                      <a:r>
                        <a:rPr kumimoji="1" lang="ja-JP" altLang="en-US" sz="2400">
                          <a:solidFill>
                            <a:schemeClr val="tx1"/>
                          </a:solidFill>
                        </a:rPr>
                        <a:t>ランタイム環境のみ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400">
                          <a:solidFill>
                            <a:schemeClr val="tx1"/>
                          </a:solidFill>
                        </a:rPr>
                        <a:t>任意のランタイム環境で</a:t>
                      </a:r>
                      <a:endParaRPr kumimoji="1" lang="en-US" altLang="ja-JP" sz="2400" dirty="0">
                        <a:solidFill>
                          <a:schemeClr val="tx1"/>
                        </a:solidFill>
                      </a:endParaRPr>
                    </a:p>
                    <a:p>
                      <a:r>
                        <a:rPr kumimoji="1" lang="ja-JP" altLang="en-US" sz="2400">
                          <a:solidFill>
                            <a:schemeClr val="tx1"/>
                          </a:solidFill>
                        </a:rPr>
                        <a:t>コンテナを作れる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8503829"/>
                  </a:ext>
                </a:extLst>
              </a:tr>
              <a:tr h="1083526">
                <a:tc>
                  <a:txBody>
                    <a:bodyPr/>
                    <a:lstStyle/>
                    <a:p>
                      <a:pPr algn="ctr"/>
                      <a:r>
                        <a:rPr kumimoji="1" lang="ja-JP" altLang="en-US" sz="2800">
                          <a:solidFill>
                            <a:schemeClr val="tx1"/>
                          </a:solidFill>
                        </a:rPr>
                        <a:t>アクセス状態</a:t>
                      </a:r>
                      <a:r>
                        <a:rPr kumimoji="1" lang="en-US" altLang="ja-JP" sz="2000" dirty="0">
                          <a:solidFill>
                            <a:schemeClr val="tx1"/>
                          </a:solidFill>
                        </a:rPr>
                        <a:t>(</a:t>
                      </a:r>
                      <a:r>
                        <a:rPr kumimoji="1" lang="ja-JP" altLang="en-US" sz="2000">
                          <a:solidFill>
                            <a:schemeClr val="tx1"/>
                          </a:solidFill>
                        </a:rPr>
                        <a:t>オススメ</a:t>
                      </a:r>
                      <a:r>
                        <a:rPr kumimoji="1" lang="en-US" altLang="ja-JP" sz="2000" dirty="0">
                          <a:solidFill>
                            <a:schemeClr val="tx1"/>
                          </a:solidFill>
                        </a:rPr>
                        <a:t>)</a:t>
                      </a:r>
                      <a:endParaRPr kumimoji="1" lang="ja-JP" altLang="en-US" sz="28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400">
                          <a:solidFill>
                            <a:schemeClr val="tx1"/>
                          </a:solidFill>
                        </a:rPr>
                        <a:t>常時アクセスがある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400">
                          <a:solidFill>
                            <a:schemeClr val="tx1"/>
                          </a:solidFill>
                        </a:rPr>
                        <a:t>常時はアクセスがない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6086567"/>
                  </a:ext>
                </a:extLst>
              </a:tr>
              <a:tr h="1083526">
                <a:tc>
                  <a:txBody>
                    <a:bodyPr/>
                    <a:lstStyle/>
                    <a:p>
                      <a:pPr algn="ctr"/>
                      <a:r>
                        <a:rPr kumimoji="1" lang="ja-JP" altLang="en-US" sz="2800">
                          <a:solidFill>
                            <a:schemeClr val="tx1"/>
                          </a:solidFill>
                        </a:rPr>
                        <a:t>開発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400">
                          <a:solidFill>
                            <a:schemeClr val="tx1"/>
                          </a:solidFill>
                        </a:rPr>
                        <a:t>アプリ開発に集中できる</a:t>
                      </a:r>
                      <a:endParaRPr kumimoji="1" lang="en-US" altLang="ja-JP" sz="2400" dirty="0">
                        <a:solidFill>
                          <a:schemeClr val="tx1"/>
                        </a:solidFill>
                      </a:endParaRPr>
                    </a:p>
                    <a:p>
                      <a:r>
                        <a:rPr kumimoji="1" lang="en-US" altLang="ja-JP" sz="1800" dirty="0">
                          <a:solidFill>
                            <a:schemeClr val="tx1"/>
                          </a:solidFill>
                        </a:rPr>
                        <a:t>(</a:t>
                      </a:r>
                      <a:r>
                        <a:rPr kumimoji="1" lang="ja-JP" altLang="en-US" sz="1800">
                          <a:solidFill>
                            <a:schemeClr val="tx1"/>
                          </a:solidFill>
                        </a:rPr>
                        <a:t>インフラ管理やスケーリングを</a:t>
                      </a:r>
                      <a:r>
                        <a:rPr kumimoji="1" lang="en-US" altLang="ja-JP" sz="1800" dirty="0">
                          <a:solidFill>
                            <a:schemeClr val="tx1"/>
                          </a:solidFill>
                        </a:rPr>
                        <a:t>GC</a:t>
                      </a:r>
                      <a:r>
                        <a:rPr kumimoji="1" lang="ja-JP" altLang="en-US" sz="1800">
                          <a:solidFill>
                            <a:schemeClr val="tx1"/>
                          </a:solidFill>
                        </a:rPr>
                        <a:t>が行う為</a:t>
                      </a:r>
                      <a:r>
                        <a:rPr kumimoji="1" lang="en-US" altLang="ja-JP" sz="1800" dirty="0">
                          <a:solidFill>
                            <a:schemeClr val="tx1"/>
                          </a:solidFill>
                        </a:rPr>
                        <a:t>)</a:t>
                      </a:r>
                      <a:endParaRPr kumimoji="1" lang="ja-JP" altLang="en-US" sz="18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400">
                          <a:solidFill>
                            <a:schemeClr val="tx1"/>
                          </a:solidFill>
                        </a:rPr>
                        <a:t>コンテナ技術に精通した開発者が</a:t>
                      </a:r>
                      <a:endParaRPr kumimoji="1" lang="en-US" altLang="ja-JP" sz="2400" dirty="0">
                        <a:solidFill>
                          <a:schemeClr val="tx1"/>
                        </a:solidFill>
                      </a:endParaRPr>
                    </a:p>
                    <a:p>
                      <a:r>
                        <a:rPr kumimoji="1" lang="ja-JP" altLang="en-US" sz="2400">
                          <a:solidFill>
                            <a:schemeClr val="tx1"/>
                          </a:solidFill>
                        </a:rPr>
                        <a:t>使い慣れた環境で開発できる</a:t>
                      </a:r>
                      <a:endParaRPr kumimoji="1" lang="en-US" altLang="ja-JP" sz="2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7719017"/>
                  </a:ext>
                </a:extLst>
              </a:tr>
            </a:tbl>
          </a:graphicData>
        </a:graphic>
      </p:graphicFrame>
    </p:spTree>
    <p:extLst>
      <p:ext uri="{BB962C8B-B14F-4D97-AF65-F5344CB8AC3E}">
        <p14:creationId xmlns:p14="http://schemas.microsoft.com/office/powerpoint/2010/main" val="7555183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118C3-684E-F385-D2E8-58821842152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17FD5C7-B84C-A713-BC34-C8CCD339D8C5}"/>
              </a:ext>
            </a:extLst>
          </p:cNvPr>
          <p:cNvSpPr/>
          <p:nvPr/>
        </p:nvSpPr>
        <p:spPr>
          <a:xfrm>
            <a:off x="857250" y="2361305"/>
            <a:ext cx="16573500"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3" name="AutoShape 3">
            <a:extLst>
              <a:ext uri="{FF2B5EF4-FFF2-40B4-BE49-F238E27FC236}">
                <a16:creationId xmlns:a16="http://schemas.microsoft.com/office/drawing/2014/main" id="{3848ABE9-4946-72AC-5581-CC2D874A4C30}"/>
              </a:ext>
            </a:extLst>
          </p:cNvPr>
          <p:cNvSpPr/>
          <p:nvPr/>
        </p:nvSpPr>
        <p:spPr>
          <a:xfrm>
            <a:off x="857250" y="1047750"/>
            <a:ext cx="16573459"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4" name="AutoShape 4">
            <a:extLst>
              <a:ext uri="{FF2B5EF4-FFF2-40B4-BE49-F238E27FC236}">
                <a16:creationId xmlns:a16="http://schemas.microsoft.com/office/drawing/2014/main" id="{C45ABCEA-CAFC-F770-F27E-A51DDBB4AF87}"/>
              </a:ext>
            </a:extLst>
          </p:cNvPr>
          <p:cNvSpPr/>
          <p:nvPr/>
        </p:nvSpPr>
        <p:spPr>
          <a:xfrm flipV="1">
            <a:off x="856856" y="904405"/>
            <a:ext cx="16574288"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5" name="AutoShape 5">
            <a:extLst>
              <a:ext uri="{FF2B5EF4-FFF2-40B4-BE49-F238E27FC236}">
                <a16:creationId xmlns:a16="http://schemas.microsoft.com/office/drawing/2014/main" id="{9072B92D-E282-B49D-283C-A1CC46C1394B}"/>
              </a:ext>
            </a:extLst>
          </p:cNvPr>
          <p:cNvSpPr/>
          <p:nvPr/>
        </p:nvSpPr>
        <p:spPr>
          <a:xfrm>
            <a:off x="857250" y="9382595"/>
            <a:ext cx="16573500"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6" name="AutoShape 6">
            <a:extLst>
              <a:ext uri="{FF2B5EF4-FFF2-40B4-BE49-F238E27FC236}">
                <a16:creationId xmlns:a16="http://schemas.microsoft.com/office/drawing/2014/main" id="{A12F6735-E4A4-DAC4-C283-A17631EBC4A5}"/>
              </a:ext>
            </a:extLst>
          </p:cNvPr>
          <p:cNvSpPr/>
          <p:nvPr/>
        </p:nvSpPr>
        <p:spPr>
          <a:xfrm>
            <a:off x="857250" y="9239250"/>
            <a:ext cx="16573500"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grpSp>
        <p:nvGrpSpPr>
          <p:cNvPr id="7" name="Group 7">
            <a:extLst>
              <a:ext uri="{FF2B5EF4-FFF2-40B4-BE49-F238E27FC236}">
                <a16:creationId xmlns:a16="http://schemas.microsoft.com/office/drawing/2014/main" id="{379BBEB6-1E73-1EA2-AC01-982373AC19CC}"/>
              </a:ext>
            </a:extLst>
          </p:cNvPr>
          <p:cNvGrpSpPr/>
          <p:nvPr/>
        </p:nvGrpSpPr>
        <p:grpSpPr>
          <a:xfrm>
            <a:off x="1282599" y="650625"/>
            <a:ext cx="1213487" cy="1720205"/>
            <a:chOff x="0" y="0"/>
            <a:chExt cx="319601" cy="453058"/>
          </a:xfrm>
        </p:grpSpPr>
        <p:sp>
          <p:nvSpPr>
            <p:cNvPr id="8" name="Freeform 8">
              <a:extLst>
                <a:ext uri="{FF2B5EF4-FFF2-40B4-BE49-F238E27FC236}">
                  <a16:creationId xmlns:a16="http://schemas.microsoft.com/office/drawing/2014/main" id="{176F61E6-CAB1-6CD5-72CB-E59FAFEB70A5}"/>
                </a:ext>
              </a:extLst>
            </p:cNvPr>
            <p:cNvSpPr/>
            <p:nvPr/>
          </p:nvSpPr>
          <p:spPr>
            <a:xfrm>
              <a:off x="0" y="0"/>
              <a:ext cx="319601" cy="453058"/>
            </a:xfrm>
            <a:custGeom>
              <a:avLst/>
              <a:gdLst/>
              <a:ahLst/>
              <a:cxnLst/>
              <a:rect l="l" t="t" r="r" b="b"/>
              <a:pathLst>
                <a:path w="319601" h="453058">
                  <a:moveTo>
                    <a:pt x="0" y="0"/>
                  </a:moveTo>
                  <a:lnTo>
                    <a:pt x="319601" y="0"/>
                  </a:lnTo>
                  <a:lnTo>
                    <a:pt x="319601" y="453058"/>
                  </a:lnTo>
                  <a:lnTo>
                    <a:pt x="0" y="453058"/>
                  </a:lnTo>
                  <a:close/>
                </a:path>
              </a:pathLst>
            </a:custGeom>
            <a:solidFill>
              <a:srgbClr val="1B1B1B"/>
            </a:solidFill>
          </p:spPr>
          <p:txBody>
            <a:bodyPr/>
            <a:lstStyle/>
            <a:p>
              <a:endParaRPr lang="ja-JP" altLang="en-US">
                <a:latin typeface="Yu Gothic" panose="020B0400000000000000" pitchFamily="34" charset="-128"/>
                <a:ea typeface="Yu Gothic" panose="020B0400000000000000" pitchFamily="34" charset="-128"/>
              </a:endParaRPr>
            </a:p>
          </p:txBody>
        </p:sp>
        <p:sp>
          <p:nvSpPr>
            <p:cNvPr id="9" name="TextBox 9">
              <a:extLst>
                <a:ext uri="{FF2B5EF4-FFF2-40B4-BE49-F238E27FC236}">
                  <a16:creationId xmlns:a16="http://schemas.microsoft.com/office/drawing/2014/main" id="{D1569301-6D14-D9C6-FDD8-B3DB4F225DCC}"/>
                </a:ext>
              </a:extLst>
            </p:cNvPr>
            <p:cNvSpPr txBox="1"/>
            <p:nvPr/>
          </p:nvSpPr>
          <p:spPr>
            <a:xfrm>
              <a:off x="0" y="-47625"/>
              <a:ext cx="319601" cy="500683"/>
            </a:xfrm>
            <a:prstGeom prst="rect">
              <a:avLst/>
            </a:prstGeom>
          </p:spPr>
          <p:txBody>
            <a:bodyPr lIns="50800" tIns="50800" rIns="50800" bIns="50800" rtlCol="0" anchor="ctr"/>
            <a:lstStyle/>
            <a:p>
              <a:pPr algn="ctr">
                <a:lnSpc>
                  <a:spcPts val="3359"/>
                </a:lnSpc>
              </a:pPr>
              <a:endParaRPr>
                <a:latin typeface="Yu Gothic" panose="020B0400000000000000" pitchFamily="34" charset="-128"/>
                <a:ea typeface="Yu Gothic" panose="020B0400000000000000" pitchFamily="34" charset="-128"/>
              </a:endParaRPr>
            </a:p>
          </p:txBody>
        </p:sp>
      </p:grpSp>
      <p:sp>
        <p:nvSpPr>
          <p:cNvPr id="12" name="TextBox 12">
            <a:extLst>
              <a:ext uri="{FF2B5EF4-FFF2-40B4-BE49-F238E27FC236}">
                <a16:creationId xmlns:a16="http://schemas.microsoft.com/office/drawing/2014/main" id="{47DBED35-B67D-7005-F1BD-9FDC05303EBF}"/>
              </a:ext>
            </a:extLst>
          </p:cNvPr>
          <p:cNvSpPr txBox="1"/>
          <p:nvPr/>
        </p:nvSpPr>
        <p:spPr>
          <a:xfrm>
            <a:off x="2949343" y="1458741"/>
            <a:ext cx="14309957" cy="538609"/>
          </a:xfrm>
          <a:prstGeom prst="rect">
            <a:avLst/>
          </a:prstGeom>
        </p:spPr>
        <p:txBody>
          <a:bodyPr lIns="0" tIns="0" rIns="0" bIns="0" rtlCol="0" anchor="ctr">
            <a:spAutoFit/>
          </a:bodyPr>
          <a:lstStyle/>
          <a:p>
            <a:r>
              <a:rPr lang="en-US" altLang="ja-JP" sz="3500" b="1" spc="175" dirty="0">
                <a:solidFill>
                  <a:srgbClr val="1B1B1B"/>
                </a:solidFill>
                <a:latin typeface="Yu Gothic" panose="020B0400000000000000" pitchFamily="34" charset="-128"/>
                <a:ea typeface="Yu Gothic" panose="020B0400000000000000" pitchFamily="34" charset="-128"/>
                <a:cs typeface="Noto Sans JP Heavy"/>
                <a:sym typeface="Noto Sans JP Heavy"/>
              </a:rPr>
              <a:t>Google </a:t>
            </a:r>
            <a:r>
              <a:rPr lang="en-US" altLang="ja-JP" sz="3500" b="1" spc="175" dirty="0" err="1">
                <a:solidFill>
                  <a:srgbClr val="1B1B1B"/>
                </a:solidFill>
                <a:latin typeface="Yu Gothic" panose="020B0400000000000000" pitchFamily="34" charset="-128"/>
                <a:ea typeface="Yu Gothic" panose="020B0400000000000000" pitchFamily="34" charset="-128"/>
                <a:cs typeface="Noto Sans JP Heavy"/>
                <a:sym typeface="Noto Sans JP Heavy"/>
              </a:rPr>
              <a:t>CloudのApp</a:t>
            </a:r>
            <a:r>
              <a:rPr lang="en-US" altLang="ja-JP" sz="3500" b="1" spc="175" dirty="0">
                <a:solidFill>
                  <a:srgbClr val="1B1B1B"/>
                </a:solidFill>
                <a:latin typeface="Yu Gothic" panose="020B0400000000000000" pitchFamily="34" charset="-128"/>
                <a:ea typeface="Yu Gothic" panose="020B0400000000000000" pitchFamily="34" charset="-128"/>
                <a:cs typeface="Noto Sans JP Heavy"/>
                <a:sym typeface="Noto Sans JP Heavy"/>
              </a:rPr>
              <a:t> Engine / Cloud </a:t>
            </a:r>
            <a:r>
              <a:rPr lang="en-US" altLang="ja-JP" sz="3500" b="1" spc="175" dirty="0" err="1">
                <a:solidFill>
                  <a:srgbClr val="1B1B1B"/>
                </a:solidFill>
                <a:latin typeface="Yu Gothic" panose="020B0400000000000000" pitchFamily="34" charset="-128"/>
                <a:ea typeface="Yu Gothic" panose="020B0400000000000000" pitchFamily="34" charset="-128"/>
                <a:cs typeface="Noto Sans JP Heavy"/>
                <a:sym typeface="Noto Sans JP Heavy"/>
              </a:rPr>
              <a:t>Runとは</a:t>
            </a:r>
            <a:endParaRPr lang="en-US" altLang="ja-JP" sz="3500" b="1" spc="175" dirty="0">
              <a:solidFill>
                <a:srgbClr val="1B1B1B"/>
              </a:solidFill>
              <a:latin typeface="Yu Gothic" panose="020B0400000000000000" pitchFamily="34" charset="-128"/>
              <a:ea typeface="Yu Gothic" panose="020B0400000000000000" pitchFamily="34" charset="-128"/>
              <a:cs typeface="Noto Sans JP Heavy"/>
              <a:sym typeface="Noto Sans JP Heavy"/>
            </a:endParaRPr>
          </a:p>
        </p:txBody>
      </p:sp>
      <p:sp>
        <p:nvSpPr>
          <p:cNvPr id="13" name="TextBox 13">
            <a:extLst>
              <a:ext uri="{FF2B5EF4-FFF2-40B4-BE49-F238E27FC236}">
                <a16:creationId xmlns:a16="http://schemas.microsoft.com/office/drawing/2014/main" id="{A4B05055-5772-A12F-1ECB-48440C35A6CB}"/>
              </a:ext>
            </a:extLst>
          </p:cNvPr>
          <p:cNvSpPr txBox="1"/>
          <p:nvPr/>
        </p:nvSpPr>
        <p:spPr>
          <a:xfrm>
            <a:off x="1461953" y="1228278"/>
            <a:ext cx="854779" cy="733425"/>
          </a:xfrm>
          <a:prstGeom prst="rect">
            <a:avLst/>
          </a:prstGeom>
        </p:spPr>
        <p:txBody>
          <a:bodyPr lIns="0" tIns="0" rIns="0" bIns="0" rtlCol="0" anchor="t">
            <a:spAutoFit/>
          </a:bodyPr>
          <a:lstStyle/>
          <a:p>
            <a:pPr marL="0" lvl="0" indent="0" algn="ctr">
              <a:lnSpc>
                <a:spcPts val="6300"/>
              </a:lnSpc>
              <a:spcBef>
                <a:spcPct val="0"/>
              </a:spcBef>
            </a:pPr>
            <a:r>
              <a:rPr lang="en-US" sz="3500" b="1" u="none" strike="noStrike" dirty="0">
                <a:solidFill>
                  <a:srgbClr val="FAFAFA"/>
                </a:solidFill>
                <a:latin typeface="Yu Gothic" panose="020B0400000000000000" pitchFamily="34" charset="-128"/>
                <a:ea typeface="Yu Gothic" panose="020B0400000000000000" pitchFamily="34" charset="-128"/>
                <a:cs typeface="Open Sans Bold"/>
                <a:sym typeface="Open Sans Bold"/>
              </a:rPr>
              <a:t>03</a:t>
            </a:r>
          </a:p>
        </p:txBody>
      </p:sp>
      <p:sp>
        <p:nvSpPr>
          <p:cNvPr id="22" name="スライド番号プレースホルダー 21">
            <a:extLst>
              <a:ext uri="{FF2B5EF4-FFF2-40B4-BE49-F238E27FC236}">
                <a16:creationId xmlns:a16="http://schemas.microsoft.com/office/drawing/2014/main" id="{AD8792E5-D7B5-7874-F3B6-B7AB3F67A474}"/>
              </a:ext>
            </a:extLst>
          </p:cNvPr>
          <p:cNvSpPr>
            <a:spLocks noGrp="1"/>
          </p:cNvSpPr>
          <p:nvPr>
            <p:ph type="sldNum" sz="quarter" idx="12"/>
          </p:nvPr>
        </p:nvSpPr>
        <p:spPr/>
        <p:txBody>
          <a:bodyPr/>
          <a:lstStyle/>
          <a:p>
            <a:fld id="{B6F15528-21DE-4FAA-801E-634DDDAF4B2B}" type="slidenum">
              <a:rPr lang="en-US" smtClean="0">
                <a:latin typeface="Yu Gothic" panose="020B0400000000000000" pitchFamily="34" charset="-128"/>
                <a:ea typeface="Yu Gothic" panose="020B0400000000000000" pitchFamily="34" charset="-128"/>
              </a:rPr>
              <a:pPr/>
              <a:t>8</a:t>
            </a:fld>
            <a:endParaRPr lang="en-US" dirty="0">
              <a:latin typeface="Yu Gothic" panose="020B0400000000000000" pitchFamily="34" charset="-128"/>
              <a:ea typeface="Yu Gothic" panose="020B0400000000000000" pitchFamily="34" charset="-128"/>
            </a:endParaRPr>
          </a:p>
        </p:txBody>
      </p:sp>
      <p:sp>
        <p:nvSpPr>
          <p:cNvPr id="16" name="テキスト ボックス 15">
            <a:extLst>
              <a:ext uri="{FF2B5EF4-FFF2-40B4-BE49-F238E27FC236}">
                <a16:creationId xmlns:a16="http://schemas.microsoft.com/office/drawing/2014/main" id="{E9D5A3DE-C932-C79F-7E9D-4DC470D0D76A}"/>
              </a:ext>
            </a:extLst>
          </p:cNvPr>
          <p:cNvSpPr txBox="1"/>
          <p:nvPr/>
        </p:nvSpPr>
        <p:spPr>
          <a:xfrm>
            <a:off x="856856" y="9405306"/>
            <a:ext cx="12152686" cy="523220"/>
          </a:xfrm>
          <a:prstGeom prst="rect">
            <a:avLst/>
          </a:prstGeom>
          <a:noFill/>
        </p:spPr>
        <p:txBody>
          <a:bodyPr wrap="none" rtlCol="0">
            <a:spAutoFit/>
          </a:bodyPr>
          <a:lstStyle/>
          <a:p>
            <a:r>
              <a:rPr kumimoji="1" lang="ja-JP" altLang="en-US" sz="1400">
                <a:latin typeface="Yu Gothic" panose="020B0400000000000000" pitchFamily="34" charset="-128"/>
                <a:ea typeface="Yu Gothic" panose="020B0400000000000000" pitchFamily="34" charset="-128"/>
              </a:rPr>
              <a:t>［参考］</a:t>
            </a:r>
            <a:r>
              <a:rPr kumimoji="1" lang="en-US" altLang="ja-JP" sz="1400" dirty="0">
                <a:latin typeface="Yu Gothic" panose="020B0400000000000000" pitchFamily="34" charset="-128"/>
                <a:ea typeface="Yu Gothic" panose="020B0400000000000000" pitchFamily="34" charset="-128"/>
              </a:rPr>
              <a:t>	</a:t>
            </a:r>
            <a:r>
              <a:rPr kumimoji="1" lang="ja-JP" altLang="en-US" sz="1400">
                <a:latin typeface="Yu Gothic" panose="020B0400000000000000" pitchFamily="34" charset="-128"/>
                <a:ea typeface="Yu Gothic" panose="020B0400000000000000" pitchFamily="34" charset="-128"/>
              </a:rPr>
              <a:t>ユタラプトル</a:t>
            </a:r>
            <a:r>
              <a:rPr kumimoji="1" lang="en-US" altLang="ja-JP" sz="1400" dirty="0">
                <a:latin typeface="Yu Gothic" panose="020B0400000000000000" pitchFamily="34" charset="-128"/>
                <a:ea typeface="Yu Gothic" panose="020B0400000000000000" pitchFamily="34" charset="-128"/>
              </a:rPr>
              <a:t>”【</a:t>
            </a:r>
            <a:r>
              <a:rPr kumimoji="1" lang="en-US" altLang="ja-JP" sz="1400" dirty="0" err="1">
                <a:latin typeface="Yu Gothic" panose="020B0400000000000000" pitchFamily="34" charset="-128"/>
                <a:ea typeface="Yu Gothic" panose="020B0400000000000000" pitchFamily="34" charset="-128"/>
              </a:rPr>
              <a:t>GCP】App</a:t>
            </a:r>
            <a:r>
              <a:rPr kumimoji="1" lang="en-US" altLang="ja-JP" sz="1400" dirty="0">
                <a:latin typeface="Yu Gothic" panose="020B0400000000000000" pitchFamily="34" charset="-128"/>
                <a:ea typeface="Yu Gothic" panose="020B0400000000000000" pitchFamily="34" charset="-128"/>
              </a:rPr>
              <a:t> Engine</a:t>
            </a:r>
            <a:r>
              <a:rPr kumimoji="1" lang="ja-JP" altLang="en-US" sz="1400">
                <a:latin typeface="Yu Gothic" panose="020B0400000000000000" pitchFamily="34" charset="-128"/>
                <a:ea typeface="Yu Gothic" panose="020B0400000000000000" pitchFamily="34" charset="-128"/>
              </a:rPr>
              <a:t>と</a:t>
            </a:r>
            <a:r>
              <a:rPr kumimoji="1" lang="en-US" altLang="ja-JP" sz="1400" dirty="0">
                <a:latin typeface="Yu Gothic" panose="020B0400000000000000" pitchFamily="34" charset="-128"/>
                <a:ea typeface="Yu Gothic" panose="020B0400000000000000" pitchFamily="34" charset="-128"/>
              </a:rPr>
              <a:t>Cloud Run</a:t>
            </a:r>
            <a:r>
              <a:rPr kumimoji="1" lang="ja-JP" altLang="en-US" sz="1400">
                <a:latin typeface="Yu Gothic" panose="020B0400000000000000" pitchFamily="34" charset="-128"/>
                <a:ea typeface="Yu Gothic" panose="020B0400000000000000" pitchFamily="34" charset="-128"/>
              </a:rPr>
              <a:t>の違い</a:t>
            </a:r>
            <a:r>
              <a:rPr kumimoji="1" lang="en-US" altLang="ja-JP" sz="1400" dirty="0">
                <a:latin typeface="Yu Gothic" panose="020B0400000000000000" pitchFamily="34" charset="-128"/>
                <a:ea typeface="Yu Gothic" panose="020B0400000000000000" pitchFamily="34" charset="-128"/>
              </a:rPr>
              <a:t>” https://</a:t>
            </a:r>
            <a:r>
              <a:rPr kumimoji="1" lang="en-US" altLang="ja-JP" sz="1400" dirty="0" err="1">
                <a:latin typeface="Yu Gothic" panose="020B0400000000000000" pitchFamily="34" charset="-128"/>
                <a:ea typeface="Yu Gothic" panose="020B0400000000000000" pitchFamily="34" charset="-128"/>
              </a:rPr>
              <a:t>qiita.com</a:t>
            </a:r>
            <a:r>
              <a:rPr kumimoji="1" lang="en-US" altLang="ja-JP" sz="1400" dirty="0">
                <a:latin typeface="Yu Gothic" panose="020B0400000000000000" pitchFamily="34" charset="-128"/>
                <a:ea typeface="Yu Gothic" panose="020B0400000000000000" pitchFamily="34" charset="-128"/>
              </a:rPr>
              <a:t>/</a:t>
            </a:r>
            <a:r>
              <a:rPr kumimoji="1" lang="en-US" altLang="ja-JP" sz="1400" dirty="0" err="1">
                <a:latin typeface="Yu Gothic" panose="020B0400000000000000" pitchFamily="34" charset="-128"/>
                <a:ea typeface="Yu Gothic" panose="020B0400000000000000" pitchFamily="34" charset="-128"/>
              </a:rPr>
              <a:t>gozikyu</a:t>
            </a:r>
            <a:r>
              <a:rPr kumimoji="1" lang="en-US" altLang="ja-JP" sz="1400" dirty="0">
                <a:latin typeface="Yu Gothic" panose="020B0400000000000000" pitchFamily="34" charset="-128"/>
                <a:ea typeface="Yu Gothic" panose="020B0400000000000000" pitchFamily="34" charset="-128"/>
              </a:rPr>
              <a:t>/items/17a9d51cb2962c9b32e5</a:t>
            </a:r>
          </a:p>
          <a:p>
            <a:r>
              <a:rPr kumimoji="1" lang="en-US" altLang="ja-JP" sz="1400" dirty="0">
                <a:latin typeface="Yu Gothic" panose="020B0400000000000000" pitchFamily="34" charset="-128"/>
                <a:ea typeface="Yu Gothic" panose="020B0400000000000000" pitchFamily="34" charset="-128"/>
              </a:rPr>
              <a:t>	</a:t>
            </a:r>
            <a:r>
              <a:rPr kumimoji="1" lang="ja-JP" altLang="en-US" sz="1400">
                <a:latin typeface="Yu Gothic" panose="020B0400000000000000" pitchFamily="34" charset="-128"/>
                <a:ea typeface="Yu Gothic" panose="020B0400000000000000" pitchFamily="34" charset="-128"/>
              </a:rPr>
              <a:t>ジーアイクラウド株式会社</a:t>
            </a:r>
            <a:r>
              <a:rPr kumimoji="1" lang="en-US" altLang="ja-JP" sz="1400" dirty="0">
                <a:latin typeface="Yu Gothic" panose="020B0400000000000000" pitchFamily="34" charset="-128"/>
                <a:ea typeface="Yu Gothic" panose="020B0400000000000000" pitchFamily="34" charset="-128"/>
              </a:rPr>
              <a:t>”Cloud Run/App Engine/Cloud Functions</a:t>
            </a:r>
            <a:r>
              <a:rPr kumimoji="1" lang="ja-JP" altLang="en-US" sz="1400">
                <a:latin typeface="Yu Gothic" panose="020B0400000000000000" pitchFamily="34" charset="-128"/>
                <a:ea typeface="Yu Gothic" panose="020B0400000000000000" pitchFamily="34" charset="-128"/>
              </a:rPr>
              <a:t>の使い分け</a:t>
            </a:r>
            <a:r>
              <a:rPr kumimoji="1" lang="en-US" altLang="ja-JP" sz="1400" dirty="0">
                <a:latin typeface="Yu Gothic" panose="020B0400000000000000" pitchFamily="34" charset="-128"/>
                <a:ea typeface="Yu Gothic" panose="020B0400000000000000" pitchFamily="34" charset="-128"/>
              </a:rPr>
              <a:t>” https://</a:t>
            </a:r>
            <a:r>
              <a:rPr kumimoji="1" lang="en-US" altLang="ja-JP" sz="1400" dirty="0" err="1">
                <a:latin typeface="Yu Gothic" panose="020B0400000000000000" pitchFamily="34" charset="-128"/>
                <a:ea typeface="Yu Gothic" panose="020B0400000000000000" pitchFamily="34" charset="-128"/>
              </a:rPr>
              <a:t>dryaki.gicloud.co.jp</a:t>
            </a:r>
            <a:r>
              <a:rPr kumimoji="1" lang="en-US" altLang="ja-JP" sz="1400" dirty="0">
                <a:latin typeface="Yu Gothic" panose="020B0400000000000000" pitchFamily="34" charset="-128"/>
                <a:ea typeface="Yu Gothic" panose="020B0400000000000000" pitchFamily="34" charset="-128"/>
              </a:rPr>
              <a:t>/articles/choice-serverless</a:t>
            </a:r>
          </a:p>
        </p:txBody>
      </p:sp>
      <p:graphicFrame>
        <p:nvGraphicFramePr>
          <p:cNvPr id="15" name="表 14">
            <a:extLst>
              <a:ext uri="{FF2B5EF4-FFF2-40B4-BE49-F238E27FC236}">
                <a16:creationId xmlns:a16="http://schemas.microsoft.com/office/drawing/2014/main" id="{02B8D9E9-A2DD-AD29-9DD5-F79764EA878D}"/>
              </a:ext>
            </a:extLst>
          </p:cNvPr>
          <p:cNvGraphicFramePr>
            <a:graphicFrameLocks noGrp="1"/>
          </p:cNvGraphicFramePr>
          <p:nvPr>
            <p:extLst>
              <p:ext uri="{D42A27DB-BD31-4B8C-83A1-F6EECF244321}">
                <p14:modId xmlns:p14="http://schemas.microsoft.com/office/powerpoint/2010/main" val="2071475690"/>
              </p:ext>
            </p:extLst>
          </p:nvPr>
        </p:nvGraphicFramePr>
        <p:xfrm>
          <a:off x="2496086" y="2887479"/>
          <a:ext cx="14420313" cy="5937614"/>
        </p:xfrm>
        <a:graphic>
          <a:graphicData uri="http://schemas.openxmlformats.org/drawingml/2006/table">
            <a:tbl>
              <a:tblPr firstRow="1" bandRow="1">
                <a:tableStyleId>{74C1A8A3-306A-4EB7-A6B1-4F7E0EB9C5D6}</a:tableStyleId>
              </a:tblPr>
              <a:tblGrid>
                <a:gridCol w="4806771">
                  <a:extLst>
                    <a:ext uri="{9D8B030D-6E8A-4147-A177-3AD203B41FA5}">
                      <a16:colId xmlns:a16="http://schemas.microsoft.com/office/drawing/2014/main" val="577179885"/>
                    </a:ext>
                  </a:extLst>
                </a:gridCol>
                <a:gridCol w="4806771">
                  <a:extLst>
                    <a:ext uri="{9D8B030D-6E8A-4147-A177-3AD203B41FA5}">
                      <a16:colId xmlns:a16="http://schemas.microsoft.com/office/drawing/2014/main" val="1526920075"/>
                    </a:ext>
                  </a:extLst>
                </a:gridCol>
                <a:gridCol w="4806771">
                  <a:extLst>
                    <a:ext uri="{9D8B030D-6E8A-4147-A177-3AD203B41FA5}">
                      <a16:colId xmlns:a16="http://schemas.microsoft.com/office/drawing/2014/main" val="830713356"/>
                    </a:ext>
                  </a:extLst>
                </a:gridCol>
              </a:tblGrid>
              <a:tr h="1083526">
                <a:tc>
                  <a:txBody>
                    <a:bodyPr/>
                    <a:lstStyle/>
                    <a:p>
                      <a:endParaRPr kumimoji="1" lang="ja-JP" altLang="en-US" sz="2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schemeClr>
                    </a:solidFill>
                  </a:tcPr>
                </a:tc>
                <a:tc>
                  <a:txBody>
                    <a:bodyPr/>
                    <a:lstStyle/>
                    <a:p>
                      <a:pPr algn="ctr"/>
                      <a:r>
                        <a:rPr kumimoji="1" lang="en-US" altLang="ja-JP" sz="3600" dirty="0">
                          <a:solidFill>
                            <a:schemeClr val="bg1"/>
                          </a:solidFill>
                        </a:rPr>
                        <a:t>App Engine</a:t>
                      </a:r>
                      <a:endParaRPr kumimoji="1" lang="ja-JP" altLang="en-US" sz="360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schemeClr>
                    </a:solidFill>
                  </a:tcPr>
                </a:tc>
                <a:tc>
                  <a:txBody>
                    <a:bodyPr/>
                    <a:lstStyle/>
                    <a:p>
                      <a:pPr algn="ctr"/>
                      <a:r>
                        <a:rPr kumimoji="1" lang="en-US" altLang="ja-JP" sz="3600" dirty="0">
                          <a:solidFill>
                            <a:schemeClr val="bg1"/>
                          </a:solidFill>
                        </a:rPr>
                        <a:t>Cloud Run</a:t>
                      </a:r>
                      <a:endParaRPr kumimoji="1" lang="ja-JP" altLang="en-US" sz="360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367631776"/>
                  </a:ext>
                </a:extLst>
              </a:tr>
              <a:tr h="1603510">
                <a:tc>
                  <a:txBody>
                    <a:bodyPr/>
                    <a:lstStyle/>
                    <a:p>
                      <a:pPr algn="ctr"/>
                      <a:r>
                        <a:rPr kumimoji="1" lang="ja-JP" altLang="en-US" sz="2800">
                          <a:solidFill>
                            <a:schemeClr val="tx1"/>
                          </a:solidFill>
                        </a:rPr>
                        <a:t>共通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r>
                        <a:rPr kumimoji="1" lang="ja-JP" altLang="en-US" sz="2400">
                          <a:solidFill>
                            <a:schemeClr val="tx1"/>
                          </a:solidFill>
                        </a:rPr>
                        <a:t>サーバーの管理が不要</a:t>
                      </a:r>
                      <a:endParaRPr kumimoji="1" lang="en-US" altLang="ja-JP" sz="2400" dirty="0">
                        <a:solidFill>
                          <a:schemeClr val="tx1"/>
                        </a:solidFill>
                      </a:endParaRPr>
                    </a:p>
                    <a:p>
                      <a:r>
                        <a:rPr kumimoji="1" lang="ja-JP" altLang="en-US" sz="2400">
                          <a:solidFill>
                            <a:schemeClr val="tx1"/>
                          </a:solidFill>
                        </a:rPr>
                        <a:t>従量課金制</a:t>
                      </a:r>
                      <a:endParaRPr kumimoji="1" lang="en-US" altLang="ja-JP" sz="2400" dirty="0">
                        <a:solidFill>
                          <a:schemeClr val="tx1"/>
                        </a:solidFill>
                      </a:endParaRPr>
                    </a:p>
                    <a:p>
                      <a:r>
                        <a:rPr kumimoji="1" lang="ja-JP" altLang="en-US" sz="2400">
                          <a:solidFill>
                            <a:schemeClr val="tx1"/>
                          </a:solidFill>
                        </a:rPr>
                        <a:t>オートスケーリング</a:t>
                      </a:r>
                      <a:r>
                        <a:rPr kumimoji="1" lang="en-US" altLang="ja-JP" sz="1800" dirty="0">
                          <a:solidFill>
                            <a:schemeClr val="tx1"/>
                          </a:solidFill>
                        </a:rPr>
                        <a:t>(=</a:t>
                      </a:r>
                      <a:r>
                        <a:rPr kumimoji="1" lang="ja-JP" altLang="en-US" sz="1800">
                          <a:solidFill>
                            <a:schemeClr val="tx1"/>
                          </a:solidFill>
                        </a:rPr>
                        <a:t>負荷に応じてサーバーの台数やスペックを自動的に調整する</a:t>
                      </a:r>
                      <a:r>
                        <a:rPr kumimoji="1" lang="en-US" altLang="ja-JP" sz="1800" dirty="0">
                          <a:solidFill>
                            <a:schemeClr val="tx1"/>
                          </a:solidFill>
                        </a:rPr>
                        <a:t>)</a:t>
                      </a:r>
                      <a:endParaRPr kumimoji="1" lang="ja-JP" altLang="en-US" sz="2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sz="2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5978745"/>
                  </a:ext>
                </a:extLst>
              </a:tr>
              <a:tr h="1083526">
                <a:tc>
                  <a:txBody>
                    <a:bodyPr/>
                    <a:lstStyle/>
                    <a:p>
                      <a:pPr algn="ctr"/>
                      <a:r>
                        <a:rPr kumimoji="1" lang="ja-JP" altLang="en-US" sz="2800">
                          <a:solidFill>
                            <a:schemeClr val="tx1"/>
                          </a:solidFill>
                        </a:rPr>
                        <a:t>デプロイ</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sz="2400" dirty="0">
                          <a:solidFill>
                            <a:schemeClr val="tx1"/>
                          </a:solidFill>
                        </a:rPr>
                        <a:t>GCP</a:t>
                      </a:r>
                      <a:r>
                        <a:rPr kumimoji="1" lang="en-US" altLang="ja-JP" sz="1800" dirty="0">
                          <a:solidFill>
                            <a:schemeClr val="tx1"/>
                          </a:solidFill>
                        </a:rPr>
                        <a:t>(=Google Cloud Platform)</a:t>
                      </a:r>
                      <a:r>
                        <a:rPr kumimoji="1" lang="ja-JP" altLang="en-US" sz="2400">
                          <a:solidFill>
                            <a:schemeClr val="tx1"/>
                          </a:solidFill>
                        </a:rPr>
                        <a:t>が用意する</a:t>
                      </a:r>
                      <a:endParaRPr kumimoji="1" lang="en-US" altLang="ja-JP" sz="2400" dirty="0">
                        <a:solidFill>
                          <a:schemeClr val="tx1"/>
                        </a:solidFill>
                      </a:endParaRPr>
                    </a:p>
                    <a:p>
                      <a:r>
                        <a:rPr kumimoji="1" lang="ja-JP" altLang="en-US" sz="2400">
                          <a:solidFill>
                            <a:schemeClr val="tx1"/>
                          </a:solidFill>
                        </a:rPr>
                        <a:t>ランタイム環境のみ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400">
                          <a:solidFill>
                            <a:schemeClr val="tx1"/>
                          </a:solidFill>
                        </a:rPr>
                        <a:t>任意のランタイム環境で</a:t>
                      </a:r>
                      <a:endParaRPr kumimoji="1" lang="en-US" altLang="ja-JP" sz="2400" dirty="0">
                        <a:solidFill>
                          <a:schemeClr val="tx1"/>
                        </a:solidFill>
                      </a:endParaRPr>
                    </a:p>
                    <a:p>
                      <a:r>
                        <a:rPr kumimoji="1" lang="ja-JP" altLang="en-US" sz="2400">
                          <a:solidFill>
                            <a:schemeClr val="tx1"/>
                          </a:solidFill>
                        </a:rPr>
                        <a:t>コンテナを作れる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8503829"/>
                  </a:ext>
                </a:extLst>
              </a:tr>
              <a:tr h="1083526">
                <a:tc>
                  <a:txBody>
                    <a:bodyPr/>
                    <a:lstStyle/>
                    <a:p>
                      <a:pPr algn="ctr"/>
                      <a:r>
                        <a:rPr kumimoji="1" lang="ja-JP" altLang="en-US" sz="2800">
                          <a:solidFill>
                            <a:schemeClr val="tx1"/>
                          </a:solidFill>
                        </a:rPr>
                        <a:t>アクセス状態</a:t>
                      </a:r>
                      <a:r>
                        <a:rPr kumimoji="1" lang="en-US" altLang="ja-JP" sz="2000" dirty="0">
                          <a:solidFill>
                            <a:schemeClr val="tx1"/>
                          </a:solidFill>
                        </a:rPr>
                        <a:t>(</a:t>
                      </a:r>
                      <a:r>
                        <a:rPr kumimoji="1" lang="ja-JP" altLang="en-US" sz="2000">
                          <a:solidFill>
                            <a:schemeClr val="tx1"/>
                          </a:solidFill>
                        </a:rPr>
                        <a:t>オススメ</a:t>
                      </a:r>
                      <a:r>
                        <a:rPr kumimoji="1" lang="en-US" altLang="ja-JP" sz="2000" dirty="0">
                          <a:solidFill>
                            <a:schemeClr val="tx1"/>
                          </a:solidFill>
                        </a:rPr>
                        <a:t>)</a:t>
                      </a:r>
                      <a:endParaRPr kumimoji="1" lang="ja-JP" altLang="en-US" sz="28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400">
                          <a:solidFill>
                            <a:schemeClr val="tx1"/>
                          </a:solidFill>
                        </a:rPr>
                        <a:t>常時アクセスがある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400">
                          <a:solidFill>
                            <a:schemeClr val="tx1"/>
                          </a:solidFill>
                        </a:rPr>
                        <a:t>常時はアクセスがない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6086567"/>
                  </a:ext>
                </a:extLst>
              </a:tr>
              <a:tr h="1083526">
                <a:tc>
                  <a:txBody>
                    <a:bodyPr/>
                    <a:lstStyle/>
                    <a:p>
                      <a:pPr algn="ctr"/>
                      <a:r>
                        <a:rPr kumimoji="1" lang="ja-JP" altLang="en-US" sz="2800">
                          <a:solidFill>
                            <a:schemeClr val="tx1"/>
                          </a:solidFill>
                        </a:rPr>
                        <a:t>開発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400">
                          <a:solidFill>
                            <a:schemeClr val="tx1"/>
                          </a:solidFill>
                        </a:rPr>
                        <a:t>アプリ開発に集中できる</a:t>
                      </a:r>
                      <a:endParaRPr kumimoji="1" lang="en-US" altLang="ja-JP" sz="2400" dirty="0">
                        <a:solidFill>
                          <a:schemeClr val="tx1"/>
                        </a:solidFill>
                      </a:endParaRPr>
                    </a:p>
                    <a:p>
                      <a:r>
                        <a:rPr kumimoji="1" lang="en-US" altLang="ja-JP" sz="1800" dirty="0">
                          <a:solidFill>
                            <a:schemeClr val="tx1"/>
                          </a:solidFill>
                        </a:rPr>
                        <a:t>(</a:t>
                      </a:r>
                      <a:r>
                        <a:rPr kumimoji="1" lang="ja-JP" altLang="en-US" sz="1800">
                          <a:solidFill>
                            <a:schemeClr val="tx1"/>
                          </a:solidFill>
                        </a:rPr>
                        <a:t>インフラ管理やスケーリングを</a:t>
                      </a:r>
                      <a:r>
                        <a:rPr kumimoji="1" lang="en-US" altLang="ja-JP" sz="1800" dirty="0">
                          <a:solidFill>
                            <a:schemeClr val="tx1"/>
                          </a:solidFill>
                        </a:rPr>
                        <a:t>GC</a:t>
                      </a:r>
                      <a:r>
                        <a:rPr kumimoji="1" lang="ja-JP" altLang="en-US" sz="1800">
                          <a:solidFill>
                            <a:schemeClr val="tx1"/>
                          </a:solidFill>
                        </a:rPr>
                        <a:t>が行うから</a:t>
                      </a:r>
                      <a:r>
                        <a:rPr kumimoji="1" lang="en-US" altLang="ja-JP" sz="1800" dirty="0">
                          <a:solidFill>
                            <a:schemeClr val="tx1"/>
                          </a:solidFill>
                        </a:rPr>
                        <a:t>)</a:t>
                      </a:r>
                      <a:endParaRPr kumimoji="1" lang="ja-JP" altLang="en-US" sz="18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400">
                          <a:solidFill>
                            <a:schemeClr val="tx1"/>
                          </a:solidFill>
                        </a:rPr>
                        <a:t>コンテナ技術に精通した開発者が</a:t>
                      </a:r>
                      <a:endParaRPr kumimoji="1" lang="en-US" altLang="ja-JP" sz="2400" dirty="0">
                        <a:solidFill>
                          <a:schemeClr val="tx1"/>
                        </a:solidFill>
                      </a:endParaRPr>
                    </a:p>
                    <a:p>
                      <a:r>
                        <a:rPr kumimoji="1" lang="ja-JP" altLang="en-US" sz="2400">
                          <a:solidFill>
                            <a:schemeClr val="tx1"/>
                          </a:solidFill>
                        </a:rPr>
                        <a:t>使い慣れた環境で開発できる</a:t>
                      </a:r>
                      <a:endParaRPr kumimoji="1" lang="en-US" altLang="ja-JP" sz="2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7719017"/>
                  </a:ext>
                </a:extLst>
              </a:tr>
            </a:tbl>
          </a:graphicData>
        </a:graphic>
      </p:graphicFrame>
      <p:sp>
        <p:nvSpPr>
          <p:cNvPr id="10" name="正方形/長方形 9">
            <a:extLst>
              <a:ext uri="{FF2B5EF4-FFF2-40B4-BE49-F238E27FC236}">
                <a16:creationId xmlns:a16="http://schemas.microsoft.com/office/drawing/2014/main" id="{43BF1531-FFC0-FA30-0AF2-D56194EA8F82}"/>
              </a:ext>
            </a:extLst>
          </p:cNvPr>
          <p:cNvSpPr/>
          <p:nvPr/>
        </p:nvSpPr>
        <p:spPr>
          <a:xfrm>
            <a:off x="7315200" y="2887480"/>
            <a:ext cx="4800600" cy="5937614"/>
          </a:xfrm>
          <a:prstGeom prst="rect">
            <a:avLst/>
          </a:prstGeom>
          <a:noFill/>
          <a:ln w="1047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DF49F632-2DBF-A697-0F4E-ADBD71FB46FA}"/>
              </a:ext>
            </a:extLst>
          </p:cNvPr>
          <p:cNvSpPr txBox="1"/>
          <p:nvPr/>
        </p:nvSpPr>
        <p:spPr>
          <a:xfrm>
            <a:off x="8382803" y="2424961"/>
            <a:ext cx="2646878" cy="461665"/>
          </a:xfrm>
          <a:prstGeom prst="rect">
            <a:avLst/>
          </a:prstGeom>
          <a:noFill/>
        </p:spPr>
        <p:txBody>
          <a:bodyPr wrap="none" rtlCol="0">
            <a:spAutoFit/>
          </a:bodyPr>
          <a:lstStyle/>
          <a:p>
            <a:r>
              <a:rPr kumimoji="1" lang="ja-JP" altLang="en-US" sz="2400" b="1">
                <a:solidFill>
                  <a:srgbClr val="C00000"/>
                </a:solidFill>
                <a:latin typeface="Yu Gothic" panose="020B0400000000000000" pitchFamily="34" charset="-128"/>
                <a:ea typeface="Yu Gothic" panose="020B0400000000000000" pitchFamily="34" charset="-128"/>
              </a:rPr>
              <a:t>今回使うサービス</a:t>
            </a:r>
          </a:p>
        </p:txBody>
      </p:sp>
    </p:spTree>
    <p:extLst>
      <p:ext uri="{BB962C8B-B14F-4D97-AF65-F5344CB8AC3E}">
        <p14:creationId xmlns:p14="http://schemas.microsoft.com/office/powerpoint/2010/main" val="1159682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CD289-BCBB-C4DB-9CEB-5B4E24ACFF0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482D5FC-412B-1FE9-A7E7-4A538B2ED238}"/>
              </a:ext>
            </a:extLst>
          </p:cNvPr>
          <p:cNvSpPr/>
          <p:nvPr/>
        </p:nvSpPr>
        <p:spPr>
          <a:xfrm>
            <a:off x="857250" y="2361305"/>
            <a:ext cx="16573500"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3" name="AutoShape 3">
            <a:extLst>
              <a:ext uri="{FF2B5EF4-FFF2-40B4-BE49-F238E27FC236}">
                <a16:creationId xmlns:a16="http://schemas.microsoft.com/office/drawing/2014/main" id="{F55D0C38-D67D-464B-5B04-B203870317B8}"/>
              </a:ext>
            </a:extLst>
          </p:cNvPr>
          <p:cNvSpPr/>
          <p:nvPr/>
        </p:nvSpPr>
        <p:spPr>
          <a:xfrm>
            <a:off x="857250" y="1047750"/>
            <a:ext cx="16573459"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4" name="AutoShape 4">
            <a:extLst>
              <a:ext uri="{FF2B5EF4-FFF2-40B4-BE49-F238E27FC236}">
                <a16:creationId xmlns:a16="http://schemas.microsoft.com/office/drawing/2014/main" id="{85B94400-40C7-8758-7667-442168C9E956}"/>
              </a:ext>
            </a:extLst>
          </p:cNvPr>
          <p:cNvSpPr/>
          <p:nvPr/>
        </p:nvSpPr>
        <p:spPr>
          <a:xfrm flipV="1">
            <a:off x="856856" y="904405"/>
            <a:ext cx="16574288"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5" name="AutoShape 5">
            <a:extLst>
              <a:ext uri="{FF2B5EF4-FFF2-40B4-BE49-F238E27FC236}">
                <a16:creationId xmlns:a16="http://schemas.microsoft.com/office/drawing/2014/main" id="{7463F8AA-E1B9-A474-60F9-EE94E22874BC}"/>
              </a:ext>
            </a:extLst>
          </p:cNvPr>
          <p:cNvSpPr/>
          <p:nvPr/>
        </p:nvSpPr>
        <p:spPr>
          <a:xfrm>
            <a:off x="857250" y="9382595"/>
            <a:ext cx="16573500"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6" name="AutoShape 6">
            <a:extLst>
              <a:ext uri="{FF2B5EF4-FFF2-40B4-BE49-F238E27FC236}">
                <a16:creationId xmlns:a16="http://schemas.microsoft.com/office/drawing/2014/main" id="{2B852E71-0889-C3EA-0041-D77A978AEEEA}"/>
              </a:ext>
            </a:extLst>
          </p:cNvPr>
          <p:cNvSpPr/>
          <p:nvPr/>
        </p:nvSpPr>
        <p:spPr>
          <a:xfrm>
            <a:off x="857250" y="9239250"/>
            <a:ext cx="16573500"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grpSp>
        <p:nvGrpSpPr>
          <p:cNvPr id="7" name="Group 7">
            <a:extLst>
              <a:ext uri="{FF2B5EF4-FFF2-40B4-BE49-F238E27FC236}">
                <a16:creationId xmlns:a16="http://schemas.microsoft.com/office/drawing/2014/main" id="{1D9B9EF8-EFB6-616C-EFFE-385F7DF281EB}"/>
              </a:ext>
            </a:extLst>
          </p:cNvPr>
          <p:cNvGrpSpPr/>
          <p:nvPr/>
        </p:nvGrpSpPr>
        <p:grpSpPr>
          <a:xfrm>
            <a:off x="1282599" y="650625"/>
            <a:ext cx="1213487" cy="1720205"/>
            <a:chOff x="0" y="0"/>
            <a:chExt cx="319601" cy="453058"/>
          </a:xfrm>
        </p:grpSpPr>
        <p:sp>
          <p:nvSpPr>
            <p:cNvPr id="8" name="Freeform 8">
              <a:extLst>
                <a:ext uri="{FF2B5EF4-FFF2-40B4-BE49-F238E27FC236}">
                  <a16:creationId xmlns:a16="http://schemas.microsoft.com/office/drawing/2014/main" id="{73D4F758-DBB8-BBBC-3A2C-4266356A68FB}"/>
                </a:ext>
              </a:extLst>
            </p:cNvPr>
            <p:cNvSpPr/>
            <p:nvPr/>
          </p:nvSpPr>
          <p:spPr>
            <a:xfrm>
              <a:off x="0" y="0"/>
              <a:ext cx="319601" cy="453058"/>
            </a:xfrm>
            <a:custGeom>
              <a:avLst/>
              <a:gdLst/>
              <a:ahLst/>
              <a:cxnLst/>
              <a:rect l="l" t="t" r="r" b="b"/>
              <a:pathLst>
                <a:path w="319601" h="453058">
                  <a:moveTo>
                    <a:pt x="0" y="0"/>
                  </a:moveTo>
                  <a:lnTo>
                    <a:pt x="319601" y="0"/>
                  </a:lnTo>
                  <a:lnTo>
                    <a:pt x="319601" y="453058"/>
                  </a:lnTo>
                  <a:lnTo>
                    <a:pt x="0" y="453058"/>
                  </a:lnTo>
                  <a:close/>
                </a:path>
              </a:pathLst>
            </a:custGeom>
            <a:solidFill>
              <a:srgbClr val="1B1B1B"/>
            </a:solidFill>
          </p:spPr>
          <p:txBody>
            <a:bodyPr/>
            <a:lstStyle/>
            <a:p>
              <a:endParaRPr lang="ja-JP" altLang="en-US">
                <a:latin typeface="Yu Gothic" panose="020B0400000000000000" pitchFamily="34" charset="-128"/>
                <a:ea typeface="Yu Gothic" panose="020B0400000000000000" pitchFamily="34" charset="-128"/>
              </a:endParaRPr>
            </a:p>
          </p:txBody>
        </p:sp>
        <p:sp>
          <p:nvSpPr>
            <p:cNvPr id="9" name="TextBox 9">
              <a:extLst>
                <a:ext uri="{FF2B5EF4-FFF2-40B4-BE49-F238E27FC236}">
                  <a16:creationId xmlns:a16="http://schemas.microsoft.com/office/drawing/2014/main" id="{1899D147-1913-5944-7EC8-6C713BDF257F}"/>
                </a:ext>
              </a:extLst>
            </p:cNvPr>
            <p:cNvSpPr txBox="1"/>
            <p:nvPr/>
          </p:nvSpPr>
          <p:spPr>
            <a:xfrm>
              <a:off x="0" y="-47625"/>
              <a:ext cx="319601" cy="500683"/>
            </a:xfrm>
            <a:prstGeom prst="rect">
              <a:avLst/>
            </a:prstGeom>
          </p:spPr>
          <p:txBody>
            <a:bodyPr lIns="50800" tIns="50800" rIns="50800" bIns="50800" rtlCol="0" anchor="ctr"/>
            <a:lstStyle/>
            <a:p>
              <a:pPr algn="ctr">
                <a:lnSpc>
                  <a:spcPts val="3359"/>
                </a:lnSpc>
              </a:pPr>
              <a:endParaRPr>
                <a:latin typeface="Yu Gothic" panose="020B0400000000000000" pitchFamily="34" charset="-128"/>
                <a:ea typeface="Yu Gothic" panose="020B0400000000000000" pitchFamily="34" charset="-128"/>
              </a:endParaRPr>
            </a:p>
          </p:txBody>
        </p:sp>
      </p:grpSp>
      <p:sp>
        <p:nvSpPr>
          <p:cNvPr id="12" name="TextBox 12">
            <a:extLst>
              <a:ext uri="{FF2B5EF4-FFF2-40B4-BE49-F238E27FC236}">
                <a16:creationId xmlns:a16="http://schemas.microsoft.com/office/drawing/2014/main" id="{F6EF3D8F-4B92-FB41-05F7-AFD376295F71}"/>
              </a:ext>
            </a:extLst>
          </p:cNvPr>
          <p:cNvSpPr txBox="1"/>
          <p:nvPr/>
        </p:nvSpPr>
        <p:spPr>
          <a:xfrm>
            <a:off x="2949343" y="1458741"/>
            <a:ext cx="14309957" cy="538609"/>
          </a:xfrm>
          <a:prstGeom prst="rect">
            <a:avLst/>
          </a:prstGeom>
        </p:spPr>
        <p:txBody>
          <a:bodyPr lIns="0" tIns="0" rIns="0" bIns="0" rtlCol="0" anchor="ctr">
            <a:spAutoFit/>
          </a:bodyPr>
          <a:lstStyle/>
          <a:p>
            <a:r>
              <a:rPr lang="en-US" altLang="ja-JP" sz="3500" b="1" spc="175" dirty="0" err="1">
                <a:solidFill>
                  <a:srgbClr val="1B1B1B"/>
                </a:solidFill>
                <a:latin typeface="Yu Gothic" panose="020B0400000000000000" pitchFamily="34" charset="-128"/>
                <a:ea typeface="Yu Gothic" panose="020B0400000000000000" pitchFamily="34" charset="-128"/>
                <a:cs typeface="Noto Sans JP Heavy"/>
                <a:sym typeface="Noto Sans JP Heavy"/>
              </a:rPr>
              <a:t>アーキテクチャ図</a:t>
            </a:r>
            <a:endParaRPr lang="en-US" altLang="ja-JP" sz="3500" b="1" spc="175" dirty="0">
              <a:solidFill>
                <a:srgbClr val="1B1B1B"/>
              </a:solidFill>
              <a:latin typeface="Yu Gothic" panose="020B0400000000000000" pitchFamily="34" charset="-128"/>
              <a:ea typeface="Yu Gothic" panose="020B0400000000000000" pitchFamily="34" charset="-128"/>
              <a:cs typeface="Noto Sans JP Heavy"/>
              <a:sym typeface="Noto Sans JP Heavy"/>
            </a:endParaRPr>
          </a:p>
        </p:txBody>
      </p:sp>
      <p:sp>
        <p:nvSpPr>
          <p:cNvPr id="13" name="TextBox 13">
            <a:extLst>
              <a:ext uri="{FF2B5EF4-FFF2-40B4-BE49-F238E27FC236}">
                <a16:creationId xmlns:a16="http://schemas.microsoft.com/office/drawing/2014/main" id="{D86284FA-C013-9184-0936-EF5C4CED8F39}"/>
              </a:ext>
            </a:extLst>
          </p:cNvPr>
          <p:cNvSpPr txBox="1"/>
          <p:nvPr/>
        </p:nvSpPr>
        <p:spPr>
          <a:xfrm>
            <a:off x="1461953" y="1228278"/>
            <a:ext cx="854779" cy="733425"/>
          </a:xfrm>
          <a:prstGeom prst="rect">
            <a:avLst/>
          </a:prstGeom>
        </p:spPr>
        <p:txBody>
          <a:bodyPr lIns="0" tIns="0" rIns="0" bIns="0" rtlCol="0" anchor="t">
            <a:spAutoFit/>
          </a:bodyPr>
          <a:lstStyle/>
          <a:p>
            <a:pPr marL="0" lvl="0" indent="0" algn="ctr">
              <a:lnSpc>
                <a:spcPts val="6300"/>
              </a:lnSpc>
              <a:spcBef>
                <a:spcPct val="0"/>
              </a:spcBef>
            </a:pPr>
            <a:r>
              <a:rPr lang="en-US" sz="3500" b="1" u="none" strike="noStrike" dirty="0">
                <a:solidFill>
                  <a:srgbClr val="FAFAFA"/>
                </a:solidFill>
                <a:latin typeface="Yu Gothic" panose="020B0400000000000000" pitchFamily="34" charset="-128"/>
                <a:ea typeface="Yu Gothic" panose="020B0400000000000000" pitchFamily="34" charset="-128"/>
                <a:cs typeface="Open Sans Bold"/>
                <a:sym typeface="Open Sans Bold"/>
              </a:rPr>
              <a:t>04</a:t>
            </a:r>
          </a:p>
        </p:txBody>
      </p:sp>
      <p:sp>
        <p:nvSpPr>
          <p:cNvPr id="22" name="スライド番号プレースホルダー 21">
            <a:extLst>
              <a:ext uri="{FF2B5EF4-FFF2-40B4-BE49-F238E27FC236}">
                <a16:creationId xmlns:a16="http://schemas.microsoft.com/office/drawing/2014/main" id="{BC1F3C28-64AB-D0CA-634B-39720205A8BD}"/>
              </a:ext>
            </a:extLst>
          </p:cNvPr>
          <p:cNvSpPr>
            <a:spLocks noGrp="1"/>
          </p:cNvSpPr>
          <p:nvPr>
            <p:ph type="sldNum" sz="quarter" idx="12"/>
          </p:nvPr>
        </p:nvSpPr>
        <p:spPr/>
        <p:txBody>
          <a:bodyPr/>
          <a:lstStyle/>
          <a:p>
            <a:fld id="{B6F15528-21DE-4FAA-801E-634DDDAF4B2B}" type="slidenum">
              <a:rPr lang="en-US" smtClean="0">
                <a:latin typeface="Yu Gothic" panose="020B0400000000000000" pitchFamily="34" charset="-128"/>
                <a:ea typeface="Yu Gothic" panose="020B0400000000000000" pitchFamily="34" charset="-128"/>
              </a:rPr>
              <a:pPr/>
              <a:t>9</a:t>
            </a:fld>
            <a:endParaRPr lang="en-US" dirty="0">
              <a:latin typeface="Yu Gothic" panose="020B0400000000000000" pitchFamily="34" charset="-128"/>
              <a:ea typeface="Yu Gothic" panose="020B0400000000000000" pitchFamily="34" charset="-128"/>
            </a:endParaRPr>
          </a:p>
        </p:txBody>
      </p:sp>
      <p:sp>
        <p:nvSpPr>
          <p:cNvPr id="16" name="テキスト ボックス 15">
            <a:extLst>
              <a:ext uri="{FF2B5EF4-FFF2-40B4-BE49-F238E27FC236}">
                <a16:creationId xmlns:a16="http://schemas.microsoft.com/office/drawing/2014/main" id="{EEBDA681-790D-1CA2-F844-9C9962F5CB93}"/>
              </a:ext>
            </a:extLst>
          </p:cNvPr>
          <p:cNvSpPr txBox="1"/>
          <p:nvPr/>
        </p:nvSpPr>
        <p:spPr>
          <a:xfrm>
            <a:off x="856856" y="9405306"/>
            <a:ext cx="12388328" cy="523220"/>
          </a:xfrm>
          <a:prstGeom prst="rect">
            <a:avLst/>
          </a:prstGeom>
          <a:noFill/>
        </p:spPr>
        <p:txBody>
          <a:bodyPr wrap="none" rtlCol="0">
            <a:spAutoFit/>
          </a:bodyPr>
          <a:lstStyle/>
          <a:p>
            <a:r>
              <a:rPr kumimoji="1" lang="ja-JP" altLang="en-US" sz="1400">
                <a:latin typeface="Yu Gothic" panose="020B0400000000000000" pitchFamily="34" charset="-128"/>
                <a:ea typeface="Yu Gothic" panose="020B0400000000000000" pitchFamily="34" charset="-128"/>
              </a:rPr>
              <a:t>［参考］</a:t>
            </a:r>
            <a:r>
              <a:rPr kumimoji="1" lang="en-US" altLang="ja-JP" sz="1400" dirty="0">
                <a:latin typeface="Yu Gothic" panose="020B0400000000000000" pitchFamily="34" charset="-128"/>
                <a:ea typeface="Yu Gothic" panose="020B0400000000000000" pitchFamily="34" charset="-128"/>
              </a:rPr>
              <a:t>	</a:t>
            </a:r>
            <a:r>
              <a:rPr kumimoji="1" lang="en-US" altLang="ja-JP" sz="1400" dirty="0" err="1">
                <a:latin typeface="Yu Gothic" panose="020B0400000000000000" pitchFamily="34" charset="-128"/>
                <a:ea typeface="Yu Gothic" panose="020B0400000000000000" pitchFamily="34" charset="-128"/>
              </a:rPr>
              <a:t>Lucidchat</a:t>
            </a:r>
            <a:r>
              <a:rPr kumimoji="1" lang="en-US" altLang="ja-JP" sz="1400" dirty="0">
                <a:latin typeface="Yu Gothic" panose="020B0400000000000000" pitchFamily="34" charset="-128"/>
                <a:ea typeface="Yu Gothic" panose="020B0400000000000000" pitchFamily="34" charset="-128"/>
              </a:rPr>
              <a:t>”</a:t>
            </a:r>
            <a:r>
              <a:rPr kumimoji="1" lang="ja-JP" altLang="en-US" sz="1400">
                <a:latin typeface="Yu Gothic" panose="020B0400000000000000" pitchFamily="34" charset="-128"/>
                <a:ea typeface="Yu Gothic" panose="020B0400000000000000" pitchFamily="34" charset="-128"/>
              </a:rPr>
              <a:t>アーキテクチャ図作成方法とツール，書き方の紹介</a:t>
            </a:r>
            <a:r>
              <a:rPr kumimoji="1" lang="en-US" altLang="ja-JP" sz="1400" dirty="0">
                <a:latin typeface="Yu Gothic" panose="020B0400000000000000" pitchFamily="34" charset="-128"/>
                <a:ea typeface="Yu Gothic" panose="020B0400000000000000" pitchFamily="34" charset="-128"/>
              </a:rPr>
              <a:t>” https://</a:t>
            </a:r>
            <a:r>
              <a:rPr kumimoji="1" lang="en-US" altLang="ja-JP" sz="1400" dirty="0" err="1">
                <a:latin typeface="Yu Gothic" panose="020B0400000000000000" pitchFamily="34" charset="-128"/>
                <a:ea typeface="Yu Gothic" panose="020B0400000000000000" pitchFamily="34" charset="-128"/>
              </a:rPr>
              <a:t>www.lucidchart.com</a:t>
            </a:r>
            <a:r>
              <a:rPr kumimoji="1" lang="en-US" altLang="ja-JP" sz="1400" dirty="0">
                <a:latin typeface="Yu Gothic" panose="020B0400000000000000" pitchFamily="34" charset="-128"/>
                <a:ea typeface="Yu Gothic" panose="020B0400000000000000" pitchFamily="34" charset="-128"/>
              </a:rPr>
              <a:t>/blog/ja/how-to-draw-architectural-diagrams</a:t>
            </a:r>
          </a:p>
          <a:p>
            <a:r>
              <a:rPr kumimoji="1" lang="en-US" altLang="ja-JP" sz="1400" dirty="0">
                <a:latin typeface="Yu Gothic" panose="020B0400000000000000" pitchFamily="34" charset="-128"/>
                <a:ea typeface="Yu Gothic" panose="020B0400000000000000" pitchFamily="34" charset="-128"/>
              </a:rPr>
              <a:t>	Django </a:t>
            </a:r>
            <a:r>
              <a:rPr kumimoji="1" lang="en-US" altLang="ja-JP" sz="1400" dirty="0" err="1">
                <a:latin typeface="Yu Gothic" panose="020B0400000000000000" pitchFamily="34" charset="-128"/>
                <a:ea typeface="Yu Gothic" panose="020B0400000000000000" pitchFamily="34" charset="-128"/>
              </a:rPr>
              <a:t>docymentation”Django</a:t>
            </a:r>
            <a:r>
              <a:rPr kumimoji="1" lang="en-US" altLang="ja-JP" sz="1400" dirty="0">
                <a:latin typeface="Yu Gothic" panose="020B0400000000000000" pitchFamily="34" charset="-128"/>
                <a:ea typeface="Yu Gothic" panose="020B0400000000000000" pitchFamily="34" charset="-128"/>
              </a:rPr>
              <a:t> </a:t>
            </a:r>
            <a:r>
              <a:rPr kumimoji="1" lang="ja-JP" altLang="en-US" sz="1400">
                <a:latin typeface="Yu Gothic" panose="020B0400000000000000" pitchFamily="34" charset="-128"/>
                <a:ea typeface="Yu Gothic" panose="020B0400000000000000" pitchFamily="34" charset="-128"/>
              </a:rPr>
              <a:t>ドキュメント</a:t>
            </a:r>
            <a:r>
              <a:rPr kumimoji="1" lang="en-US" altLang="ja-JP" sz="1400" dirty="0">
                <a:latin typeface="Yu Gothic" panose="020B0400000000000000" pitchFamily="34" charset="-128"/>
                <a:ea typeface="Yu Gothic" panose="020B0400000000000000" pitchFamily="34" charset="-128"/>
              </a:rPr>
              <a:t>” https://</a:t>
            </a:r>
            <a:r>
              <a:rPr kumimoji="1" lang="en-US" altLang="ja-JP" sz="1400" dirty="0" err="1">
                <a:latin typeface="Yu Gothic" panose="020B0400000000000000" pitchFamily="34" charset="-128"/>
                <a:ea typeface="Yu Gothic" panose="020B0400000000000000" pitchFamily="34" charset="-128"/>
              </a:rPr>
              <a:t>docs.djangoproject.com</a:t>
            </a:r>
            <a:r>
              <a:rPr kumimoji="1" lang="en-US" altLang="ja-JP" sz="1400" dirty="0">
                <a:latin typeface="Yu Gothic" panose="020B0400000000000000" pitchFamily="34" charset="-128"/>
                <a:ea typeface="Yu Gothic" panose="020B0400000000000000" pitchFamily="34" charset="-128"/>
              </a:rPr>
              <a:t>/ja/5.1/</a:t>
            </a:r>
          </a:p>
        </p:txBody>
      </p:sp>
      <p:grpSp>
        <p:nvGrpSpPr>
          <p:cNvPr id="34" name="グループ化 33">
            <a:extLst>
              <a:ext uri="{FF2B5EF4-FFF2-40B4-BE49-F238E27FC236}">
                <a16:creationId xmlns:a16="http://schemas.microsoft.com/office/drawing/2014/main" id="{C209D481-F1EF-311D-61DE-715628AD0234}"/>
              </a:ext>
            </a:extLst>
          </p:cNvPr>
          <p:cNvGrpSpPr/>
          <p:nvPr/>
        </p:nvGrpSpPr>
        <p:grpSpPr>
          <a:xfrm>
            <a:off x="8529237" y="4129613"/>
            <a:ext cx="1755598" cy="1794398"/>
            <a:chOff x="3657600" y="4184995"/>
            <a:chExt cx="1755598" cy="1794398"/>
          </a:xfrm>
        </p:grpSpPr>
        <p:sp>
          <p:nvSpPr>
            <p:cNvPr id="14" name="テキスト ボックス 13">
              <a:extLst>
                <a:ext uri="{FF2B5EF4-FFF2-40B4-BE49-F238E27FC236}">
                  <a16:creationId xmlns:a16="http://schemas.microsoft.com/office/drawing/2014/main" id="{CF29F57C-FDF9-DE7A-15D7-6B4B143204B8}"/>
                </a:ext>
              </a:extLst>
            </p:cNvPr>
            <p:cNvSpPr txBox="1"/>
            <p:nvPr/>
          </p:nvSpPr>
          <p:spPr>
            <a:xfrm>
              <a:off x="3686443" y="5579283"/>
              <a:ext cx="1726755" cy="400110"/>
            </a:xfrm>
            <a:prstGeom prst="rect">
              <a:avLst/>
            </a:prstGeom>
            <a:noFill/>
          </p:spPr>
          <p:txBody>
            <a:bodyPr wrap="square" rtlCol="0">
              <a:spAutoFit/>
            </a:bodyPr>
            <a:lstStyle/>
            <a:p>
              <a:pPr algn="ctr"/>
              <a:r>
                <a:rPr kumimoji="1" lang="ja-JP" altLang="en-US" sz="2000" b="1">
                  <a:solidFill>
                    <a:schemeClr val="accent5">
                      <a:lumMod val="50000"/>
                    </a:schemeClr>
                  </a:solidFill>
                </a:rPr>
                <a:t>音声データ</a:t>
              </a:r>
              <a:endParaRPr kumimoji="1" lang="en-US" altLang="ja-JP" sz="2000" b="1" dirty="0">
                <a:solidFill>
                  <a:schemeClr val="accent5">
                    <a:lumMod val="50000"/>
                  </a:schemeClr>
                </a:solidFill>
              </a:endParaRPr>
            </a:p>
          </p:txBody>
        </p:sp>
        <p:pic>
          <p:nvPicPr>
            <p:cNvPr id="31" name="グラフィックス 30" descr="チャット 枠線">
              <a:extLst>
                <a:ext uri="{FF2B5EF4-FFF2-40B4-BE49-F238E27FC236}">
                  <a16:creationId xmlns:a16="http://schemas.microsoft.com/office/drawing/2014/main" id="{3B5EFA46-B283-BBCC-0443-58ED5977DF1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57600" y="4184995"/>
              <a:ext cx="1726754" cy="1726754"/>
            </a:xfrm>
            <a:prstGeom prst="rect">
              <a:avLst/>
            </a:prstGeom>
          </p:spPr>
        </p:pic>
        <p:pic>
          <p:nvPicPr>
            <p:cNvPr id="33" name="グラフィックス 32" descr="音声 単色塗りつぶし">
              <a:extLst>
                <a:ext uri="{FF2B5EF4-FFF2-40B4-BE49-F238E27FC236}">
                  <a16:creationId xmlns:a16="http://schemas.microsoft.com/office/drawing/2014/main" id="{8F365CEE-5120-126C-8A78-2A9D45097A7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32401" y="4715995"/>
              <a:ext cx="698642" cy="698642"/>
            </a:xfrm>
            <a:prstGeom prst="rect">
              <a:avLst/>
            </a:prstGeom>
          </p:spPr>
        </p:pic>
      </p:grpSp>
      <p:sp>
        <p:nvSpPr>
          <p:cNvPr id="41" name="テキスト ボックス 40">
            <a:extLst>
              <a:ext uri="{FF2B5EF4-FFF2-40B4-BE49-F238E27FC236}">
                <a16:creationId xmlns:a16="http://schemas.microsoft.com/office/drawing/2014/main" id="{3628FF4F-931F-4F3A-2AD3-50F55DFEF709}"/>
              </a:ext>
            </a:extLst>
          </p:cNvPr>
          <p:cNvSpPr txBox="1"/>
          <p:nvPr/>
        </p:nvSpPr>
        <p:spPr>
          <a:xfrm>
            <a:off x="9143979" y="-914532"/>
            <a:ext cx="1726755" cy="369332"/>
          </a:xfrm>
          <a:prstGeom prst="rect">
            <a:avLst/>
          </a:prstGeom>
          <a:noFill/>
        </p:spPr>
        <p:txBody>
          <a:bodyPr wrap="square" rtlCol="0">
            <a:spAutoFit/>
          </a:bodyPr>
          <a:lstStyle/>
          <a:p>
            <a:r>
              <a:rPr kumimoji="1" lang="ja-JP" altLang="en-US"/>
              <a:t>ああああ</a:t>
            </a:r>
            <a:endParaRPr kumimoji="1" lang="en-US" altLang="ja-JP" dirty="0"/>
          </a:p>
        </p:txBody>
      </p:sp>
      <p:grpSp>
        <p:nvGrpSpPr>
          <p:cNvPr id="43" name="グループ化 42">
            <a:extLst>
              <a:ext uri="{FF2B5EF4-FFF2-40B4-BE49-F238E27FC236}">
                <a16:creationId xmlns:a16="http://schemas.microsoft.com/office/drawing/2014/main" id="{52526EC2-3BAC-2E0E-2999-ADEF28DC3D12}"/>
              </a:ext>
            </a:extLst>
          </p:cNvPr>
          <p:cNvGrpSpPr/>
          <p:nvPr/>
        </p:nvGrpSpPr>
        <p:grpSpPr>
          <a:xfrm>
            <a:off x="2152117" y="4101305"/>
            <a:ext cx="1726755" cy="1851015"/>
            <a:chOff x="8801100" y="3873946"/>
            <a:chExt cx="1726755" cy="1851015"/>
          </a:xfrm>
        </p:grpSpPr>
        <p:pic>
          <p:nvPicPr>
            <p:cNvPr id="36" name="グラフィックス 35" descr="ユーザー 枠線">
              <a:extLst>
                <a:ext uri="{FF2B5EF4-FFF2-40B4-BE49-F238E27FC236}">
                  <a16:creationId xmlns:a16="http://schemas.microsoft.com/office/drawing/2014/main" id="{7ADBA8C4-5A19-64C1-EB5A-4CEB82A597D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801100" y="3873946"/>
              <a:ext cx="1726754" cy="1726754"/>
            </a:xfrm>
            <a:prstGeom prst="rect">
              <a:avLst/>
            </a:prstGeom>
          </p:spPr>
        </p:pic>
        <p:sp>
          <p:nvSpPr>
            <p:cNvPr id="42" name="テキスト ボックス 41">
              <a:extLst>
                <a:ext uri="{FF2B5EF4-FFF2-40B4-BE49-F238E27FC236}">
                  <a16:creationId xmlns:a16="http://schemas.microsoft.com/office/drawing/2014/main" id="{FEA74AD5-E003-C79C-58C7-AE47BE0C295B}"/>
                </a:ext>
              </a:extLst>
            </p:cNvPr>
            <p:cNvSpPr txBox="1"/>
            <p:nvPr/>
          </p:nvSpPr>
          <p:spPr>
            <a:xfrm>
              <a:off x="8801100" y="5324851"/>
              <a:ext cx="1726755" cy="400110"/>
            </a:xfrm>
            <a:prstGeom prst="rect">
              <a:avLst/>
            </a:prstGeom>
            <a:noFill/>
          </p:spPr>
          <p:txBody>
            <a:bodyPr wrap="square" rtlCol="0">
              <a:spAutoFit/>
            </a:bodyPr>
            <a:lstStyle/>
            <a:p>
              <a:r>
                <a:rPr kumimoji="1" lang="ja-JP" altLang="en-US" sz="2000" b="1">
                  <a:solidFill>
                    <a:schemeClr val="accent5">
                      <a:lumMod val="50000"/>
                    </a:schemeClr>
                  </a:solidFill>
                </a:rPr>
                <a:t>ユーザー情報</a:t>
              </a:r>
              <a:endParaRPr kumimoji="1" lang="en-US" altLang="ja-JP" sz="2000" b="1" dirty="0">
                <a:solidFill>
                  <a:schemeClr val="accent5">
                    <a:lumMod val="50000"/>
                  </a:schemeClr>
                </a:solidFill>
              </a:endParaRPr>
            </a:p>
          </p:txBody>
        </p:sp>
      </p:grpSp>
      <p:grpSp>
        <p:nvGrpSpPr>
          <p:cNvPr id="50" name="グループ化 49">
            <a:extLst>
              <a:ext uri="{FF2B5EF4-FFF2-40B4-BE49-F238E27FC236}">
                <a16:creationId xmlns:a16="http://schemas.microsoft.com/office/drawing/2014/main" id="{F40E57DB-2140-73F2-72F2-5E018BBF724E}"/>
              </a:ext>
            </a:extLst>
          </p:cNvPr>
          <p:cNvGrpSpPr/>
          <p:nvPr/>
        </p:nvGrpSpPr>
        <p:grpSpPr>
          <a:xfrm>
            <a:off x="11746640" y="4218508"/>
            <a:ext cx="1969360" cy="1616609"/>
            <a:chOff x="5603609" y="4274764"/>
            <a:chExt cx="1969360" cy="1616609"/>
          </a:xfrm>
        </p:grpSpPr>
        <p:sp>
          <p:nvSpPr>
            <p:cNvPr id="46" name="テキスト ボックス 45">
              <a:extLst>
                <a:ext uri="{FF2B5EF4-FFF2-40B4-BE49-F238E27FC236}">
                  <a16:creationId xmlns:a16="http://schemas.microsoft.com/office/drawing/2014/main" id="{B1D689E8-3459-D769-2CCA-69EA94BDC5F4}"/>
                </a:ext>
              </a:extLst>
            </p:cNvPr>
            <p:cNvSpPr txBox="1"/>
            <p:nvPr/>
          </p:nvSpPr>
          <p:spPr>
            <a:xfrm>
              <a:off x="5603609" y="5491263"/>
              <a:ext cx="1969360" cy="400110"/>
            </a:xfrm>
            <a:prstGeom prst="rect">
              <a:avLst/>
            </a:prstGeom>
            <a:noFill/>
          </p:spPr>
          <p:txBody>
            <a:bodyPr wrap="square" rtlCol="0">
              <a:spAutoFit/>
            </a:bodyPr>
            <a:lstStyle/>
            <a:p>
              <a:r>
                <a:rPr kumimoji="1" lang="ja-JP" altLang="en-US" sz="2000" b="1">
                  <a:solidFill>
                    <a:schemeClr val="accent5">
                      <a:lumMod val="50000"/>
                    </a:schemeClr>
                  </a:solidFill>
                </a:rPr>
                <a:t>テキストデータ</a:t>
              </a:r>
              <a:endParaRPr kumimoji="1" lang="en-US" altLang="ja-JP" sz="2000" b="1" dirty="0">
                <a:solidFill>
                  <a:schemeClr val="accent5">
                    <a:lumMod val="50000"/>
                  </a:schemeClr>
                </a:solidFill>
              </a:endParaRPr>
            </a:p>
          </p:txBody>
        </p:sp>
        <p:pic>
          <p:nvPicPr>
            <p:cNvPr id="49" name="グラフィックス 48" descr="開いたフォルダー 枠線">
              <a:extLst>
                <a:ext uri="{FF2B5EF4-FFF2-40B4-BE49-F238E27FC236}">
                  <a16:creationId xmlns:a16="http://schemas.microsoft.com/office/drawing/2014/main" id="{33B3E134-B401-4D9F-8AE1-2176FEFE771B}"/>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5838016" y="4274764"/>
              <a:ext cx="1257942" cy="1257942"/>
            </a:xfrm>
            <a:prstGeom prst="rect">
              <a:avLst/>
            </a:prstGeom>
          </p:spPr>
        </p:pic>
      </p:grpSp>
      <p:grpSp>
        <p:nvGrpSpPr>
          <p:cNvPr id="56" name="グループ化 55">
            <a:extLst>
              <a:ext uri="{FF2B5EF4-FFF2-40B4-BE49-F238E27FC236}">
                <a16:creationId xmlns:a16="http://schemas.microsoft.com/office/drawing/2014/main" id="{3E9F6C41-5F78-3301-DEC6-BAC3F5D574FF}"/>
              </a:ext>
            </a:extLst>
          </p:cNvPr>
          <p:cNvGrpSpPr/>
          <p:nvPr/>
        </p:nvGrpSpPr>
        <p:grpSpPr>
          <a:xfrm>
            <a:off x="14935200" y="4267323"/>
            <a:ext cx="1726755" cy="1518978"/>
            <a:chOff x="8773634" y="4436427"/>
            <a:chExt cx="1726755" cy="1518978"/>
          </a:xfrm>
        </p:grpSpPr>
        <p:pic>
          <p:nvPicPr>
            <p:cNvPr id="54" name="グラフィックス 53" descr="データベース 枠線">
              <a:extLst>
                <a:ext uri="{FF2B5EF4-FFF2-40B4-BE49-F238E27FC236}">
                  <a16:creationId xmlns:a16="http://schemas.microsoft.com/office/drawing/2014/main" id="{544A613E-AC26-0D45-4931-F19372FF0B5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008040" y="4436427"/>
              <a:ext cx="1257942" cy="1257942"/>
            </a:xfrm>
            <a:prstGeom prst="rect">
              <a:avLst/>
            </a:prstGeom>
          </p:spPr>
        </p:pic>
        <p:sp>
          <p:nvSpPr>
            <p:cNvPr id="55" name="テキスト ボックス 54">
              <a:extLst>
                <a:ext uri="{FF2B5EF4-FFF2-40B4-BE49-F238E27FC236}">
                  <a16:creationId xmlns:a16="http://schemas.microsoft.com/office/drawing/2014/main" id="{AA313F50-7E54-393A-1691-8D48E2A25698}"/>
                </a:ext>
              </a:extLst>
            </p:cNvPr>
            <p:cNvSpPr txBox="1"/>
            <p:nvPr/>
          </p:nvSpPr>
          <p:spPr>
            <a:xfrm>
              <a:off x="8773634" y="5555295"/>
              <a:ext cx="1726755" cy="400110"/>
            </a:xfrm>
            <a:prstGeom prst="rect">
              <a:avLst/>
            </a:prstGeom>
            <a:noFill/>
          </p:spPr>
          <p:txBody>
            <a:bodyPr wrap="square" rtlCol="0">
              <a:spAutoFit/>
            </a:bodyPr>
            <a:lstStyle/>
            <a:p>
              <a:pPr algn="ctr"/>
              <a:r>
                <a:rPr kumimoji="1" lang="en-US" altLang="ja-JP" sz="2000" b="1" dirty="0">
                  <a:solidFill>
                    <a:schemeClr val="accent5">
                      <a:lumMod val="50000"/>
                    </a:schemeClr>
                  </a:solidFill>
                </a:rPr>
                <a:t>RDB</a:t>
              </a:r>
            </a:p>
          </p:txBody>
        </p:sp>
      </p:grpSp>
      <p:grpSp>
        <p:nvGrpSpPr>
          <p:cNvPr id="62" name="グループ化 61">
            <a:extLst>
              <a:ext uri="{FF2B5EF4-FFF2-40B4-BE49-F238E27FC236}">
                <a16:creationId xmlns:a16="http://schemas.microsoft.com/office/drawing/2014/main" id="{5D7C270D-9755-F268-F1EC-00346A574A7A}"/>
              </a:ext>
            </a:extLst>
          </p:cNvPr>
          <p:cNvGrpSpPr/>
          <p:nvPr/>
        </p:nvGrpSpPr>
        <p:grpSpPr>
          <a:xfrm>
            <a:off x="5340677" y="4118615"/>
            <a:ext cx="1726755" cy="1816394"/>
            <a:chOff x="3533023" y="4280090"/>
            <a:chExt cx="1726755" cy="1816394"/>
          </a:xfrm>
        </p:grpSpPr>
        <p:pic>
          <p:nvPicPr>
            <p:cNvPr id="60" name="グラフィックス 59" descr="UI UX 枠線">
              <a:extLst>
                <a:ext uri="{FF2B5EF4-FFF2-40B4-BE49-F238E27FC236}">
                  <a16:creationId xmlns:a16="http://schemas.microsoft.com/office/drawing/2014/main" id="{D63DDBCD-D064-EB74-D6E8-4FE09CE03ED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666950" y="4280090"/>
              <a:ext cx="1458900" cy="1458900"/>
            </a:xfrm>
            <a:prstGeom prst="rect">
              <a:avLst/>
            </a:prstGeom>
          </p:spPr>
        </p:pic>
        <p:sp>
          <p:nvSpPr>
            <p:cNvPr id="61" name="テキスト ボックス 60">
              <a:extLst>
                <a:ext uri="{FF2B5EF4-FFF2-40B4-BE49-F238E27FC236}">
                  <a16:creationId xmlns:a16="http://schemas.microsoft.com/office/drawing/2014/main" id="{9C2F9B20-6E57-4046-95A4-996B808BD415}"/>
                </a:ext>
              </a:extLst>
            </p:cNvPr>
            <p:cNvSpPr txBox="1"/>
            <p:nvPr/>
          </p:nvSpPr>
          <p:spPr>
            <a:xfrm>
              <a:off x="3533023" y="5696374"/>
              <a:ext cx="1726755" cy="400110"/>
            </a:xfrm>
            <a:prstGeom prst="rect">
              <a:avLst/>
            </a:prstGeom>
            <a:noFill/>
          </p:spPr>
          <p:txBody>
            <a:bodyPr wrap="square" rtlCol="0">
              <a:spAutoFit/>
            </a:bodyPr>
            <a:lstStyle/>
            <a:p>
              <a:pPr algn="ctr"/>
              <a:r>
                <a:rPr kumimoji="1" lang="ja-JP" altLang="en-US" sz="2000" b="1">
                  <a:solidFill>
                    <a:schemeClr val="accent5">
                      <a:lumMod val="50000"/>
                    </a:schemeClr>
                  </a:solidFill>
                </a:rPr>
                <a:t>ログイン</a:t>
              </a:r>
              <a:endParaRPr kumimoji="1" lang="en-US" altLang="ja-JP" sz="2000" b="1" dirty="0">
                <a:solidFill>
                  <a:schemeClr val="accent5">
                    <a:lumMod val="50000"/>
                  </a:schemeClr>
                </a:solidFill>
              </a:endParaRPr>
            </a:p>
          </p:txBody>
        </p:sp>
      </p:grpSp>
      <p:cxnSp>
        <p:nvCxnSpPr>
          <p:cNvPr id="72" name="直線矢印コネクタ 71">
            <a:extLst>
              <a:ext uri="{FF2B5EF4-FFF2-40B4-BE49-F238E27FC236}">
                <a16:creationId xmlns:a16="http://schemas.microsoft.com/office/drawing/2014/main" id="{895A12DA-747F-59F8-69D8-62DEEA5B6D13}"/>
              </a:ext>
            </a:extLst>
          </p:cNvPr>
          <p:cNvCxnSpPr>
            <a:cxnSpLocks/>
            <a:stCxn id="36" idx="3"/>
          </p:cNvCxnSpPr>
          <p:nvPr/>
        </p:nvCxnSpPr>
        <p:spPr>
          <a:xfrm>
            <a:off x="3878871" y="4964682"/>
            <a:ext cx="1461806" cy="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線矢印コネクタ 78">
            <a:extLst>
              <a:ext uri="{FF2B5EF4-FFF2-40B4-BE49-F238E27FC236}">
                <a16:creationId xmlns:a16="http://schemas.microsoft.com/office/drawing/2014/main" id="{CA6D3F7B-B1C8-3110-CB61-1F72218117DC}"/>
              </a:ext>
            </a:extLst>
          </p:cNvPr>
          <p:cNvCxnSpPr>
            <a:cxnSpLocks/>
          </p:cNvCxnSpPr>
          <p:nvPr/>
        </p:nvCxnSpPr>
        <p:spPr>
          <a:xfrm>
            <a:off x="7067431" y="4960556"/>
            <a:ext cx="1461806" cy="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0" name="直線矢印コネクタ 79">
            <a:extLst>
              <a:ext uri="{FF2B5EF4-FFF2-40B4-BE49-F238E27FC236}">
                <a16:creationId xmlns:a16="http://schemas.microsoft.com/office/drawing/2014/main" id="{27BB433B-B16A-1DA3-E642-7F801AA8FF5E}"/>
              </a:ext>
            </a:extLst>
          </p:cNvPr>
          <p:cNvCxnSpPr>
            <a:cxnSpLocks/>
          </p:cNvCxnSpPr>
          <p:nvPr/>
        </p:nvCxnSpPr>
        <p:spPr>
          <a:xfrm>
            <a:off x="10284835" y="4960556"/>
            <a:ext cx="1461806" cy="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線矢印コネクタ 80">
            <a:extLst>
              <a:ext uri="{FF2B5EF4-FFF2-40B4-BE49-F238E27FC236}">
                <a16:creationId xmlns:a16="http://schemas.microsoft.com/office/drawing/2014/main" id="{FC40DCA6-AE40-60A2-3BFD-BA688EA6F863}"/>
              </a:ext>
            </a:extLst>
          </p:cNvPr>
          <p:cNvCxnSpPr>
            <a:cxnSpLocks/>
          </p:cNvCxnSpPr>
          <p:nvPr/>
        </p:nvCxnSpPr>
        <p:spPr>
          <a:xfrm>
            <a:off x="13473394" y="4948059"/>
            <a:ext cx="1461806" cy="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3" name="カギ線コネクタ 82">
            <a:extLst>
              <a:ext uri="{FF2B5EF4-FFF2-40B4-BE49-F238E27FC236}">
                <a16:creationId xmlns:a16="http://schemas.microsoft.com/office/drawing/2014/main" id="{0D5239CE-1EF8-07F8-C0ED-6419E7F079F1}"/>
              </a:ext>
            </a:extLst>
          </p:cNvPr>
          <p:cNvCxnSpPr>
            <a:cxnSpLocks/>
            <a:stCxn id="55" idx="2"/>
            <a:endCxn id="61" idx="2"/>
          </p:cNvCxnSpPr>
          <p:nvPr/>
        </p:nvCxnSpPr>
        <p:spPr>
          <a:xfrm rot="5400000">
            <a:off x="10926963" y="1063394"/>
            <a:ext cx="148708" cy="9594523"/>
          </a:xfrm>
          <a:prstGeom prst="bentConnector3">
            <a:avLst>
              <a:gd name="adj1" fmla="val 1112259"/>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6" name="テキスト ボックス 85">
            <a:extLst>
              <a:ext uri="{FF2B5EF4-FFF2-40B4-BE49-F238E27FC236}">
                <a16:creationId xmlns:a16="http://schemas.microsoft.com/office/drawing/2014/main" id="{F12A3785-7A1A-CBB4-424C-F167D7072032}"/>
              </a:ext>
            </a:extLst>
          </p:cNvPr>
          <p:cNvSpPr txBox="1"/>
          <p:nvPr/>
        </p:nvSpPr>
        <p:spPr>
          <a:xfrm>
            <a:off x="10237086" y="5045530"/>
            <a:ext cx="3065821" cy="369332"/>
          </a:xfrm>
          <a:prstGeom prst="rect">
            <a:avLst/>
          </a:prstGeom>
          <a:noFill/>
        </p:spPr>
        <p:txBody>
          <a:bodyPr wrap="square" rtlCol="0">
            <a:spAutoFit/>
          </a:bodyPr>
          <a:lstStyle/>
          <a:p>
            <a:r>
              <a:rPr kumimoji="1" lang="en-US" altLang="ja-JP" dirty="0"/>
              <a:t>Speech-to-Text</a:t>
            </a:r>
          </a:p>
        </p:txBody>
      </p:sp>
      <p:sp>
        <p:nvSpPr>
          <p:cNvPr id="87" name="テキスト ボックス 86">
            <a:extLst>
              <a:ext uri="{FF2B5EF4-FFF2-40B4-BE49-F238E27FC236}">
                <a16:creationId xmlns:a16="http://schemas.microsoft.com/office/drawing/2014/main" id="{03A435E7-A845-5971-5B47-64BD111D31A1}"/>
              </a:ext>
            </a:extLst>
          </p:cNvPr>
          <p:cNvSpPr txBox="1"/>
          <p:nvPr/>
        </p:nvSpPr>
        <p:spPr>
          <a:xfrm>
            <a:off x="6271729" y="5113695"/>
            <a:ext cx="3065821" cy="646331"/>
          </a:xfrm>
          <a:prstGeom prst="rect">
            <a:avLst/>
          </a:prstGeom>
          <a:noFill/>
        </p:spPr>
        <p:txBody>
          <a:bodyPr wrap="square" rtlCol="0">
            <a:spAutoFit/>
          </a:bodyPr>
          <a:lstStyle/>
          <a:p>
            <a:pPr algn="ctr"/>
            <a:r>
              <a:rPr kumimoji="1" lang="ja-JP" altLang="en-US"/>
              <a:t>マッチングシステム</a:t>
            </a:r>
            <a:endParaRPr kumimoji="1" lang="en-US" altLang="ja-JP" dirty="0"/>
          </a:p>
          <a:p>
            <a:pPr algn="ctr"/>
            <a:r>
              <a:rPr kumimoji="1" lang="en-US" altLang="ja-JP" dirty="0"/>
              <a:t>(</a:t>
            </a:r>
            <a:r>
              <a:rPr kumimoji="1" lang="ja-JP" altLang="en-US"/>
              <a:t>手法検討中</a:t>
            </a:r>
            <a:r>
              <a:rPr kumimoji="1" lang="en-US" altLang="ja-JP" dirty="0"/>
              <a:t>)</a:t>
            </a:r>
          </a:p>
        </p:txBody>
      </p:sp>
      <p:sp>
        <p:nvSpPr>
          <p:cNvPr id="89" name="テキスト ボックス 88">
            <a:extLst>
              <a:ext uri="{FF2B5EF4-FFF2-40B4-BE49-F238E27FC236}">
                <a16:creationId xmlns:a16="http://schemas.microsoft.com/office/drawing/2014/main" id="{5714EF37-0FE7-078D-6509-8FF54D07D837}"/>
              </a:ext>
            </a:extLst>
          </p:cNvPr>
          <p:cNvSpPr txBox="1"/>
          <p:nvPr/>
        </p:nvSpPr>
        <p:spPr>
          <a:xfrm>
            <a:off x="12779788" y="4975993"/>
            <a:ext cx="3065821" cy="369332"/>
          </a:xfrm>
          <a:prstGeom prst="rect">
            <a:avLst/>
          </a:prstGeom>
          <a:noFill/>
        </p:spPr>
        <p:txBody>
          <a:bodyPr wrap="square" rtlCol="0">
            <a:spAutoFit/>
          </a:bodyPr>
          <a:lstStyle/>
          <a:p>
            <a:pPr algn="ctr"/>
            <a:r>
              <a:rPr kumimoji="1" lang="en-US" altLang="ja-JP" dirty="0"/>
              <a:t>Zero-Shot-Learning</a:t>
            </a:r>
          </a:p>
        </p:txBody>
      </p:sp>
      <p:cxnSp>
        <p:nvCxnSpPr>
          <p:cNvPr id="102" name="カギ線コネクタ 101">
            <a:extLst>
              <a:ext uri="{FF2B5EF4-FFF2-40B4-BE49-F238E27FC236}">
                <a16:creationId xmlns:a16="http://schemas.microsoft.com/office/drawing/2014/main" id="{4EECDDD2-6F9D-FCFA-1410-A2493FF439A4}"/>
              </a:ext>
            </a:extLst>
          </p:cNvPr>
          <p:cNvCxnSpPr>
            <a:cxnSpLocks/>
            <a:endCxn id="54" idx="0"/>
          </p:cNvCxnSpPr>
          <p:nvPr/>
        </p:nvCxnSpPr>
        <p:spPr>
          <a:xfrm flipV="1">
            <a:off x="3015494" y="4267323"/>
            <a:ext cx="12783083" cy="72355"/>
          </a:xfrm>
          <a:prstGeom prst="bentConnector4">
            <a:avLst>
              <a:gd name="adj1" fmla="val 103"/>
              <a:gd name="adj2" fmla="val 1446912"/>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9" name="正方形/長方形 108">
            <a:extLst>
              <a:ext uri="{FF2B5EF4-FFF2-40B4-BE49-F238E27FC236}">
                <a16:creationId xmlns:a16="http://schemas.microsoft.com/office/drawing/2014/main" id="{ED90B7B5-94D8-130A-7E40-D58FDAEEA6D4}"/>
              </a:ext>
            </a:extLst>
          </p:cNvPr>
          <p:cNvSpPr/>
          <p:nvPr/>
        </p:nvSpPr>
        <p:spPr>
          <a:xfrm>
            <a:off x="1461953" y="2781820"/>
            <a:ext cx="15797347" cy="5826493"/>
          </a:xfrm>
          <a:prstGeom prst="rect">
            <a:avLst/>
          </a:prstGeom>
          <a:noFill/>
          <a:ln>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 name="テキスト ボックス 109">
            <a:extLst>
              <a:ext uri="{FF2B5EF4-FFF2-40B4-BE49-F238E27FC236}">
                <a16:creationId xmlns:a16="http://schemas.microsoft.com/office/drawing/2014/main" id="{789CBDF7-8CDE-2645-4225-0F506DBDFDC8}"/>
              </a:ext>
            </a:extLst>
          </p:cNvPr>
          <p:cNvSpPr txBox="1"/>
          <p:nvPr/>
        </p:nvSpPr>
        <p:spPr>
          <a:xfrm>
            <a:off x="2354506" y="8193177"/>
            <a:ext cx="2255268" cy="723275"/>
          </a:xfrm>
          <a:prstGeom prst="rect">
            <a:avLst/>
          </a:prstGeom>
          <a:solidFill>
            <a:schemeClr val="accent6">
              <a:lumMod val="40000"/>
              <a:lumOff val="60000"/>
            </a:schemeClr>
          </a:solidFill>
          <a:ln>
            <a:solidFill>
              <a:schemeClr val="accent6">
                <a:lumMod val="50000"/>
              </a:schemeClr>
            </a:solidFill>
          </a:ln>
        </p:spPr>
        <p:txBody>
          <a:bodyPr wrap="square" rtlCol="0">
            <a:spAutoFit/>
          </a:bodyPr>
          <a:lstStyle/>
          <a:p>
            <a:endParaRPr kumimoji="1" lang="en-US" altLang="ja-JP" sz="1050" dirty="0"/>
          </a:p>
          <a:p>
            <a:pPr algn="ctr"/>
            <a:r>
              <a:rPr kumimoji="1" lang="en-US" altLang="ja-JP" sz="2000" b="1" dirty="0"/>
              <a:t>App Engine</a:t>
            </a:r>
          </a:p>
          <a:p>
            <a:endParaRPr kumimoji="1" lang="ja-JP" altLang="en-US" sz="1050"/>
          </a:p>
        </p:txBody>
      </p:sp>
      <p:sp>
        <p:nvSpPr>
          <p:cNvPr id="111" name="テキスト ボックス 110">
            <a:extLst>
              <a:ext uri="{FF2B5EF4-FFF2-40B4-BE49-F238E27FC236}">
                <a16:creationId xmlns:a16="http://schemas.microsoft.com/office/drawing/2014/main" id="{3265AD06-E4CD-CFFA-A05F-2E67EAC877AF}"/>
              </a:ext>
            </a:extLst>
          </p:cNvPr>
          <p:cNvSpPr txBox="1"/>
          <p:nvPr/>
        </p:nvSpPr>
        <p:spPr>
          <a:xfrm>
            <a:off x="3033739" y="5021479"/>
            <a:ext cx="3065821" cy="369332"/>
          </a:xfrm>
          <a:prstGeom prst="rect">
            <a:avLst/>
          </a:prstGeom>
          <a:noFill/>
        </p:spPr>
        <p:txBody>
          <a:bodyPr wrap="square" rtlCol="0">
            <a:spAutoFit/>
          </a:bodyPr>
          <a:lstStyle/>
          <a:p>
            <a:pPr algn="ctr"/>
            <a:r>
              <a:rPr kumimoji="1" lang="en-US" altLang="ja-JP" dirty="0"/>
              <a:t>Django</a:t>
            </a:r>
          </a:p>
        </p:txBody>
      </p:sp>
    </p:spTree>
    <p:extLst>
      <p:ext uri="{BB962C8B-B14F-4D97-AF65-F5344CB8AC3E}">
        <p14:creationId xmlns:p14="http://schemas.microsoft.com/office/powerpoint/2010/main" val="37667123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5F3D4-D185-07B9-1E54-073749175F1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85B4EE3-30D0-4338-E425-AD558496E150}"/>
              </a:ext>
            </a:extLst>
          </p:cNvPr>
          <p:cNvSpPr/>
          <p:nvPr/>
        </p:nvSpPr>
        <p:spPr>
          <a:xfrm>
            <a:off x="857250" y="2361305"/>
            <a:ext cx="16573500"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3" name="AutoShape 3">
            <a:extLst>
              <a:ext uri="{FF2B5EF4-FFF2-40B4-BE49-F238E27FC236}">
                <a16:creationId xmlns:a16="http://schemas.microsoft.com/office/drawing/2014/main" id="{D2D70C12-C5D7-126D-DC1E-FABE98C60C2D}"/>
              </a:ext>
            </a:extLst>
          </p:cNvPr>
          <p:cNvSpPr/>
          <p:nvPr/>
        </p:nvSpPr>
        <p:spPr>
          <a:xfrm>
            <a:off x="857250" y="1047750"/>
            <a:ext cx="16573459"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4" name="AutoShape 4">
            <a:extLst>
              <a:ext uri="{FF2B5EF4-FFF2-40B4-BE49-F238E27FC236}">
                <a16:creationId xmlns:a16="http://schemas.microsoft.com/office/drawing/2014/main" id="{2397D538-BB58-6526-6CB6-8EFB906C7D25}"/>
              </a:ext>
            </a:extLst>
          </p:cNvPr>
          <p:cNvSpPr/>
          <p:nvPr/>
        </p:nvSpPr>
        <p:spPr>
          <a:xfrm flipV="1">
            <a:off x="856856" y="904405"/>
            <a:ext cx="16574288"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5" name="AutoShape 5">
            <a:extLst>
              <a:ext uri="{FF2B5EF4-FFF2-40B4-BE49-F238E27FC236}">
                <a16:creationId xmlns:a16="http://schemas.microsoft.com/office/drawing/2014/main" id="{D373821C-C060-B47B-15A7-EFE9BF6BCE23}"/>
              </a:ext>
            </a:extLst>
          </p:cNvPr>
          <p:cNvSpPr/>
          <p:nvPr/>
        </p:nvSpPr>
        <p:spPr>
          <a:xfrm>
            <a:off x="857250" y="9382595"/>
            <a:ext cx="16573500"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6" name="AutoShape 6">
            <a:extLst>
              <a:ext uri="{FF2B5EF4-FFF2-40B4-BE49-F238E27FC236}">
                <a16:creationId xmlns:a16="http://schemas.microsoft.com/office/drawing/2014/main" id="{71904E5B-ADB0-3EA3-1B42-5FF117FD957E}"/>
              </a:ext>
            </a:extLst>
          </p:cNvPr>
          <p:cNvSpPr/>
          <p:nvPr/>
        </p:nvSpPr>
        <p:spPr>
          <a:xfrm>
            <a:off x="857250" y="9239250"/>
            <a:ext cx="16573500"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grpSp>
        <p:nvGrpSpPr>
          <p:cNvPr id="7" name="Group 7">
            <a:extLst>
              <a:ext uri="{FF2B5EF4-FFF2-40B4-BE49-F238E27FC236}">
                <a16:creationId xmlns:a16="http://schemas.microsoft.com/office/drawing/2014/main" id="{6CD653DF-BDCE-6BC9-2E7E-8834505C9784}"/>
              </a:ext>
            </a:extLst>
          </p:cNvPr>
          <p:cNvGrpSpPr/>
          <p:nvPr/>
        </p:nvGrpSpPr>
        <p:grpSpPr>
          <a:xfrm>
            <a:off x="1282599" y="650625"/>
            <a:ext cx="1213487" cy="1720205"/>
            <a:chOff x="0" y="0"/>
            <a:chExt cx="319601" cy="453058"/>
          </a:xfrm>
        </p:grpSpPr>
        <p:sp>
          <p:nvSpPr>
            <p:cNvPr id="8" name="Freeform 8">
              <a:extLst>
                <a:ext uri="{FF2B5EF4-FFF2-40B4-BE49-F238E27FC236}">
                  <a16:creationId xmlns:a16="http://schemas.microsoft.com/office/drawing/2014/main" id="{4608155D-F8C2-76C0-F629-EE24DCDDE697}"/>
                </a:ext>
              </a:extLst>
            </p:cNvPr>
            <p:cNvSpPr/>
            <p:nvPr/>
          </p:nvSpPr>
          <p:spPr>
            <a:xfrm>
              <a:off x="0" y="0"/>
              <a:ext cx="319601" cy="453058"/>
            </a:xfrm>
            <a:custGeom>
              <a:avLst/>
              <a:gdLst/>
              <a:ahLst/>
              <a:cxnLst/>
              <a:rect l="l" t="t" r="r" b="b"/>
              <a:pathLst>
                <a:path w="319601" h="453058">
                  <a:moveTo>
                    <a:pt x="0" y="0"/>
                  </a:moveTo>
                  <a:lnTo>
                    <a:pt x="319601" y="0"/>
                  </a:lnTo>
                  <a:lnTo>
                    <a:pt x="319601" y="453058"/>
                  </a:lnTo>
                  <a:lnTo>
                    <a:pt x="0" y="453058"/>
                  </a:lnTo>
                  <a:close/>
                </a:path>
              </a:pathLst>
            </a:custGeom>
            <a:solidFill>
              <a:srgbClr val="1B1B1B"/>
            </a:solidFill>
          </p:spPr>
          <p:txBody>
            <a:bodyPr/>
            <a:lstStyle/>
            <a:p>
              <a:endParaRPr lang="ja-JP" altLang="en-US">
                <a:latin typeface="Yu Gothic" panose="020B0400000000000000" pitchFamily="34" charset="-128"/>
                <a:ea typeface="Yu Gothic" panose="020B0400000000000000" pitchFamily="34" charset="-128"/>
              </a:endParaRPr>
            </a:p>
          </p:txBody>
        </p:sp>
        <p:sp>
          <p:nvSpPr>
            <p:cNvPr id="9" name="TextBox 9">
              <a:extLst>
                <a:ext uri="{FF2B5EF4-FFF2-40B4-BE49-F238E27FC236}">
                  <a16:creationId xmlns:a16="http://schemas.microsoft.com/office/drawing/2014/main" id="{279806CA-818D-1EC0-F0B9-74FC5AC341FD}"/>
                </a:ext>
              </a:extLst>
            </p:cNvPr>
            <p:cNvSpPr txBox="1"/>
            <p:nvPr/>
          </p:nvSpPr>
          <p:spPr>
            <a:xfrm>
              <a:off x="0" y="-47625"/>
              <a:ext cx="319601" cy="500683"/>
            </a:xfrm>
            <a:prstGeom prst="rect">
              <a:avLst/>
            </a:prstGeom>
          </p:spPr>
          <p:txBody>
            <a:bodyPr lIns="50800" tIns="50800" rIns="50800" bIns="50800" rtlCol="0" anchor="ctr"/>
            <a:lstStyle/>
            <a:p>
              <a:pPr algn="ctr">
                <a:lnSpc>
                  <a:spcPts val="3359"/>
                </a:lnSpc>
              </a:pPr>
              <a:endParaRPr>
                <a:latin typeface="Yu Gothic" panose="020B0400000000000000" pitchFamily="34" charset="-128"/>
                <a:ea typeface="Yu Gothic" panose="020B0400000000000000" pitchFamily="34" charset="-128"/>
              </a:endParaRPr>
            </a:p>
          </p:txBody>
        </p:sp>
      </p:grpSp>
      <p:sp>
        <p:nvSpPr>
          <p:cNvPr id="12" name="TextBox 12">
            <a:extLst>
              <a:ext uri="{FF2B5EF4-FFF2-40B4-BE49-F238E27FC236}">
                <a16:creationId xmlns:a16="http://schemas.microsoft.com/office/drawing/2014/main" id="{A12EBB05-48D4-5862-300C-68623DAE1196}"/>
              </a:ext>
            </a:extLst>
          </p:cNvPr>
          <p:cNvSpPr txBox="1"/>
          <p:nvPr/>
        </p:nvSpPr>
        <p:spPr>
          <a:xfrm>
            <a:off x="2949343" y="1458741"/>
            <a:ext cx="14309957" cy="538609"/>
          </a:xfrm>
          <a:prstGeom prst="rect">
            <a:avLst/>
          </a:prstGeom>
        </p:spPr>
        <p:txBody>
          <a:bodyPr lIns="0" tIns="0" rIns="0" bIns="0" rtlCol="0" anchor="ctr">
            <a:spAutoFit/>
          </a:bodyPr>
          <a:lstStyle/>
          <a:p>
            <a:r>
              <a:rPr lang="en-US" altLang="ja-JP" sz="3500" b="1" spc="175" dirty="0" err="1">
                <a:solidFill>
                  <a:srgbClr val="1B1B1B"/>
                </a:solidFill>
                <a:latin typeface="Yu Gothic" panose="020B0400000000000000" pitchFamily="34" charset="-128"/>
                <a:ea typeface="Yu Gothic" panose="020B0400000000000000" pitchFamily="34" charset="-128"/>
                <a:cs typeface="Noto Sans JP Heavy"/>
                <a:sym typeface="Noto Sans JP Heavy"/>
              </a:rPr>
              <a:t>シーケンス図</a:t>
            </a:r>
            <a:endParaRPr lang="en-US" altLang="ja-JP" sz="3500" b="1" spc="175" dirty="0">
              <a:solidFill>
                <a:srgbClr val="1B1B1B"/>
              </a:solidFill>
              <a:latin typeface="Yu Gothic" panose="020B0400000000000000" pitchFamily="34" charset="-128"/>
              <a:ea typeface="Yu Gothic" panose="020B0400000000000000" pitchFamily="34" charset="-128"/>
              <a:cs typeface="Noto Sans JP Heavy"/>
              <a:sym typeface="Noto Sans JP Heavy"/>
            </a:endParaRPr>
          </a:p>
        </p:txBody>
      </p:sp>
      <p:sp>
        <p:nvSpPr>
          <p:cNvPr id="13" name="TextBox 13">
            <a:extLst>
              <a:ext uri="{FF2B5EF4-FFF2-40B4-BE49-F238E27FC236}">
                <a16:creationId xmlns:a16="http://schemas.microsoft.com/office/drawing/2014/main" id="{CB6C3FA4-9AF1-9F2D-18BF-5F24A2A95891}"/>
              </a:ext>
            </a:extLst>
          </p:cNvPr>
          <p:cNvSpPr txBox="1"/>
          <p:nvPr/>
        </p:nvSpPr>
        <p:spPr>
          <a:xfrm>
            <a:off x="1461953" y="1228278"/>
            <a:ext cx="854779" cy="733425"/>
          </a:xfrm>
          <a:prstGeom prst="rect">
            <a:avLst/>
          </a:prstGeom>
        </p:spPr>
        <p:txBody>
          <a:bodyPr lIns="0" tIns="0" rIns="0" bIns="0" rtlCol="0" anchor="t">
            <a:spAutoFit/>
          </a:bodyPr>
          <a:lstStyle/>
          <a:p>
            <a:pPr marL="0" lvl="0" indent="0" algn="ctr">
              <a:lnSpc>
                <a:spcPts val="6300"/>
              </a:lnSpc>
              <a:spcBef>
                <a:spcPct val="0"/>
              </a:spcBef>
            </a:pPr>
            <a:r>
              <a:rPr lang="en-US" sz="3500" b="1" u="none" strike="noStrike" dirty="0">
                <a:solidFill>
                  <a:srgbClr val="FAFAFA"/>
                </a:solidFill>
                <a:latin typeface="Yu Gothic" panose="020B0400000000000000" pitchFamily="34" charset="-128"/>
                <a:ea typeface="Yu Gothic" panose="020B0400000000000000" pitchFamily="34" charset="-128"/>
                <a:cs typeface="Open Sans Bold"/>
                <a:sym typeface="Open Sans Bold"/>
              </a:rPr>
              <a:t>05</a:t>
            </a:r>
          </a:p>
        </p:txBody>
      </p:sp>
      <p:sp>
        <p:nvSpPr>
          <p:cNvPr id="22" name="スライド番号プレースホルダー 21">
            <a:extLst>
              <a:ext uri="{FF2B5EF4-FFF2-40B4-BE49-F238E27FC236}">
                <a16:creationId xmlns:a16="http://schemas.microsoft.com/office/drawing/2014/main" id="{DE262181-99D2-B89C-CBB8-D2FD26286F20}"/>
              </a:ext>
            </a:extLst>
          </p:cNvPr>
          <p:cNvSpPr>
            <a:spLocks noGrp="1"/>
          </p:cNvSpPr>
          <p:nvPr>
            <p:ph type="sldNum" sz="quarter" idx="12"/>
          </p:nvPr>
        </p:nvSpPr>
        <p:spPr/>
        <p:txBody>
          <a:bodyPr/>
          <a:lstStyle/>
          <a:p>
            <a:fld id="{B6F15528-21DE-4FAA-801E-634DDDAF4B2B}" type="slidenum">
              <a:rPr lang="en-US" smtClean="0">
                <a:latin typeface="Yu Gothic" panose="020B0400000000000000" pitchFamily="34" charset="-128"/>
                <a:ea typeface="Yu Gothic" panose="020B0400000000000000" pitchFamily="34" charset="-128"/>
              </a:rPr>
              <a:pPr/>
              <a:t>10</a:t>
            </a:fld>
            <a:endParaRPr lang="en-US" dirty="0">
              <a:latin typeface="Yu Gothic" panose="020B0400000000000000" pitchFamily="34" charset="-128"/>
              <a:ea typeface="Yu Gothic" panose="020B0400000000000000" pitchFamily="34" charset="-128"/>
            </a:endParaRPr>
          </a:p>
        </p:txBody>
      </p:sp>
      <p:sp>
        <p:nvSpPr>
          <p:cNvPr id="10" name="テキスト ボックス 9">
            <a:extLst>
              <a:ext uri="{FF2B5EF4-FFF2-40B4-BE49-F238E27FC236}">
                <a16:creationId xmlns:a16="http://schemas.microsoft.com/office/drawing/2014/main" id="{95E9A8D2-B66A-8A0D-B797-78C465D0605D}"/>
              </a:ext>
            </a:extLst>
          </p:cNvPr>
          <p:cNvSpPr txBox="1"/>
          <p:nvPr/>
        </p:nvSpPr>
        <p:spPr>
          <a:xfrm>
            <a:off x="856856" y="9405306"/>
            <a:ext cx="13109679" cy="307777"/>
          </a:xfrm>
          <a:prstGeom prst="rect">
            <a:avLst/>
          </a:prstGeom>
          <a:noFill/>
        </p:spPr>
        <p:txBody>
          <a:bodyPr wrap="none" rtlCol="0">
            <a:spAutoFit/>
          </a:bodyPr>
          <a:lstStyle/>
          <a:p>
            <a:r>
              <a:rPr kumimoji="1" lang="ja-JP" altLang="en-US" sz="1400">
                <a:latin typeface="Yu Gothic" panose="020B0400000000000000" pitchFamily="34" charset="-128"/>
                <a:ea typeface="Yu Gothic" panose="020B0400000000000000" pitchFamily="34" charset="-128"/>
              </a:rPr>
              <a:t>［参考］</a:t>
            </a:r>
            <a:r>
              <a:rPr kumimoji="1" lang="en-US" altLang="ja-JP" sz="1400" dirty="0">
                <a:latin typeface="Yu Gothic" panose="020B0400000000000000" pitchFamily="34" charset="-128"/>
                <a:ea typeface="Yu Gothic" panose="020B0400000000000000" pitchFamily="34" charset="-128"/>
              </a:rPr>
              <a:t>	</a:t>
            </a:r>
            <a:r>
              <a:rPr kumimoji="1" lang="ja-JP" altLang="en-US" sz="1400">
                <a:latin typeface="Yu Gothic" panose="020B0400000000000000" pitchFamily="34" charset="-128"/>
                <a:ea typeface="Yu Gothic" panose="020B0400000000000000" pitchFamily="34" charset="-128"/>
              </a:rPr>
              <a:t>株式会社システムインテグレータ“シーケンス図とは？必要性や構成要素，作成時のポイントまで”　</a:t>
            </a:r>
            <a:r>
              <a:rPr kumimoji="1" lang="en-US" altLang="ja-JP" sz="1400" dirty="0">
                <a:latin typeface="Yu Gothic" panose="020B0400000000000000" pitchFamily="34" charset="-128"/>
                <a:ea typeface="Yu Gothic" panose="020B0400000000000000" pitchFamily="34" charset="-128"/>
              </a:rPr>
              <a:t>https://</a:t>
            </a:r>
            <a:r>
              <a:rPr kumimoji="1" lang="en-US" altLang="ja-JP" sz="1400" dirty="0" err="1">
                <a:latin typeface="Yu Gothic" panose="020B0400000000000000" pitchFamily="34" charset="-128"/>
                <a:ea typeface="Yu Gothic" panose="020B0400000000000000" pitchFamily="34" charset="-128"/>
              </a:rPr>
              <a:t>products.sint.co.jp</a:t>
            </a:r>
            <a:r>
              <a:rPr kumimoji="1" lang="en-US" altLang="ja-JP" sz="1400" dirty="0">
                <a:latin typeface="Yu Gothic" panose="020B0400000000000000" pitchFamily="34" charset="-128"/>
                <a:ea typeface="Yu Gothic" panose="020B0400000000000000" pitchFamily="34" charset="-128"/>
              </a:rPr>
              <a:t>/</a:t>
            </a:r>
            <a:r>
              <a:rPr kumimoji="1" lang="en-US" altLang="ja-JP" sz="1400" dirty="0" err="1">
                <a:latin typeface="Yu Gothic" panose="020B0400000000000000" pitchFamily="34" charset="-128"/>
                <a:ea typeface="Yu Gothic" panose="020B0400000000000000" pitchFamily="34" charset="-128"/>
              </a:rPr>
              <a:t>ober</a:t>
            </a:r>
            <a:r>
              <a:rPr kumimoji="1" lang="en-US" altLang="ja-JP" sz="1400" dirty="0">
                <a:latin typeface="Yu Gothic" panose="020B0400000000000000" pitchFamily="34" charset="-128"/>
                <a:ea typeface="Yu Gothic" panose="020B0400000000000000" pitchFamily="34" charset="-128"/>
              </a:rPr>
              <a:t>/blog/sequence</a:t>
            </a:r>
          </a:p>
        </p:txBody>
      </p:sp>
      <p:sp>
        <p:nvSpPr>
          <p:cNvPr id="11" name="テキスト ボックス 10">
            <a:extLst>
              <a:ext uri="{FF2B5EF4-FFF2-40B4-BE49-F238E27FC236}">
                <a16:creationId xmlns:a16="http://schemas.microsoft.com/office/drawing/2014/main" id="{976F0B30-EEAF-2F5F-4ED5-1222A23F5CCB}"/>
              </a:ext>
            </a:extLst>
          </p:cNvPr>
          <p:cNvSpPr txBox="1"/>
          <p:nvPr/>
        </p:nvSpPr>
        <p:spPr>
          <a:xfrm>
            <a:off x="2496086" y="2781300"/>
            <a:ext cx="2914114" cy="461665"/>
          </a:xfrm>
          <a:prstGeom prst="rect">
            <a:avLst/>
          </a:prstGeom>
          <a:solidFill>
            <a:schemeClr val="accent5">
              <a:lumMod val="20000"/>
              <a:lumOff val="80000"/>
            </a:schemeClr>
          </a:solidFill>
          <a:ln>
            <a:solidFill>
              <a:schemeClr val="accent1">
                <a:lumMod val="50000"/>
              </a:schemeClr>
            </a:solidFill>
          </a:ln>
        </p:spPr>
        <p:txBody>
          <a:bodyPr wrap="square" rtlCol="0">
            <a:spAutoFit/>
          </a:bodyPr>
          <a:lstStyle/>
          <a:p>
            <a:pPr algn="ctr"/>
            <a:r>
              <a:rPr kumimoji="1" lang="ja-JP" altLang="en-US" sz="2400"/>
              <a:t>ユーザー</a:t>
            </a:r>
          </a:p>
        </p:txBody>
      </p:sp>
      <p:sp>
        <p:nvSpPr>
          <p:cNvPr id="14" name="テキスト ボックス 13">
            <a:extLst>
              <a:ext uri="{FF2B5EF4-FFF2-40B4-BE49-F238E27FC236}">
                <a16:creationId xmlns:a16="http://schemas.microsoft.com/office/drawing/2014/main" id="{5AFED381-0792-813E-9EA7-81F6A62DD13F}"/>
              </a:ext>
            </a:extLst>
          </p:cNvPr>
          <p:cNvSpPr txBox="1"/>
          <p:nvPr/>
        </p:nvSpPr>
        <p:spPr>
          <a:xfrm>
            <a:off x="8029843" y="2781300"/>
            <a:ext cx="2914114" cy="461665"/>
          </a:xfrm>
          <a:prstGeom prst="rect">
            <a:avLst/>
          </a:prstGeom>
          <a:solidFill>
            <a:schemeClr val="accent5">
              <a:lumMod val="20000"/>
              <a:lumOff val="80000"/>
            </a:schemeClr>
          </a:solidFill>
          <a:ln>
            <a:solidFill>
              <a:schemeClr val="accent1">
                <a:lumMod val="50000"/>
              </a:schemeClr>
            </a:solidFill>
          </a:ln>
        </p:spPr>
        <p:txBody>
          <a:bodyPr wrap="square" rtlCol="0">
            <a:spAutoFit/>
          </a:bodyPr>
          <a:lstStyle/>
          <a:p>
            <a:pPr algn="ctr"/>
            <a:r>
              <a:rPr kumimoji="1" lang="ja-JP" altLang="en-US" sz="2400"/>
              <a:t>サービス</a:t>
            </a:r>
          </a:p>
        </p:txBody>
      </p:sp>
      <p:sp>
        <p:nvSpPr>
          <p:cNvPr id="15" name="テキスト ボックス 14">
            <a:extLst>
              <a:ext uri="{FF2B5EF4-FFF2-40B4-BE49-F238E27FC236}">
                <a16:creationId xmlns:a16="http://schemas.microsoft.com/office/drawing/2014/main" id="{D6AF6331-8289-27C4-9D02-920E76F05030}"/>
              </a:ext>
            </a:extLst>
          </p:cNvPr>
          <p:cNvSpPr txBox="1"/>
          <p:nvPr/>
        </p:nvSpPr>
        <p:spPr>
          <a:xfrm>
            <a:off x="13563600" y="2781300"/>
            <a:ext cx="2914114" cy="461665"/>
          </a:xfrm>
          <a:prstGeom prst="rect">
            <a:avLst/>
          </a:prstGeom>
          <a:solidFill>
            <a:schemeClr val="accent5">
              <a:lumMod val="20000"/>
              <a:lumOff val="80000"/>
            </a:schemeClr>
          </a:solidFill>
          <a:ln>
            <a:solidFill>
              <a:schemeClr val="accent1">
                <a:lumMod val="50000"/>
              </a:schemeClr>
            </a:solidFill>
          </a:ln>
        </p:spPr>
        <p:txBody>
          <a:bodyPr wrap="square" rtlCol="0">
            <a:spAutoFit/>
          </a:bodyPr>
          <a:lstStyle/>
          <a:p>
            <a:pPr algn="ctr"/>
            <a:r>
              <a:rPr kumimoji="1" lang="ja-JP" altLang="en-US" sz="2400"/>
              <a:t>データベース</a:t>
            </a:r>
          </a:p>
        </p:txBody>
      </p:sp>
      <p:cxnSp>
        <p:nvCxnSpPr>
          <p:cNvPr id="17" name="直線コネクタ 16">
            <a:extLst>
              <a:ext uri="{FF2B5EF4-FFF2-40B4-BE49-F238E27FC236}">
                <a16:creationId xmlns:a16="http://schemas.microsoft.com/office/drawing/2014/main" id="{F0901FAB-28F3-98CD-5F97-A3DA94F5F7D2}"/>
              </a:ext>
            </a:extLst>
          </p:cNvPr>
          <p:cNvCxnSpPr>
            <a:cxnSpLocks/>
          </p:cNvCxnSpPr>
          <p:nvPr/>
        </p:nvCxnSpPr>
        <p:spPr>
          <a:xfrm flipH="1">
            <a:off x="3952300" y="3242965"/>
            <a:ext cx="843" cy="5862935"/>
          </a:xfrm>
          <a:prstGeom prst="line">
            <a:avLst/>
          </a:prstGeom>
          <a:ln w="28575">
            <a:solidFill>
              <a:schemeClr val="accent5">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F80EA65B-DF00-B24B-D534-7E52DF336BF6}"/>
              </a:ext>
            </a:extLst>
          </p:cNvPr>
          <p:cNvCxnSpPr>
            <a:cxnSpLocks/>
          </p:cNvCxnSpPr>
          <p:nvPr/>
        </p:nvCxnSpPr>
        <p:spPr>
          <a:xfrm flipH="1">
            <a:off x="15020656" y="3242964"/>
            <a:ext cx="1" cy="5862936"/>
          </a:xfrm>
          <a:prstGeom prst="line">
            <a:avLst/>
          </a:prstGeom>
          <a:ln w="28575">
            <a:solidFill>
              <a:schemeClr val="accent5">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53314999-BB47-3ACA-6D3D-7303E059FD12}"/>
              </a:ext>
            </a:extLst>
          </p:cNvPr>
          <p:cNvCxnSpPr>
            <a:cxnSpLocks/>
          </p:cNvCxnSpPr>
          <p:nvPr/>
        </p:nvCxnSpPr>
        <p:spPr>
          <a:xfrm flipH="1">
            <a:off x="9486899" y="3242965"/>
            <a:ext cx="1" cy="5862935"/>
          </a:xfrm>
          <a:prstGeom prst="line">
            <a:avLst/>
          </a:prstGeom>
          <a:ln w="28575">
            <a:solidFill>
              <a:schemeClr val="accent5">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20" name="正方形/長方形 19">
            <a:extLst>
              <a:ext uri="{FF2B5EF4-FFF2-40B4-BE49-F238E27FC236}">
                <a16:creationId xmlns:a16="http://schemas.microsoft.com/office/drawing/2014/main" id="{2E7A7E3C-E8D4-95AA-F674-264B44873571}"/>
              </a:ext>
            </a:extLst>
          </p:cNvPr>
          <p:cNvSpPr/>
          <p:nvPr/>
        </p:nvSpPr>
        <p:spPr>
          <a:xfrm>
            <a:off x="9262592" y="3457124"/>
            <a:ext cx="457221" cy="1343437"/>
          </a:xfrm>
          <a:prstGeom prst="rect">
            <a:avLst/>
          </a:prstGeom>
          <a:solidFill>
            <a:schemeClr val="accent6">
              <a:lumMod val="20000"/>
              <a:lumOff val="80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矢印コネクタ 22">
            <a:extLst>
              <a:ext uri="{FF2B5EF4-FFF2-40B4-BE49-F238E27FC236}">
                <a16:creationId xmlns:a16="http://schemas.microsoft.com/office/drawing/2014/main" id="{A1972526-1B06-C8E1-A0CB-219BE81FD0AE}"/>
              </a:ext>
            </a:extLst>
          </p:cNvPr>
          <p:cNvCxnSpPr>
            <a:cxnSpLocks/>
          </p:cNvCxnSpPr>
          <p:nvPr/>
        </p:nvCxnSpPr>
        <p:spPr>
          <a:xfrm>
            <a:off x="3953143" y="3771900"/>
            <a:ext cx="5309449" cy="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D12D0646-FD4B-3DD9-0B13-E89BB47F991D}"/>
              </a:ext>
            </a:extLst>
          </p:cNvPr>
          <p:cNvSpPr txBox="1"/>
          <p:nvPr/>
        </p:nvSpPr>
        <p:spPr>
          <a:xfrm>
            <a:off x="5836607" y="3386689"/>
            <a:ext cx="1766830" cy="369332"/>
          </a:xfrm>
          <a:prstGeom prst="rect">
            <a:avLst/>
          </a:prstGeom>
          <a:noFill/>
        </p:spPr>
        <p:txBody>
          <a:bodyPr wrap="square" rtlCol="0">
            <a:spAutoFit/>
          </a:bodyPr>
          <a:lstStyle/>
          <a:p>
            <a:r>
              <a:rPr kumimoji="1" lang="ja-JP" altLang="en-US"/>
              <a:t>個人情報を登録</a:t>
            </a:r>
          </a:p>
        </p:txBody>
      </p:sp>
      <p:sp>
        <p:nvSpPr>
          <p:cNvPr id="27" name="正方形/長方形 26">
            <a:extLst>
              <a:ext uri="{FF2B5EF4-FFF2-40B4-BE49-F238E27FC236}">
                <a16:creationId xmlns:a16="http://schemas.microsoft.com/office/drawing/2014/main" id="{C7219C31-8F87-5C6D-E9C6-DF6A91645E2A}"/>
              </a:ext>
            </a:extLst>
          </p:cNvPr>
          <p:cNvSpPr/>
          <p:nvPr/>
        </p:nvSpPr>
        <p:spPr>
          <a:xfrm>
            <a:off x="14796348" y="3452515"/>
            <a:ext cx="457221" cy="1345281"/>
          </a:xfrm>
          <a:prstGeom prst="rect">
            <a:avLst/>
          </a:prstGeom>
          <a:solidFill>
            <a:schemeClr val="accent6">
              <a:lumMod val="20000"/>
              <a:lumOff val="80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8" name="直線矢印コネクタ 27">
            <a:extLst>
              <a:ext uri="{FF2B5EF4-FFF2-40B4-BE49-F238E27FC236}">
                <a16:creationId xmlns:a16="http://schemas.microsoft.com/office/drawing/2014/main" id="{90019071-45FF-1157-B6C5-87B6F1E33CCA}"/>
              </a:ext>
            </a:extLst>
          </p:cNvPr>
          <p:cNvCxnSpPr>
            <a:cxnSpLocks/>
          </p:cNvCxnSpPr>
          <p:nvPr/>
        </p:nvCxnSpPr>
        <p:spPr>
          <a:xfrm>
            <a:off x="9727002" y="3909269"/>
            <a:ext cx="5060743" cy="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E0984502-6964-7E18-1A88-2369D8D8C560}"/>
              </a:ext>
            </a:extLst>
          </p:cNvPr>
          <p:cNvSpPr txBox="1"/>
          <p:nvPr/>
        </p:nvSpPr>
        <p:spPr>
          <a:xfrm>
            <a:off x="10967746" y="3525620"/>
            <a:ext cx="2694969" cy="369332"/>
          </a:xfrm>
          <a:prstGeom prst="rect">
            <a:avLst/>
          </a:prstGeom>
          <a:noFill/>
        </p:spPr>
        <p:txBody>
          <a:bodyPr wrap="square" rtlCol="0">
            <a:spAutoFit/>
          </a:bodyPr>
          <a:lstStyle/>
          <a:p>
            <a:r>
              <a:rPr kumimoji="1" lang="ja-JP" altLang="en-US"/>
              <a:t>ユーザー情報の新規登録</a:t>
            </a:r>
          </a:p>
        </p:txBody>
      </p:sp>
      <p:cxnSp>
        <p:nvCxnSpPr>
          <p:cNvPr id="31" name="直線矢印コネクタ 30">
            <a:extLst>
              <a:ext uri="{FF2B5EF4-FFF2-40B4-BE49-F238E27FC236}">
                <a16:creationId xmlns:a16="http://schemas.microsoft.com/office/drawing/2014/main" id="{EDA9DEB5-0584-64A5-9E7A-16C012325564}"/>
              </a:ext>
            </a:extLst>
          </p:cNvPr>
          <p:cNvCxnSpPr>
            <a:cxnSpLocks/>
          </p:cNvCxnSpPr>
          <p:nvPr/>
        </p:nvCxnSpPr>
        <p:spPr>
          <a:xfrm flipH="1">
            <a:off x="9727002" y="4367627"/>
            <a:ext cx="5060743" cy="0"/>
          </a:xfrm>
          <a:prstGeom prst="straightConnector1">
            <a:avLst/>
          </a:prstGeom>
          <a:ln w="38100">
            <a:solidFill>
              <a:schemeClr val="tx1">
                <a:lumMod val="95000"/>
                <a:lumOff val="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208E982F-D9B8-62A0-8A6A-C2AD58E9A9A5}"/>
              </a:ext>
            </a:extLst>
          </p:cNvPr>
          <p:cNvSpPr txBox="1"/>
          <p:nvPr/>
        </p:nvSpPr>
        <p:spPr>
          <a:xfrm>
            <a:off x="11410559" y="4000500"/>
            <a:ext cx="1928733" cy="369332"/>
          </a:xfrm>
          <a:prstGeom prst="rect">
            <a:avLst/>
          </a:prstGeom>
          <a:noFill/>
        </p:spPr>
        <p:txBody>
          <a:bodyPr wrap="square" rtlCol="0">
            <a:spAutoFit/>
          </a:bodyPr>
          <a:lstStyle/>
          <a:p>
            <a:r>
              <a:rPr kumimoji="1" lang="ja-JP" altLang="en-US"/>
              <a:t>ユーザー</a:t>
            </a:r>
            <a:r>
              <a:rPr kumimoji="1" lang="en-US" altLang="ja-JP" dirty="0"/>
              <a:t>ID</a:t>
            </a:r>
            <a:r>
              <a:rPr kumimoji="1" lang="ja-JP" altLang="en-US"/>
              <a:t>を返す</a:t>
            </a:r>
          </a:p>
        </p:txBody>
      </p:sp>
      <p:cxnSp>
        <p:nvCxnSpPr>
          <p:cNvPr id="38" name="直線矢印コネクタ 37">
            <a:extLst>
              <a:ext uri="{FF2B5EF4-FFF2-40B4-BE49-F238E27FC236}">
                <a16:creationId xmlns:a16="http://schemas.microsoft.com/office/drawing/2014/main" id="{5E7942E6-B9F9-B5A7-1C03-E2E66BBACEB6}"/>
              </a:ext>
            </a:extLst>
          </p:cNvPr>
          <p:cNvCxnSpPr>
            <a:cxnSpLocks/>
          </p:cNvCxnSpPr>
          <p:nvPr/>
        </p:nvCxnSpPr>
        <p:spPr>
          <a:xfrm flipH="1">
            <a:off x="3953143" y="4605655"/>
            <a:ext cx="5297250" cy="0"/>
          </a:xfrm>
          <a:prstGeom prst="straightConnector1">
            <a:avLst/>
          </a:prstGeom>
          <a:ln w="38100">
            <a:solidFill>
              <a:schemeClr val="tx1">
                <a:lumMod val="95000"/>
                <a:lumOff val="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4A1C5972-89DC-3F4E-F726-4510F4CE0468}"/>
              </a:ext>
            </a:extLst>
          </p:cNvPr>
          <p:cNvSpPr txBox="1"/>
          <p:nvPr/>
        </p:nvSpPr>
        <p:spPr>
          <a:xfrm>
            <a:off x="5747032" y="4229100"/>
            <a:ext cx="1938351" cy="369332"/>
          </a:xfrm>
          <a:prstGeom prst="rect">
            <a:avLst/>
          </a:prstGeom>
          <a:noFill/>
        </p:spPr>
        <p:txBody>
          <a:bodyPr wrap="square" rtlCol="0">
            <a:spAutoFit/>
          </a:bodyPr>
          <a:lstStyle/>
          <a:p>
            <a:r>
              <a:rPr kumimoji="1" lang="ja-JP" altLang="en-US"/>
              <a:t>ユーザー</a:t>
            </a:r>
            <a:r>
              <a:rPr kumimoji="1" lang="en-US" altLang="ja-JP" dirty="0"/>
              <a:t>ID</a:t>
            </a:r>
            <a:r>
              <a:rPr kumimoji="1" lang="ja-JP" altLang="en-US"/>
              <a:t>を表示</a:t>
            </a:r>
          </a:p>
        </p:txBody>
      </p:sp>
      <p:cxnSp>
        <p:nvCxnSpPr>
          <p:cNvPr id="43" name="直線矢印コネクタ 42">
            <a:extLst>
              <a:ext uri="{FF2B5EF4-FFF2-40B4-BE49-F238E27FC236}">
                <a16:creationId xmlns:a16="http://schemas.microsoft.com/office/drawing/2014/main" id="{549205B3-795B-1D21-17C1-3CCB34E292A2}"/>
              </a:ext>
            </a:extLst>
          </p:cNvPr>
          <p:cNvCxnSpPr>
            <a:cxnSpLocks/>
          </p:cNvCxnSpPr>
          <p:nvPr/>
        </p:nvCxnSpPr>
        <p:spPr>
          <a:xfrm>
            <a:off x="3953143" y="5543530"/>
            <a:ext cx="5309449" cy="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4" name="テキスト ボックス 43">
            <a:extLst>
              <a:ext uri="{FF2B5EF4-FFF2-40B4-BE49-F238E27FC236}">
                <a16:creationId xmlns:a16="http://schemas.microsoft.com/office/drawing/2014/main" id="{A503A7BD-59E5-ED36-7BC1-9ACE4480FE1D}"/>
              </a:ext>
            </a:extLst>
          </p:cNvPr>
          <p:cNvSpPr txBox="1"/>
          <p:nvPr/>
        </p:nvSpPr>
        <p:spPr>
          <a:xfrm>
            <a:off x="6213589" y="5215519"/>
            <a:ext cx="990977" cy="369332"/>
          </a:xfrm>
          <a:prstGeom prst="rect">
            <a:avLst/>
          </a:prstGeom>
          <a:noFill/>
        </p:spPr>
        <p:txBody>
          <a:bodyPr wrap="square" rtlCol="0">
            <a:spAutoFit/>
          </a:bodyPr>
          <a:lstStyle/>
          <a:p>
            <a:r>
              <a:rPr kumimoji="1" lang="ja-JP" altLang="en-US"/>
              <a:t>ログイン</a:t>
            </a:r>
          </a:p>
        </p:txBody>
      </p:sp>
      <p:sp>
        <p:nvSpPr>
          <p:cNvPr id="45" name="正方形/長方形 44">
            <a:extLst>
              <a:ext uri="{FF2B5EF4-FFF2-40B4-BE49-F238E27FC236}">
                <a16:creationId xmlns:a16="http://schemas.microsoft.com/office/drawing/2014/main" id="{4D89AABA-D100-A649-F674-A28C173584E7}"/>
              </a:ext>
            </a:extLst>
          </p:cNvPr>
          <p:cNvSpPr/>
          <p:nvPr/>
        </p:nvSpPr>
        <p:spPr>
          <a:xfrm>
            <a:off x="9258289" y="5271784"/>
            <a:ext cx="457221" cy="939370"/>
          </a:xfrm>
          <a:prstGeom prst="rect">
            <a:avLst/>
          </a:prstGeom>
          <a:solidFill>
            <a:srgbClr val="D3D7EE"/>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7" name="直線矢印コネクタ 46">
            <a:extLst>
              <a:ext uri="{FF2B5EF4-FFF2-40B4-BE49-F238E27FC236}">
                <a16:creationId xmlns:a16="http://schemas.microsoft.com/office/drawing/2014/main" id="{50724F25-C313-7385-E84D-717CB268D622}"/>
              </a:ext>
            </a:extLst>
          </p:cNvPr>
          <p:cNvCxnSpPr>
            <a:cxnSpLocks/>
          </p:cNvCxnSpPr>
          <p:nvPr/>
        </p:nvCxnSpPr>
        <p:spPr>
          <a:xfrm>
            <a:off x="3952300" y="7129190"/>
            <a:ext cx="5298093" cy="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矢印コネクタ 48">
            <a:extLst>
              <a:ext uri="{FF2B5EF4-FFF2-40B4-BE49-F238E27FC236}">
                <a16:creationId xmlns:a16="http://schemas.microsoft.com/office/drawing/2014/main" id="{24D7D50B-5BD8-A2F4-137A-7340378AD9FB}"/>
              </a:ext>
            </a:extLst>
          </p:cNvPr>
          <p:cNvCxnSpPr>
            <a:cxnSpLocks/>
          </p:cNvCxnSpPr>
          <p:nvPr/>
        </p:nvCxnSpPr>
        <p:spPr>
          <a:xfrm flipH="1">
            <a:off x="3952300" y="5952848"/>
            <a:ext cx="5305989" cy="0"/>
          </a:xfrm>
          <a:prstGeom prst="straightConnector1">
            <a:avLst/>
          </a:prstGeom>
          <a:ln w="38100">
            <a:solidFill>
              <a:schemeClr val="tx1">
                <a:lumMod val="95000"/>
                <a:lumOff val="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1" name="テキスト ボックス 50">
            <a:extLst>
              <a:ext uri="{FF2B5EF4-FFF2-40B4-BE49-F238E27FC236}">
                <a16:creationId xmlns:a16="http://schemas.microsoft.com/office/drawing/2014/main" id="{9B6313D4-4827-A45F-1819-FB13FBA23C8B}"/>
              </a:ext>
            </a:extLst>
          </p:cNvPr>
          <p:cNvSpPr txBox="1"/>
          <p:nvPr/>
        </p:nvSpPr>
        <p:spPr>
          <a:xfrm>
            <a:off x="4998342" y="5600700"/>
            <a:ext cx="3289683" cy="369332"/>
          </a:xfrm>
          <a:prstGeom prst="rect">
            <a:avLst/>
          </a:prstGeom>
          <a:noFill/>
        </p:spPr>
        <p:txBody>
          <a:bodyPr wrap="square" rtlCol="0">
            <a:spAutoFit/>
          </a:bodyPr>
          <a:lstStyle/>
          <a:p>
            <a:r>
              <a:rPr kumimoji="1" lang="en-US" altLang="ja-JP" dirty="0"/>
              <a:t>“</a:t>
            </a:r>
            <a:r>
              <a:rPr kumimoji="1" lang="ja-JP" altLang="en-US"/>
              <a:t>ログイン完了</a:t>
            </a:r>
            <a:r>
              <a:rPr kumimoji="1" lang="en-US" altLang="ja-JP" dirty="0"/>
              <a:t>”</a:t>
            </a:r>
            <a:r>
              <a:rPr kumimoji="1" lang="ja-JP" altLang="en-US"/>
              <a:t>メッセージを返す</a:t>
            </a:r>
          </a:p>
        </p:txBody>
      </p:sp>
      <p:sp>
        <p:nvSpPr>
          <p:cNvPr id="53" name="正方形/長方形 52">
            <a:extLst>
              <a:ext uri="{FF2B5EF4-FFF2-40B4-BE49-F238E27FC236}">
                <a16:creationId xmlns:a16="http://schemas.microsoft.com/office/drawing/2014/main" id="{78C53BAD-2B70-BCC8-C6AD-127EDD65CFBC}"/>
              </a:ext>
            </a:extLst>
          </p:cNvPr>
          <p:cNvSpPr/>
          <p:nvPr/>
        </p:nvSpPr>
        <p:spPr>
          <a:xfrm>
            <a:off x="9258290" y="6760324"/>
            <a:ext cx="457221" cy="2269376"/>
          </a:xfrm>
          <a:prstGeom prst="rect">
            <a:avLst/>
          </a:prstGeom>
          <a:solidFill>
            <a:schemeClr val="accent2">
              <a:lumMod val="20000"/>
              <a:lumOff val="80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正方形/長方形 53">
            <a:extLst>
              <a:ext uri="{FF2B5EF4-FFF2-40B4-BE49-F238E27FC236}">
                <a16:creationId xmlns:a16="http://schemas.microsoft.com/office/drawing/2014/main" id="{605A5D7F-5E61-08AF-3132-4A12485B97CE}"/>
              </a:ext>
            </a:extLst>
          </p:cNvPr>
          <p:cNvSpPr/>
          <p:nvPr/>
        </p:nvSpPr>
        <p:spPr>
          <a:xfrm>
            <a:off x="14792046" y="6765255"/>
            <a:ext cx="457221" cy="2264444"/>
          </a:xfrm>
          <a:prstGeom prst="rect">
            <a:avLst/>
          </a:prstGeom>
          <a:solidFill>
            <a:schemeClr val="accent2">
              <a:lumMod val="20000"/>
              <a:lumOff val="80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テキスト ボックス 57">
            <a:extLst>
              <a:ext uri="{FF2B5EF4-FFF2-40B4-BE49-F238E27FC236}">
                <a16:creationId xmlns:a16="http://schemas.microsoft.com/office/drawing/2014/main" id="{7B0B9D6D-78DE-BB04-2121-393E8A5F77B2}"/>
              </a:ext>
            </a:extLst>
          </p:cNvPr>
          <p:cNvSpPr txBox="1"/>
          <p:nvPr/>
        </p:nvSpPr>
        <p:spPr>
          <a:xfrm>
            <a:off x="5296738" y="6765255"/>
            <a:ext cx="2792752" cy="369332"/>
          </a:xfrm>
          <a:prstGeom prst="rect">
            <a:avLst/>
          </a:prstGeom>
          <a:noFill/>
        </p:spPr>
        <p:txBody>
          <a:bodyPr wrap="square" rtlCol="0">
            <a:spAutoFit/>
          </a:bodyPr>
          <a:lstStyle/>
          <a:p>
            <a:r>
              <a:rPr kumimoji="1" lang="ja-JP" altLang="en-US"/>
              <a:t>“マッチング開始”をクリック</a:t>
            </a:r>
          </a:p>
        </p:txBody>
      </p:sp>
      <p:cxnSp>
        <p:nvCxnSpPr>
          <p:cNvPr id="59" name="直線矢印コネクタ 58">
            <a:extLst>
              <a:ext uri="{FF2B5EF4-FFF2-40B4-BE49-F238E27FC236}">
                <a16:creationId xmlns:a16="http://schemas.microsoft.com/office/drawing/2014/main" id="{C49AD8DC-82F4-D888-7236-1D8F8E8FEC83}"/>
              </a:ext>
            </a:extLst>
          </p:cNvPr>
          <p:cNvCxnSpPr>
            <a:cxnSpLocks/>
          </p:cNvCxnSpPr>
          <p:nvPr/>
        </p:nvCxnSpPr>
        <p:spPr>
          <a:xfrm flipH="1">
            <a:off x="3952300" y="7581880"/>
            <a:ext cx="5305989" cy="0"/>
          </a:xfrm>
          <a:prstGeom prst="straightConnector1">
            <a:avLst/>
          </a:prstGeom>
          <a:ln w="38100">
            <a:solidFill>
              <a:schemeClr val="tx1">
                <a:lumMod val="95000"/>
                <a:lumOff val="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7" name="テキスト ボックス 66">
            <a:extLst>
              <a:ext uri="{FF2B5EF4-FFF2-40B4-BE49-F238E27FC236}">
                <a16:creationId xmlns:a16="http://schemas.microsoft.com/office/drawing/2014/main" id="{A92B93C7-5108-680B-F505-BFB375410F7F}"/>
              </a:ext>
            </a:extLst>
          </p:cNvPr>
          <p:cNvSpPr txBox="1"/>
          <p:nvPr/>
        </p:nvSpPr>
        <p:spPr>
          <a:xfrm>
            <a:off x="4689628" y="7200880"/>
            <a:ext cx="4068743" cy="369332"/>
          </a:xfrm>
          <a:prstGeom prst="rect">
            <a:avLst/>
          </a:prstGeom>
          <a:noFill/>
        </p:spPr>
        <p:txBody>
          <a:bodyPr wrap="square" rtlCol="0">
            <a:spAutoFit/>
          </a:bodyPr>
          <a:lstStyle/>
          <a:p>
            <a:r>
              <a:rPr kumimoji="1" lang="ja-JP" altLang="en-US"/>
              <a:t>マッチング相手との通話スペースへ招待</a:t>
            </a:r>
          </a:p>
        </p:txBody>
      </p:sp>
      <p:cxnSp>
        <p:nvCxnSpPr>
          <p:cNvPr id="68" name="直線矢印コネクタ 67">
            <a:extLst>
              <a:ext uri="{FF2B5EF4-FFF2-40B4-BE49-F238E27FC236}">
                <a16:creationId xmlns:a16="http://schemas.microsoft.com/office/drawing/2014/main" id="{CB2F4354-5D2A-9DAD-5F88-D0498A940C50}"/>
              </a:ext>
            </a:extLst>
          </p:cNvPr>
          <p:cNvCxnSpPr>
            <a:cxnSpLocks/>
          </p:cNvCxnSpPr>
          <p:nvPr/>
        </p:nvCxnSpPr>
        <p:spPr>
          <a:xfrm>
            <a:off x="3960196" y="8081752"/>
            <a:ext cx="5298093" cy="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9" name="テキスト ボックス 68">
            <a:extLst>
              <a:ext uri="{FF2B5EF4-FFF2-40B4-BE49-F238E27FC236}">
                <a16:creationId xmlns:a16="http://schemas.microsoft.com/office/drawing/2014/main" id="{CA361349-B3A3-A370-3595-C7B863D92254}"/>
              </a:ext>
            </a:extLst>
          </p:cNvPr>
          <p:cNvSpPr txBox="1"/>
          <p:nvPr/>
        </p:nvSpPr>
        <p:spPr>
          <a:xfrm>
            <a:off x="5714320" y="7734280"/>
            <a:ext cx="1957587" cy="369332"/>
          </a:xfrm>
          <a:prstGeom prst="rect">
            <a:avLst/>
          </a:prstGeom>
          <a:noFill/>
        </p:spPr>
        <p:txBody>
          <a:bodyPr wrap="square" rtlCol="0">
            <a:spAutoFit/>
          </a:bodyPr>
          <a:lstStyle/>
          <a:p>
            <a:r>
              <a:rPr kumimoji="1" lang="ja-JP" altLang="en-US"/>
              <a:t>音声データの取得</a:t>
            </a:r>
          </a:p>
        </p:txBody>
      </p:sp>
      <p:cxnSp>
        <p:nvCxnSpPr>
          <p:cNvPr id="70" name="直線矢印コネクタ 69">
            <a:extLst>
              <a:ext uri="{FF2B5EF4-FFF2-40B4-BE49-F238E27FC236}">
                <a16:creationId xmlns:a16="http://schemas.microsoft.com/office/drawing/2014/main" id="{C5FE9134-F56A-ED3B-DCAD-8F2025452064}"/>
              </a:ext>
            </a:extLst>
          </p:cNvPr>
          <p:cNvCxnSpPr>
            <a:cxnSpLocks/>
          </p:cNvCxnSpPr>
          <p:nvPr/>
        </p:nvCxnSpPr>
        <p:spPr>
          <a:xfrm>
            <a:off x="9735492" y="8424590"/>
            <a:ext cx="5052253" cy="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2" name="テキスト ボックス 71">
            <a:extLst>
              <a:ext uri="{FF2B5EF4-FFF2-40B4-BE49-F238E27FC236}">
                <a16:creationId xmlns:a16="http://schemas.microsoft.com/office/drawing/2014/main" id="{E4F3A499-4297-7B77-CD8F-9F111EEDFF0A}"/>
              </a:ext>
            </a:extLst>
          </p:cNvPr>
          <p:cNvSpPr txBox="1"/>
          <p:nvPr/>
        </p:nvSpPr>
        <p:spPr>
          <a:xfrm>
            <a:off x="10789394" y="8039080"/>
            <a:ext cx="3171061" cy="369332"/>
          </a:xfrm>
          <a:prstGeom prst="rect">
            <a:avLst/>
          </a:prstGeom>
          <a:noFill/>
        </p:spPr>
        <p:txBody>
          <a:bodyPr wrap="square" rtlCol="0">
            <a:spAutoFit/>
          </a:bodyPr>
          <a:lstStyle/>
          <a:p>
            <a:r>
              <a:rPr kumimoji="1" lang="ja-JP" altLang="en-US"/>
              <a:t>興味関心ラベル</a:t>
            </a:r>
            <a:r>
              <a:rPr kumimoji="1" lang="en-US" altLang="ja-JP" dirty="0"/>
              <a:t>/</a:t>
            </a:r>
            <a:r>
              <a:rPr kumimoji="1" lang="ja-JP" altLang="en-US"/>
              <a:t>スコアを追加</a:t>
            </a:r>
          </a:p>
        </p:txBody>
      </p:sp>
      <p:cxnSp>
        <p:nvCxnSpPr>
          <p:cNvPr id="74" name="直線矢印コネクタ 73">
            <a:extLst>
              <a:ext uri="{FF2B5EF4-FFF2-40B4-BE49-F238E27FC236}">
                <a16:creationId xmlns:a16="http://schemas.microsoft.com/office/drawing/2014/main" id="{2F99B772-4F81-AE6B-9073-6926FC9EEBC2}"/>
              </a:ext>
            </a:extLst>
          </p:cNvPr>
          <p:cNvCxnSpPr>
            <a:cxnSpLocks/>
          </p:cNvCxnSpPr>
          <p:nvPr/>
        </p:nvCxnSpPr>
        <p:spPr>
          <a:xfrm flipH="1">
            <a:off x="9727001" y="8801120"/>
            <a:ext cx="5060743" cy="0"/>
          </a:xfrm>
          <a:prstGeom prst="straightConnector1">
            <a:avLst/>
          </a:prstGeom>
          <a:ln w="38100">
            <a:solidFill>
              <a:schemeClr val="tx1">
                <a:lumMod val="95000"/>
                <a:lumOff val="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5" name="テキスト ボックス 74">
            <a:extLst>
              <a:ext uri="{FF2B5EF4-FFF2-40B4-BE49-F238E27FC236}">
                <a16:creationId xmlns:a16="http://schemas.microsoft.com/office/drawing/2014/main" id="{EA251FF4-5F7F-A000-3340-D0570FAB3970}"/>
              </a:ext>
            </a:extLst>
          </p:cNvPr>
          <p:cNvSpPr txBox="1"/>
          <p:nvPr/>
        </p:nvSpPr>
        <p:spPr>
          <a:xfrm>
            <a:off x="11215409" y="8420100"/>
            <a:ext cx="2199641" cy="369332"/>
          </a:xfrm>
          <a:prstGeom prst="rect">
            <a:avLst/>
          </a:prstGeom>
          <a:noFill/>
        </p:spPr>
        <p:txBody>
          <a:bodyPr wrap="square" rtlCol="0">
            <a:spAutoFit/>
          </a:bodyPr>
          <a:lstStyle/>
          <a:p>
            <a:r>
              <a:rPr kumimoji="1" lang="ja-JP" altLang="en-US"/>
              <a:t>ユーザー情報を更新</a:t>
            </a:r>
          </a:p>
        </p:txBody>
      </p:sp>
    </p:spTree>
    <p:extLst>
      <p:ext uri="{BB962C8B-B14F-4D97-AF65-F5344CB8AC3E}">
        <p14:creationId xmlns:p14="http://schemas.microsoft.com/office/powerpoint/2010/main" val="34446432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2963</TotalTime>
  <Words>1158</Words>
  <Application>Microsoft Macintosh PowerPoint</Application>
  <PresentationFormat>ユーザー設定</PresentationFormat>
  <Paragraphs>173</Paragraphs>
  <Slides>10</Slides>
  <Notes>8</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10</vt:i4>
      </vt:variant>
    </vt:vector>
  </HeadingPairs>
  <TitlesOfParts>
    <vt:vector size="15" baseType="lpstr">
      <vt:lpstr>游ゴシック</vt:lpstr>
      <vt:lpstr>Calibri</vt:lpstr>
      <vt:lpstr>游ゴシック</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白　シンプル　年次報告書　プレゼンテーション</dc:title>
  <cp:lastModifiedBy>Momoko SHIRAKAWA</cp:lastModifiedBy>
  <cp:revision>45</cp:revision>
  <dcterms:created xsi:type="dcterms:W3CDTF">2006-08-16T00:00:00Z</dcterms:created>
  <dcterms:modified xsi:type="dcterms:W3CDTF">2025-03-28T04:55:00Z</dcterms:modified>
  <dc:identifier>DAGbYeCuyz0</dc:identifier>
</cp:coreProperties>
</file>