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87" r:id="rId3"/>
    <p:sldId id="292" r:id="rId4"/>
    <p:sldId id="293" r:id="rId5"/>
    <p:sldId id="294" r:id="rId6"/>
    <p:sldId id="295" r:id="rId7"/>
    <p:sldId id="284" r:id="rId8"/>
    <p:sldId id="297" r:id="rId9"/>
    <p:sldId id="296" r:id="rId10"/>
    <p:sldId id="288" r:id="rId11"/>
  </p:sldIdLst>
  <p:sldSz cx="18288000" cy="10287000"/>
  <p:notesSz cx="6858000" cy="9144000"/>
  <p:embeddedFontLst>
    <p:embeddedFont>
      <p:font typeface="游ゴシック" panose="020B0400000000000000" pitchFamily="34" charset="-128"/>
      <p:regular r:id="rId13"/>
      <p:bold r:id="rId14"/>
    </p:embeddedFont>
    <p:embeddedFont>
      <p:font typeface="游ゴシック" panose="020B0400000000000000" pitchFamily="34" charset="-128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8E1"/>
    <a:srgbClr val="FFF3B9"/>
    <a:srgbClr val="F7E7AF"/>
    <a:srgbClr val="CFE7F0"/>
    <a:srgbClr val="F4D6E9"/>
    <a:srgbClr val="EDF4BF"/>
    <a:srgbClr val="F4E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淡色スタイル 1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間スタイル 4 - アクセント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中間スタイル 4 - アクセント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355" autoAdjust="0"/>
    <p:restoredTop sz="91704" autoAdjust="0"/>
  </p:normalViewPr>
  <p:slideViewPr>
    <p:cSldViewPr>
      <p:cViewPr>
        <p:scale>
          <a:sx n="102" d="100"/>
          <a:sy n="102" d="100"/>
        </p:scale>
        <p:origin x="1176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5D7B3-D8F9-DB42-9752-C640A49B89F2}" type="datetimeFigureOut">
              <a:rPr kumimoji="1" lang="ja-JP" altLang="en-US" smtClean="0"/>
              <a:t>2025/6/12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3E85BE-9FAD-764D-B84A-7C70829A20A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19586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　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4918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59249-9173-F34E-B829-B7D5B2D15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F544242-C0FD-A332-929A-EB13E87D5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DA3C391-C198-5661-2E13-915350F54A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　</a:t>
            </a:r>
            <a:r>
              <a:rPr kumimoji="1" lang="en-US" altLang="ja-JP" dirty="0" err="1"/>
              <a:t>django</a:t>
            </a:r>
            <a:r>
              <a:rPr kumimoji="1" lang="ja-JP" altLang="en-US"/>
              <a:t>からリクエストを投げる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AB182DD-4768-E849-D276-F2BCF1BFD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3231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B0528-F736-36EF-97B7-A9EDEBC10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FFF8D68-25AD-D7B0-437C-3D5B62B597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2DC6F48-CBE3-05AB-D506-97EA278B1E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　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7CDFCE0-D4C3-5EC8-8EF5-964963675E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0822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D2328-F59B-5C44-297C-B9DCCE810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AD6B953-DD25-7C8F-7C4C-89EA4B425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A87D3A8C-4B44-260A-D57E-AF2B3A4670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　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D7F4B04-8CA7-BFEC-8836-42E49ED673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0750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3BD680-C940-D46A-D7A5-922F641B0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1ADA2A-7FE2-5E65-B3A3-0A58438DED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D49D6E0-2962-2E90-280D-2F527928BF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SQLite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はローカルの軽量データベースであり，非常に大きなテキストデータの格納，効率的にクエリを実行するのには向いていない．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GCS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からテキストを読み込む方がはるかに高速かつ柔軟である．興味関心だけ</a:t>
            </a:r>
            <a:r>
              <a:rPr kumimoji="1" lang="en-US" altLang="ja-JP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SLite</a:t>
            </a:r>
            <a:r>
              <a:rPr kumimoji="1" lang="ja-JP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に格納するのが最も効果的な設計である．</a:t>
            </a:r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27B6398-B3EE-18A5-B599-4DD44FEAB2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7209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18567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DF0DF-3BEC-BA74-C818-A6EA66501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B5A4BD6E-625A-0151-A022-214FAEF995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7264B8-74A2-3B4D-3AEA-D34369830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E4CE79A-63AD-102E-A79B-0DB70E86D4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880261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テーブル　個人情報，興味関心の</a:t>
            </a:r>
            <a:r>
              <a:rPr kumimoji="1" lang="en-US" altLang="ja-JP" dirty="0"/>
              <a:t>2</a:t>
            </a:r>
            <a:r>
              <a:rPr kumimoji="1" lang="ja-JP" altLang="en-US"/>
              <a:t>つ</a:t>
            </a:r>
            <a:endParaRPr kumimoji="1" lang="en-US" altLang="ja-JP" dirty="0"/>
          </a:p>
          <a:p>
            <a:r>
              <a:rPr kumimoji="1" lang="ja-JP" altLang="en-US"/>
              <a:t>マッチングの仕方を考える，ユーザーを作ってみる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3E85BE-9FAD-764D-B84A-7C70829A20A9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784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27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sv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31.svg"/><Relationship Id="rId20" Type="http://schemas.openxmlformats.org/officeDocument/2006/relationships/image" Target="../media/image20.png"/><Relationship Id="rId29" Type="http://schemas.openxmlformats.org/officeDocument/2006/relationships/image" Target="../media/image2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30.png"/><Relationship Id="rId23" Type="http://schemas.openxmlformats.org/officeDocument/2006/relationships/image" Target="../media/image23.svg"/><Relationship Id="rId28" Type="http://schemas.openxmlformats.org/officeDocument/2006/relationships/image" Target="../media/image28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27.sv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32.pn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29.sv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28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svg"/><Relationship Id="rId28" Type="http://schemas.openxmlformats.org/officeDocument/2006/relationships/image" Target="../media/image34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31" Type="http://schemas.openxmlformats.org/officeDocument/2006/relationships/image" Target="../media/image27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33.svg"/><Relationship Id="rId30" Type="http://schemas.openxmlformats.org/officeDocument/2006/relationships/image" Target="../media/image26.svg"/><Relationship Id="rId8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32.pn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29.sv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28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svg"/><Relationship Id="rId28" Type="http://schemas.openxmlformats.org/officeDocument/2006/relationships/image" Target="../media/image34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31" Type="http://schemas.openxmlformats.org/officeDocument/2006/relationships/image" Target="../media/image27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33.svg"/><Relationship Id="rId30" Type="http://schemas.openxmlformats.org/officeDocument/2006/relationships/image" Target="../media/image26.svg"/><Relationship Id="rId8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32.png"/><Relationship Id="rId3" Type="http://schemas.openxmlformats.org/officeDocument/2006/relationships/image" Target="../media/image3.png"/><Relationship Id="rId21" Type="http://schemas.openxmlformats.org/officeDocument/2006/relationships/image" Target="../media/image21.svg"/><Relationship Id="rId7" Type="http://schemas.openxmlformats.org/officeDocument/2006/relationships/image" Target="../media/image7.pn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5" Type="http://schemas.openxmlformats.org/officeDocument/2006/relationships/image" Target="../media/image25.svg"/><Relationship Id="rId33" Type="http://schemas.openxmlformats.org/officeDocument/2006/relationships/image" Target="../media/image29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6.svg"/><Relationship Id="rId20" Type="http://schemas.openxmlformats.org/officeDocument/2006/relationships/image" Target="../media/image20.png"/><Relationship Id="rId29" Type="http://schemas.openxmlformats.org/officeDocument/2006/relationships/image" Target="../media/image35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28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svg"/><Relationship Id="rId28" Type="http://schemas.openxmlformats.org/officeDocument/2006/relationships/image" Target="../media/image34.png"/><Relationship Id="rId10" Type="http://schemas.openxmlformats.org/officeDocument/2006/relationships/image" Target="../media/image10.svg"/><Relationship Id="rId19" Type="http://schemas.openxmlformats.org/officeDocument/2006/relationships/image" Target="../media/image19.svg"/><Relationship Id="rId31" Type="http://schemas.openxmlformats.org/officeDocument/2006/relationships/image" Target="../media/image27.svg"/><Relationship Id="rId4" Type="http://schemas.openxmlformats.org/officeDocument/2006/relationships/image" Target="../media/image4.svg"/><Relationship Id="rId9" Type="http://schemas.openxmlformats.org/officeDocument/2006/relationships/image" Target="../media/image9.png"/><Relationship Id="rId14" Type="http://schemas.openxmlformats.org/officeDocument/2006/relationships/image" Target="../media/image14.svg"/><Relationship Id="rId22" Type="http://schemas.openxmlformats.org/officeDocument/2006/relationships/image" Target="../media/image22.png"/><Relationship Id="rId27" Type="http://schemas.openxmlformats.org/officeDocument/2006/relationships/image" Target="../media/image33.svg"/><Relationship Id="rId30" Type="http://schemas.openxmlformats.org/officeDocument/2006/relationships/image" Target="../media/image26.svg"/><Relationship Id="rId8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7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13" Type="http://schemas.openxmlformats.org/officeDocument/2006/relationships/image" Target="../media/image38.svg"/><Relationship Id="rId3" Type="http://schemas.openxmlformats.org/officeDocument/2006/relationships/image" Target="../media/image9.png"/><Relationship Id="rId7" Type="http://schemas.openxmlformats.org/officeDocument/2006/relationships/image" Target="../media/image20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2.png"/><Relationship Id="rId5" Type="http://schemas.openxmlformats.org/officeDocument/2006/relationships/image" Target="../media/image18.png"/><Relationship Id="rId10" Type="http://schemas.openxmlformats.org/officeDocument/2006/relationships/image" Target="../media/image8.svg"/><Relationship Id="rId4" Type="http://schemas.openxmlformats.org/officeDocument/2006/relationships/image" Target="../media/image10.sv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/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Freeform 5"/>
          <p:cNvSpPr/>
          <p:nvPr/>
        </p:nvSpPr>
        <p:spPr>
          <a:xfrm flipH="1">
            <a:off x="13374676" y="1505082"/>
            <a:ext cx="5352794" cy="6277264"/>
          </a:xfrm>
          <a:custGeom>
            <a:avLst/>
            <a:gdLst/>
            <a:ahLst/>
            <a:cxnLst/>
            <a:rect l="l" t="t" r="r" b="b"/>
            <a:pathLst>
              <a:path w="5352794" h="6277264">
                <a:moveTo>
                  <a:pt x="5352794" y="0"/>
                </a:moveTo>
                <a:lnTo>
                  <a:pt x="0" y="0"/>
                </a:lnTo>
                <a:lnTo>
                  <a:pt x="0" y="6277264"/>
                </a:lnTo>
                <a:lnTo>
                  <a:pt x="5352794" y="6277264"/>
                </a:lnTo>
                <a:lnTo>
                  <a:pt x="5352794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857250" y="7025641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00200" y="2662210"/>
            <a:ext cx="11049000" cy="4092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199"/>
              </a:lnSpc>
            </a:pPr>
            <a:r>
              <a:rPr lang="en-US" sz="7200" b="1" spc="399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</a:t>
            </a:r>
            <a:endParaRPr lang="en-US" sz="7200" b="1" spc="399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  <a:p>
            <a:pPr>
              <a:lnSpc>
                <a:spcPts val="11199"/>
              </a:lnSpc>
            </a:pPr>
            <a:r>
              <a:rPr lang="en-US" sz="7200" b="1" spc="399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サービスを実現したい</a:t>
            </a:r>
            <a:r>
              <a:rPr lang="en-US" sz="72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！</a:t>
            </a:r>
          </a:p>
          <a:p>
            <a:pPr>
              <a:lnSpc>
                <a:spcPts val="11199"/>
              </a:lnSpc>
            </a:pPr>
            <a:r>
              <a:rPr lang="en-US" sz="40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- </a:t>
            </a:r>
            <a:r>
              <a:rPr lang="en-US" sz="4000" b="1" spc="399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必要な技術要素と今後のタスク</a:t>
            </a:r>
            <a:r>
              <a:rPr lang="en-US" sz="4000" b="1" spc="399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 -</a:t>
            </a:r>
          </a:p>
        </p:txBody>
      </p: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66BA20F-ACCC-3614-9C86-45BD6A5FA5CC}"/>
              </a:ext>
            </a:extLst>
          </p:cNvPr>
          <p:cNvGrpSpPr/>
          <p:nvPr/>
        </p:nvGrpSpPr>
        <p:grpSpPr>
          <a:xfrm>
            <a:off x="1600200" y="1545426"/>
            <a:ext cx="4884852" cy="1116784"/>
            <a:chOff x="1509934" y="1505131"/>
            <a:chExt cx="4884852" cy="1116784"/>
          </a:xfrm>
        </p:grpSpPr>
        <p:grpSp>
          <p:nvGrpSpPr>
            <p:cNvPr id="10" name="Group 10"/>
            <p:cNvGrpSpPr/>
            <p:nvPr/>
          </p:nvGrpSpPr>
          <p:grpSpPr>
            <a:xfrm>
              <a:off x="1722038" y="1505131"/>
              <a:ext cx="4466087" cy="686116"/>
              <a:chOff x="0" y="0"/>
              <a:chExt cx="906552" cy="180706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906552" cy="180706"/>
              </a:xfrm>
              <a:custGeom>
                <a:avLst/>
                <a:gdLst/>
                <a:ahLst/>
                <a:cxnLst/>
                <a:rect l="l" t="t" r="r" b="b"/>
                <a:pathLst>
                  <a:path w="906552" h="180706">
                    <a:moveTo>
                      <a:pt x="0" y="0"/>
                    </a:moveTo>
                    <a:lnTo>
                      <a:pt x="906552" y="0"/>
                    </a:lnTo>
                    <a:lnTo>
                      <a:pt x="906552" y="180706"/>
                    </a:lnTo>
                    <a:lnTo>
                      <a:pt x="0" y="180706"/>
                    </a:lnTo>
                    <a:close/>
                  </a:path>
                </a:pathLst>
              </a:custGeom>
              <a:solidFill>
                <a:srgbClr val="1B1B1B"/>
              </a:solidFill>
            </p:spPr>
            <p:txBody>
              <a:bodyPr/>
              <a:lstStyle/>
              <a:p>
                <a:endParaRPr lang="ja-JP" altLang="en-US"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0" y="-47625"/>
                <a:ext cx="906552" cy="22833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3359"/>
                  </a:lnSpc>
                </a:pPr>
                <a:endParaRPr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1509934" y="1580091"/>
              <a:ext cx="4884852" cy="104182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99"/>
                </a:lnSpc>
              </a:pPr>
              <a:r>
                <a:rPr lang="ja-JP" altLang="en-US" sz="2999" b="1" spc="149">
                  <a:solidFill>
                    <a:srgbClr val="F6F6F6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Noto Sans JP Bold"/>
                  <a:sym typeface="Noto Sans JP Bold"/>
                </a:rPr>
                <a:t>発表日：</a:t>
              </a:r>
              <a:r>
                <a:rPr lang="en-US" altLang="ja-JP" sz="2999" b="1" spc="149" dirty="0">
                  <a:solidFill>
                    <a:srgbClr val="F6F6F6"/>
                  </a:solidFill>
                  <a:latin typeface="Yu Gothic" panose="020B0400000000000000" pitchFamily="34" charset="-128"/>
                  <a:ea typeface="Yu Gothic" panose="020B0400000000000000" pitchFamily="34" charset="-128"/>
                  <a:cs typeface="Noto Sans JP Bold"/>
                  <a:sym typeface="Noto Sans JP Bold"/>
                </a:rPr>
                <a:t>2025/05/23</a:t>
              </a:r>
            </a:p>
            <a:p>
              <a:pPr algn="ctr">
                <a:lnSpc>
                  <a:spcPts val="4199"/>
                </a:lnSpc>
              </a:pPr>
              <a:endParaRPr lang="en-US" sz="2999" b="1" spc="149" dirty="0">
                <a:solidFill>
                  <a:srgbClr val="F6F6F6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Bold"/>
                <a:sym typeface="Noto Sans JP Bold"/>
              </a:endParaRP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00200" y="7371895"/>
            <a:ext cx="4471529" cy="522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sz="2499" b="1" spc="124" dirty="0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ML/DS</a:t>
            </a:r>
            <a:r>
              <a:rPr lang="ja-JP" altLang="en-US" sz="2499" b="1" spc="124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白川桃子</a:t>
            </a:r>
            <a:endParaRPr lang="en-US" sz="2499" b="1" spc="124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5E87F1-FD14-EC7B-D56D-EEEB306EB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AEBAD657-A47A-0346-23E7-56CF3B42F58C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9AED69C-9C5C-13A7-1D84-B0C270FB5814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BA38E1E-EA2A-3554-1657-5C685A5666C9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59EFD09-4533-CBFF-0411-21377E8FE492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A29F58B-C3D6-AEA8-BA81-7BFB498DC88E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9E320ACE-07B2-106C-E492-C512470ED255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D1713880-ED22-ECF9-ECC1-143A9A6A761A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09B5832-39F6-FFB2-7083-D702095A824E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43275268-462E-CF6D-71CB-F2244641E34E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60195FC8-8B47-6302-3482-E8BAD62C8055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5E6B5B4-EFC5-156F-66B8-08BE41CD57FF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9892E33D-ABFF-42D5-CA65-AEABFB5ACE3F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6A451030-3030-B0E2-81C7-9AB33C69B71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13C9235-E276-F567-8D73-8E5B988930A1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AEEE6629-B067-CEF1-5958-5362B58CB281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48941D7C-BE7B-710D-F11B-15756D05B30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C77DB24D-CBBC-6505-8B5D-A19702939925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821460D5-8B08-1179-FF78-685AF7FA7F85}"/>
              </a:ext>
            </a:extLst>
          </p:cNvPr>
          <p:cNvGrpSpPr/>
          <p:nvPr/>
        </p:nvGrpSpPr>
        <p:grpSpPr>
          <a:xfrm>
            <a:off x="11965490" y="5946787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2AE4931F-F9BD-C1E8-8EA5-F168B91E56C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1EEEB8BE-D799-2664-8A54-B7C9BA1A9CB6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CA6AF69F-2810-D605-4A65-0350C5BD979E}"/>
              </a:ext>
            </a:extLst>
          </p:cNvPr>
          <p:cNvGrpSpPr/>
          <p:nvPr/>
        </p:nvGrpSpPr>
        <p:grpSpPr>
          <a:xfrm>
            <a:off x="8451602" y="5821161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3EC7E8D6-A9E9-9255-68E3-E10A0D81732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732C5503-91E9-6D07-2E53-B66F4ADE59A6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7430B29A-86E5-92FD-85EB-B73F5ED88DB0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4CA2EFA8-D79E-6A62-6502-12BA51AEA64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5A77B9C6-AC22-4FD7-8621-BF8799ACF2D9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69877350-BA03-4146-1290-17FB7CDBFD4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FA95965F-9C24-9EF0-DC3E-795BCA13149A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76014496-8700-2CC9-6ECE-FCF7C59B7E4D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FE429E25-F6B2-DB11-22AD-558A02B135A2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9A786BC0-633C-89DD-76ED-D4ED29C1120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05B8913E-569F-137C-2AD4-C7CB9100E1E9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B1EA753B-C0F1-C114-01AB-754C9CF0574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6AE4D37B-A477-D1C5-2E68-F0061A83CABB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BAAA8BF6-4640-9274-98D9-E61AF8ED808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F758BC07-16F0-B2B7-E584-5278B340DE5F}"/>
              </a:ext>
            </a:extLst>
          </p:cNvPr>
          <p:cNvCxnSpPr>
            <a:cxnSpLocks/>
          </p:cNvCxnSpPr>
          <p:nvPr/>
        </p:nvCxnSpPr>
        <p:spPr>
          <a:xfrm>
            <a:off x="5257800" y="4533900"/>
            <a:ext cx="0" cy="1143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72E15E6C-73A8-C704-F15A-992EFFB1BC4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08492" y="4641534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8A03EE21-7D1F-F2A3-B0EE-C5EAAD56CD9A}"/>
              </a:ext>
            </a:extLst>
          </p:cNvPr>
          <p:cNvGrpSpPr/>
          <p:nvPr/>
        </p:nvGrpSpPr>
        <p:grpSpPr>
          <a:xfrm>
            <a:off x="4286660" y="5600700"/>
            <a:ext cx="2113079" cy="2604998"/>
            <a:chOff x="2728937" y="6122140"/>
            <a:chExt cx="2113079" cy="2604998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5DF6B8AA-D473-3649-388D-79671053C75D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6E6B7711-E43D-F9D3-812B-A1AD7A8AD80B}"/>
                </a:ext>
              </a:extLst>
            </p:cNvPr>
            <p:cNvSpPr txBox="1"/>
            <p:nvPr/>
          </p:nvSpPr>
          <p:spPr>
            <a:xfrm>
              <a:off x="2728937" y="7773031"/>
              <a:ext cx="211307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分析</a:t>
              </a:r>
              <a:endParaRPr kumimoji="1" lang="en-US" altLang="ja-JP" sz="2400" b="1" dirty="0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/>
              <a:r>
                <a:rPr kumimoji="1" lang="en-US" altLang="ja-JP" sz="16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  <a:p>
              <a:pPr algn="ctr"/>
              <a:r>
                <a:rPr kumimoji="1" lang="ja-JP" altLang="en-US" sz="16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14D54574-1919-AF86-5D93-166353CAC04C}"/>
              </a:ext>
            </a:extLst>
          </p:cNvPr>
          <p:cNvCxnSpPr>
            <a:cxnSpLocks/>
          </p:cNvCxnSpPr>
          <p:nvPr/>
        </p:nvCxnSpPr>
        <p:spPr>
          <a:xfrm>
            <a:off x="6307675" y="6349731"/>
            <a:ext cx="225569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0A414D82-115C-432B-4467-20249AB7282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013484" y="5846375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99E1AF6A-DBB9-5514-6578-BB8A929E0EBF}"/>
              </a:ext>
            </a:extLst>
          </p:cNvPr>
          <p:cNvGrpSpPr/>
          <p:nvPr/>
        </p:nvGrpSpPr>
        <p:grpSpPr>
          <a:xfrm>
            <a:off x="15316221" y="5816533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130C339F-4D05-40CD-BFE8-49F0DA7A10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864226C7-B22A-9576-07A4-A30319BA2099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7105FADE-456C-584E-4FEF-0C983B909172}"/>
              </a:ext>
            </a:extLst>
          </p:cNvPr>
          <p:cNvCxnSpPr>
            <a:cxnSpLocks/>
          </p:cNvCxnSpPr>
          <p:nvPr/>
        </p:nvCxnSpPr>
        <p:spPr>
          <a:xfrm>
            <a:off x="9968642" y="636861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EEF3AD40-1C8D-FEB1-C7AB-E5CC12489332}"/>
              </a:ext>
            </a:extLst>
          </p:cNvPr>
          <p:cNvCxnSpPr>
            <a:cxnSpLocks/>
          </p:cNvCxnSpPr>
          <p:nvPr/>
        </p:nvCxnSpPr>
        <p:spPr>
          <a:xfrm>
            <a:off x="134702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0A6A9963-420F-3D86-E7FA-9D83CFF44CD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40070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FDD4FAF7-5A81-F822-57B9-9E1FC6BE4C05}"/>
              </a:ext>
            </a:extLst>
          </p:cNvPr>
          <p:cNvCxnSpPr>
            <a:cxnSpLocks/>
          </p:cNvCxnSpPr>
          <p:nvPr/>
        </p:nvCxnSpPr>
        <p:spPr>
          <a:xfrm>
            <a:off x="99686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2E68D9E0-46F1-AA44-E81C-E60078D66E1F}"/>
              </a:ext>
            </a:extLst>
          </p:cNvPr>
          <p:cNvCxnSpPr>
            <a:cxnSpLocks/>
          </p:cNvCxnSpPr>
          <p:nvPr/>
        </p:nvCxnSpPr>
        <p:spPr>
          <a:xfrm>
            <a:off x="13532957" y="634239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6A017571-F41B-1F9A-2A02-94631B92700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588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60DEF2E2-A270-5549-E67D-E5A0531976C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8775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76ECD483-8618-CDAB-9EA9-81DC25AF1D9C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0033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9F68F546-0BFA-14F7-EF42-68548A7678ED}"/>
              </a:ext>
            </a:extLst>
          </p:cNvPr>
          <p:cNvCxnSpPr>
            <a:cxnSpLocks/>
          </p:cNvCxnSpPr>
          <p:nvPr/>
        </p:nvCxnSpPr>
        <p:spPr>
          <a:xfrm flipV="1">
            <a:off x="2001899" y="8741919"/>
            <a:ext cx="14152511" cy="860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08344B42-7123-950E-7DCD-064503941709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16154410" y="7710804"/>
            <a:ext cx="0" cy="105728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5B4FA168-9CAD-4E22-40BE-167953E2AB2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519350" y="6665934"/>
            <a:ext cx="624053" cy="624053"/>
          </a:xfrm>
          <a:prstGeom prst="rect">
            <a:avLst/>
          </a:prstGeom>
        </p:spPr>
      </p:pic>
      <p:grpSp>
        <p:nvGrpSpPr>
          <p:cNvPr id="148" name="グループ化 147">
            <a:extLst>
              <a:ext uri="{FF2B5EF4-FFF2-40B4-BE49-F238E27FC236}">
                <a16:creationId xmlns:a16="http://schemas.microsoft.com/office/drawing/2014/main" id="{493B3379-BFE6-5BCB-B8A6-5DF10C5A4993}"/>
              </a:ext>
            </a:extLst>
          </p:cNvPr>
          <p:cNvGrpSpPr/>
          <p:nvPr/>
        </p:nvGrpSpPr>
        <p:grpSpPr>
          <a:xfrm>
            <a:off x="13545657" y="2552260"/>
            <a:ext cx="4552419" cy="2812676"/>
            <a:chOff x="13639800" y="2361306"/>
            <a:chExt cx="4552419" cy="2812676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4CC0016B-501C-2E9A-355D-EFD4522585D6}"/>
                </a:ext>
              </a:extLst>
            </p:cNvPr>
            <p:cNvSpPr/>
            <p:nvPr/>
          </p:nvSpPr>
          <p:spPr>
            <a:xfrm>
              <a:off x="13639800" y="2361306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147" name="グループ化 146">
              <a:extLst>
                <a:ext uri="{FF2B5EF4-FFF2-40B4-BE49-F238E27FC236}">
                  <a16:creationId xmlns:a16="http://schemas.microsoft.com/office/drawing/2014/main" id="{EFBF1F7B-971C-CC9D-A15A-08D642499E79}"/>
                </a:ext>
              </a:extLst>
            </p:cNvPr>
            <p:cNvGrpSpPr/>
            <p:nvPr/>
          </p:nvGrpSpPr>
          <p:grpSpPr>
            <a:xfrm>
              <a:off x="13928033" y="2445931"/>
              <a:ext cx="4264186" cy="2615481"/>
              <a:chOff x="13928033" y="2445931"/>
              <a:chExt cx="4264186" cy="2615481"/>
            </a:xfrm>
          </p:grpSpPr>
          <p:sp>
            <p:nvSpPr>
              <p:cNvPr id="87" name="テキスト ボックス 86">
                <a:extLst>
                  <a:ext uri="{FF2B5EF4-FFF2-40B4-BE49-F238E27FC236}">
                    <a16:creationId xmlns:a16="http://schemas.microsoft.com/office/drawing/2014/main" id="{5196FE82-DAC5-FA97-E06A-58C9714AEA6F}"/>
                  </a:ext>
                </a:extLst>
              </p:cNvPr>
              <p:cNvSpPr txBox="1"/>
              <p:nvPr/>
            </p:nvSpPr>
            <p:spPr>
              <a:xfrm>
                <a:off x="14545067" y="2735113"/>
                <a:ext cx="3647152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：音声データ</a:t>
                </a:r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：文字データ</a:t>
                </a: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：ラベル</a:t>
                </a:r>
                <a:r>
                  <a:rPr kumimoji="1" lang="en-US" altLang="ja-JP" b="1" dirty="0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/</a:t>
                </a:r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スコア</a:t>
                </a:r>
                <a:r>
                  <a:rPr kumimoji="1" lang="en-US" altLang="ja-JP" b="1" dirty="0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/</a:t>
                </a:r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マッチング結果</a:t>
                </a:r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：プロフィール</a:t>
                </a:r>
              </a:p>
            </p:txBody>
          </p:sp>
          <p:pic>
            <p:nvPicPr>
              <p:cNvPr id="139" name="グラフィックス 138" descr="音符 単色塗りつぶし">
                <a:extLst>
                  <a:ext uri="{FF2B5EF4-FFF2-40B4-BE49-F238E27FC236}">
                    <a16:creationId xmlns:a16="http://schemas.microsoft.com/office/drawing/2014/main" id="{A9767C68-A5F3-BD83-3D5B-86B8C170BF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3974744" y="2445931"/>
                <a:ext cx="634281" cy="634281"/>
              </a:xfrm>
              <a:prstGeom prst="rect">
                <a:avLst/>
              </a:prstGeom>
            </p:spPr>
          </p:pic>
          <p:pic>
            <p:nvPicPr>
              <p:cNvPr id="141" name="グラフィックス 140" descr="レシート 単色塗りつぶし">
                <a:extLst>
                  <a:ext uri="{FF2B5EF4-FFF2-40B4-BE49-F238E27FC236}">
                    <a16:creationId xmlns:a16="http://schemas.microsoft.com/office/drawing/2014/main" id="{A1A8CCBC-0653-3A44-C69E-2E6D735C28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3974744" y="3082411"/>
                <a:ext cx="634280" cy="634280"/>
              </a:xfrm>
              <a:prstGeom prst="rect">
                <a:avLst/>
              </a:prstGeom>
            </p:spPr>
          </p:pic>
          <p:pic>
            <p:nvPicPr>
              <p:cNvPr id="142" name="グラフィックス 141" descr="コメント: ハート 単色塗りつぶし">
                <a:extLst>
                  <a:ext uri="{FF2B5EF4-FFF2-40B4-BE49-F238E27FC236}">
                    <a16:creationId xmlns:a16="http://schemas.microsoft.com/office/drawing/2014/main" id="{7F9A63AF-08D5-D61E-A576-1825AD5879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13928033" y="3724109"/>
                <a:ext cx="727703" cy="727703"/>
              </a:xfrm>
              <a:prstGeom prst="rect">
                <a:avLst/>
              </a:prstGeom>
            </p:spPr>
          </p:pic>
          <p:pic>
            <p:nvPicPr>
              <p:cNvPr id="145" name="グラフィックス 144" descr="クリップ 単色塗りつぶし">
                <a:extLst>
                  <a:ext uri="{FF2B5EF4-FFF2-40B4-BE49-F238E27FC236}">
                    <a16:creationId xmlns:a16="http://schemas.microsoft.com/office/drawing/2014/main" id="{623D2738-77B0-F10B-36A5-D3E3D03BE2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3939610" y="4356863"/>
                <a:ext cx="704549" cy="704549"/>
              </a:xfrm>
              <a:prstGeom prst="rect">
                <a:avLst/>
              </a:prstGeom>
            </p:spPr>
          </p:pic>
        </p:grpSp>
      </p:grpSp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1B640D5A-AD2E-C55E-2F1A-C5BD410ABC7E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6B697CA-1182-41DB-2681-8C0EE4FCA11B}"/>
              </a:ext>
            </a:extLst>
          </p:cNvPr>
          <p:cNvCxnSpPr>
            <a:cxnSpLocks/>
          </p:cNvCxnSpPr>
          <p:nvPr/>
        </p:nvCxnSpPr>
        <p:spPr>
          <a:xfrm>
            <a:off x="9416986" y="4824547"/>
            <a:ext cx="0" cy="108077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グラフィックス 34" descr="レシート 単色塗りつぶし">
            <a:extLst>
              <a:ext uri="{FF2B5EF4-FFF2-40B4-BE49-F238E27FC236}">
                <a16:creationId xmlns:a16="http://schemas.microsoft.com/office/drawing/2014/main" id="{B4C9165F-9268-BF64-73AD-F3265439BA6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941390" y="4924435"/>
            <a:ext cx="654366" cy="654366"/>
          </a:xfrm>
          <a:prstGeom prst="rect">
            <a:avLst/>
          </a:prstGeom>
        </p:spPr>
      </p:pic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BAE8D60-2EB0-30EB-FDA2-84D54AAEBDEC}"/>
              </a:ext>
            </a:extLst>
          </p:cNvPr>
          <p:cNvSpPr txBox="1"/>
          <p:nvPr/>
        </p:nvSpPr>
        <p:spPr>
          <a:xfrm>
            <a:off x="9481286" y="5130798"/>
            <a:ext cx="22797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こうかも？</a:t>
            </a:r>
            <a:endParaRPr kumimoji="1" lang="en-US" altLang="ja-JP" dirty="0"/>
          </a:p>
          <a:p>
            <a:r>
              <a:rPr kumimoji="1" lang="ja-JP" altLang="en-US"/>
              <a:t>どっちにするか考える</a:t>
            </a:r>
          </a:p>
        </p:txBody>
      </p:sp>
    </p:spTree>
    <p:extLst>
      <p:ext uri="{BB962C8B-B14F-4D97-AF65-F5344CB8AC3E}">
        <p14:creationId xmlns:p14="http://schemas.microsoft.com/office/powerpoint/2010/main" val="801786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7408FC-1EE7-9747-DC34-9F5B36CA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角丸四角形 39">
            <a:extLst>
              <a:ext uri="{FF2B5EF4-FFF2-40B4-BE49-F238E27FC236}">
                <a16:creationId xmlns:a16="http://schemas.microsoft.com/office/drawing/2014/main" id="{D733D50A-8EB7-D987-7C26-02271A5AD20E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D2DCF6F4-24F6-7D42-108D-0AEDDB938991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C22435C3-2EFF-6544-B102-78818FBE35F8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019CEFC-3A94-622A-A3FC-A4AAE702BE31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510725E-C0F0-D73C-B174-9B44004D6EE8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D0548BFC-24CB-2237-E762-64BBBB2683F8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FA619678-4384-ADC2-D506-69205D3F9F14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EA2343F-63C8-D073-DAD5-7BF9EA713DB1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C4578200-3D3D-C32C-F680-0DF48FEDBBFD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C03B3DE-2245-16A7-7452-4CB415A60105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C0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未Done</a:t>
            </a:r>
            <a:r>
              <a:rPr lang="ja-JP" altLang="en-US" sz="3500" b="1" spc="175">
                <a:solidFill>
                  <a:srgbClr val="C00000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F6591FC-2F97-3F48-5DC8-EEEE98B83EDC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897C2D03-DA8E-455C-97DD-B1C2AAD2EAF3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A855A9F4-6EC6-7B86-C97E-88B11D19E0F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6ED1F9C8-147D-2230-8331-DB1767C183F9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064E107D-7ECC-D898-2A35-8F5F9DCBB081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F49DAEC-2F9A-71B7-8784-195C7BEED0C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E9A2B31E-6B5D-B153-513D-6A77015E35BA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79AE0B75-C3C9-5802-B943-66956ADABB89}"/>
              </a:ext>
            </a:extLst>
          </p:cNvPr>
          <p:cNvGrpSpPr/>
          <p:nvPr/>
        </p:nvGrpSpPr>
        <p:grpSpPr>
          <a:xfrm>
            <a:off x="11965490" y="5946787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3EC3E22C-84B8-76EC-5D8B-3F64AEFE39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8077928-AA1A-DFA7-1EC2-DB437BB5ABFD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663C052A-815A-6E44-6884-A9EA0CAA3E4D}"/>
              </a:ext>
            </a:extLst>
          </p:cNvPr>
          <p:cNvGrpSpPr/>
          <p:nvPr/>
        </p:nvGrpSpPr>
        <p:grpSpPr>
          <a:xfrm>
            <a:off x="8451602" y="5821161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C69C2686-919E-57F6-B5F0-367C605C9D3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B66C4417-2275-D78A-C27E-38FEBD3E01B7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B350D398-0A7D-9942-3097-3D694679BE62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28D0348E-52CB-A284-25A2-257800467CD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6D41D115-9B2A-3631-EC21-827E1A88C63F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2F9596C8-3963-D6BB-6D0D-E786AC01DD9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5B996C21-291A-85B3-ED80-74DDFE3063AA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92E0BCD2-46BC-6242-D4BA-2CA998D197F7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99BA8600-2A64-A6A4-35D2-C8F076E49F6D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7DA71F9C-E1EA-3BBD-B4AA-8565AFB989F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67F673EE-2D6C-E7BF-AADD-9B6CC26B7F46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5375B323-475E-6A95-8FFE-E73FEF959B2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5AB9158A-173F-CB7F-A34D-805349385524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FEF19BE5-3B6E-1435-750C-83F406C2230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598FBF48-73DD-1F31-C186-D3C3994238AF}"/>
              </a:ext>
            </a:extLst>
          </p:cNvPr>
          <p:cNvCxnSpPr>
            <a:cxnSpLocks/>
          </p:cNvCxnSpPr>
          <p:nvPr/>
        </p:nvCxnSpPr>
        <p:spPr>
          <a:xfrm>
            <a:off x="5257800" y="4533900"/>
            <a:ext cx="0" cy="11430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F884BA20-425E-4DDF-BFAB-61189674493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908492" y="4641534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64D042FC-EB48-434F-C849-E8ADDBA1853F}"/>
              </a:ext>
            </a:extLst>
          </p:cNvPr>
          <p:cNvGrpSpPr/>
          <p:nvPr/>
        </p:nvGrpSpPr>
        <p:grpSpPr>
          <a:xfrm>
            <a:off x="4312308" y="5600700"/>
            <a:ext cx="2061783" cy="2358777"/>
            <a:chOff x="2754585" y="6122140"/>
            <a:chExt cx="2061783" cy="2358777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E05B2F4E-DBCE-28DE-0388-A9DBC7EA9207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03AAD9EB-EFB6-43AE-90BE-B917FDD9CCBE}"/>
                </a:ext>
              </a:extLst>
            </p:cNvPr>
            <p:cNvSpPr txBox="1"/>
            <p:nvPr/>
          </p:nvSpPr>
          <p:spPr>
            <a:xfrm>
              <a:off x="2754585" y="7773031"/>
              <a:ext cx="206178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分析</a:t>
              </a:r>
              <a:endParaRPr kumimoji="1" lang="en-US" altLang="ja-JP" sz="2400" b="1" dirty="0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/>
              <a:r>
                <a:rPr kumimoji="1" lang="en-US" altLang="ja-JP" sz="16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1082F7CB-97A6-ED58-0BBB-86896D34340F}"/>
              </a:ext>
            </a:extLst>
          </p:cNvPr>
          <p:cNvCxnSpPr>
            <a:cxnSpLocks/>
          </p:cNvCxnSpPr>
          <p:nvPr/>
        </p:nvCxnSpPr>
        <p:spPr>
          <a:xfrm>
            <a:off x="6307675" y="6349731"/>
            <a:ext cx="2255693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8825AAC8-B3DA-CFA1-5C19-B9CC8E5398F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7013484" y="5846375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99DA5829-E57E-D88E-7FCB-67B82DEBDBD3}"/>
              </a:ext>
            </a:extLst>
          </p:cNvPr>
          <p:cNvGrpSpPr/>
          <p:nvPr/>
        </p:nvGrpSpPr>
        <p:grpSpPr>
          <a:xfrm>
            <a:off x="15316221" y="5816533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30A0BF46-E547-BD1F-81CE-838B6277E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CA47A0BA-78A5-CAD7-40BE-13ECE04DEFA4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D926C624-27CC-82CE-975B-DC9921387440}"/>
              </a:ext>
            </a:extLst>
          </p:cNvPr>
          <p:cNvCxnSpPr>
            <a:cxnSpLocks/>
          </p:cNvCxnSpPr>
          <p:nvPr/>
        </p:nvCxnSpPr>
        <p:spPr>
          <a:xfrm>
            <a:off x="9968642" y="636861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1CF779EC-A6CB-5471-2E45-715A07603CAC}"/>
              </a:ext>
            </a:extLst>
          </p:cNvPr>
          <p:cNvCxnSpPr>
            <a:cxnSpLocks/>
          </p:cNvCxnSpPr>
          <p:nvPr/>
        </p:nvCxnSpPr>
        <p:spPr>
          <a:xfrm>
            <a:off x="134702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D08D52D0-A1F4-A8B0-9AFA-121A8D1C0F0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40070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EB8209B7-A8B5-2F55-F19F-5A87DB35653B}"/>
              </a:ext>
            </a:extLst>
          </p:cNvPr>
          <p:cNvCxnSpPr>
            <a:cxnSpLocks/>
          </p:cNvCxnSpPr>
          <p:nvPr/>
        </p:nvCxnSpPr>
        <p:spPr>
          <a:xfrm>
            <a:off x="99686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7DD4BE27-6DFA-06B1-6CE9-1DFECEE2F18C}"/>
              </a:ext>
            </a:extLst>
          </p:cNvPr>
          <p:cNvCxnSpPr>
            <a:cxnSpLocks/>
          </p:cNvCxnSpPr>
          <p:nvPr/>
        </p:nvCxnSpPr>
        <p:spPr>
          <a:xfrm>
            <a:off x="13532957" y="634239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6EA9D058-4A80-BF43-3F34-5CDC32621FC4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588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446922BD-35B6-8FC1-AA1D-E1F5F108E62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38775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6C8D3D3E-37D3-FDC8-7446-A987F63F4C09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0033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95B8314C-9AF2-3807-FC8C-ECD9AEFE64FE}"/>
              </a:ext>
            </a:extLst>
          </p:cNvPr>
          <p:cNvCxnSpPr>
            <a:cxnSpLocks/>
          </p:cNvCxnSpPr>
          <p:nvPr/>
        </p:nvCxnSpPr>
        <p:spPr>
          <a:xfrm flipV="1">
            <a:off x="2001899" y="8741919"/>
            <a:ext cx="14152511" cy="8601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EADE4D2B-5764-0EF5-BC1D-A79AD0F3F9C8}"/>
              </a:ext>
            </a:extLst>
          </p:cNvPr>
          <p:cNvCxnSpPr>
            <a:cxnSpLocks/>
            <a:stCxn id="111" idx="2"/>
          </p:cNvCxnSpPr>
          <p:nvPr/>
        </p:nvCxnSpPr>
        <p:spPr>
          <a:xfrm>
            <a:off x="16154410" y="7710804"/>
            <a:ext cx="0" cy="105728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AACD41AD-82C6-24CA-573B-BEA8B6CA6AC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519350" y="6665934"/>
            <a:ext cx="624053" cy="624053"/>
          </a:xfrm>
          <a:prstGeom prst="rect">
            <a:avLst/>
          </a:prstGeom>
        </p:spPr>
      </p:pic>
      <p:sp>
        <p:nvSpPr>
          <p:cNvPr id="41" name="角丸四角形 40">
            <a:extLst>
              <a:ext uri="{FF2B5EF4-FFF2-40B4-BE49-F238E27FC236}">
                <a16:creationId xmlns:a16="http://schemas.microsoft.com/office/drawing/2014/main" id="{D4795671-36A6-84ED-9069-6997442E397F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pSp>
        <p:nvGrpSpPr>
          <p:cNvPr id="42" name="グループ化 41">
            <a:extLst>
              <a:ext uri="{FF2B5EF4-FFF2-40B4-BE49-F238E27FC236}">
                <a16:creationId xmlns:a16="http://schemas.microsoft.com/office/drawing/2014/main" id="{03D17AF7-F7B8-86AD-A910-003BDBE68DCA}"/>
              </a:ext>
            </a:extLst>
          </p:cNvPr>
          <p:cNvGrpSpPr/>
          <p:nvPr/>
        </p:nvGrpSpPr>
        <p:grpSpPr>
          <a:xfrm>
            <a:off x="13545657" y="2552260"/>
            <a:ext cx="4552419" cy="2812676"/>
            <a:chOff x="13639800" y="2361306"/>
            <a:chExt cx="4552419" cy="2812676"/>
          </a:xfrm>
        </p:grpSpPr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CDD7366C-E347-2E6A-B8D6-C3B8810B0DB8}"/>
                </a:ext>
              </a:extLst>
            </p:cNvPr>
            <p:cNvSpPr/>
            <p:nvPr/>
          </p:nvSpPr>
          <p:spPr>
            <a:xfrm>
              <a:off x="13639800" y="2361306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44" name="グループ化 43">
              <a:extLst>
                <a:ext uri="{FF2B5EF4-FFF2-40B4-BE49-F238E27FC236}">
                  <a16:creationId xmlns:a16="http://schemas.microsoft.com/office/drawing/2014/main" id="{C97EB91F-16C1-AD2B-CEC4-A6C0DA06F487}"/>
                </a:ext>
              </a:extLst>
            </p:cNvPr>
            <p:cNvGrpSpPr/>
            <p:nvPr/>
          </p:nvGrpSpPr>
          <p:grpSpPr>
            <a:xfrm>
              <a:off x="13928033" y="2445931"/>
              <a:ext cx="4264186" cy="2615481"/>
              <a:chOff x="13928033" y="2445931"/>
              <a:chExt cx="4264186" cy="2615481"/>
            </a:xfrm>
          </p:grpSpPr>
          <p:sp>
            <p:nvSpPr>
              <p:cNvPr id="46" name="テキスト ボックス 45">
                <a:extLst>
                  <a:ext uri="{FF2B5EF4-FFF2-40B4-BE49-F238E27FC236}">
                    <a16:creationId xmlns:a16="http://schemas.microsoft.com/office/drawing/2014/main" id="{45BB3AA3-19B2-54B3-E5AC-0293A5A18FC9}"/>
                  </a:ext>
                </a:extLst>
              </p:cNvPr>
              <p:cNvSpPr txBox="1"/>
              <p:nvPr/>
            </p:nvSpPr>
            <p:spPr>
              <a:xfrm>
                <a:off x="14545067" y="2735113"/>
                <a:ext cx="3647152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：音声データ</a:t>
                </a:r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：文字データ</a:t>
                </a: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：ラベル</a:t>
                </a:r>
                <a:r>
                  <a:rPr kumimoji="1" lang="en-US" altLang="ja-JP" b="1" dirty="0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/</a:t>
                </a:r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スコア</a:t>
                </a:r>
                <a:r>
                  <a:rPr kumimoji="1" lang="en-US" altLang="ja-JP" b="1" dirty="0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/</a:t>
                </a:r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マッチング結果</a:t>
                </a:r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endPara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endParaRPr>
              </a:p>
              <a:p>
                <a:r>
                  <a:rPr kumimoji="1" lang="ja-JP" altLang="en-US" b="1">
                    <a:solidFill>
                      <a:schemeClr val="accent5">
                        <a:lumMod val="50000"/>
                      </a:schemeClr>
                    </a:solidFill>
                    <a:latin typeface="Yu Gothic" panose="020B0400000000000000" pitchFamily="34" charset="-128"/>
                    <a:ea typeface="Yu Gothic" panose="020B0400000000000000" pitchFamily="34" charset="-128"/>
                  </a:rPr>
                  <a:t>：プロフィール</a:t>
                </a:r>
              </a:p>
            </p:txBody>
          </p:sp>
          <p:pic>
            <p:nvPicPr>
              <p:cNvPr id="47" name="グラフィックス 46" descr="音符 単色塗りつぶし">
                <a:extLst>
                  <a:ext uri="{FF2B5EF4-FFF2-40B4-BE49-F238E27FC236}">
                    <a16:creationId xmlns:a16="http://schemas.microsoft.com/office/drawing/2014/main" id="{84986B11-3905-002D-46D2-7FE4A977EA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3974744" y="2445931"/>
                <a:ext cx="634281" cy="634281"/>
              </a:xfrm>
              <a:prstGeom prst="rect">
                <a:avLst/>
              </a:prstGeom>
            </p:spPr>
          </p:pic>
          <p:pic>
            <p:nvPicPr>
              <p:cNvPr id="48" name="グラフィックス 47" descr="レシート 単色塗りつぶし">
                <a:extLst>
                  <a:ext uri="{FF2B5EF4-FFF2-40B4-BE49-F238E27FC236}">
                    <a16:creationId xmlns:a16="http://schemas.microsoft.com/office/drawing/2014/main" id="{C4C5531F-2C0A-41C6-667A-6D94A5F579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26"/>
                  </a:ext>
                </a:extLst>
              </a:blip>
              <a:stretch>
                <a:fillRect/>
              </a:stretch>
            </p:blipFill>
            <p:spPr>
              <a:xfrm>
                <a:off x="13974744" y="3082411"/>
                <a:ext cx="634280" cy="634280"/>
              </a:xfrm>
              <a:prstGeom prst="rect">
                <a:avLst/>
              </a:prstGeom>
            </p:spPr>
          </p:pic>
          <p:pic>
            <p:nvPicPr>
              <p:cNvPr id="50" name="グラフィックス 49" descr="コメント: ハート 単色塗りつぶし">
                <a:extLst>
                  <a:ext uri="{FF2B5EF4-FFF2-40B4-BE49-F238E27FC236}">
                    <a16:creationId xmlns:a16="http://schemas.microsoft.com/office/drawing/2014/main" id="{3D276128-0A45-6DE2-8DF6-3D3E980ED08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13928033" y="3724109"/>
                <a:ext cx="727703" cy="727703"/>
              </a:xfrm>
              <a:prstGeom prst="rect">
                <a:avLst/>
              </a:prstGeom>
            </p:spPr>
          </p:pic>
          <p:pic>
            <p:nvPicPr>
              <p:cNvPr id="51" name="グラフィックス 50" descr="クリップ 単色塗りつぶし">
                <a:extLst>
                  <a:ext uri="{FF2B5EF4-FFF2-40B4-BE49-F238E27FC236}">
                    <a16:creationId xmlns:a16="http://schemas.microsoft.com/office/drawing/2014/main" id="{95AEB116-C001-B44B-6792-C84C89AFD4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13939610" y="4356863"/>
                <a:ext cx="704549" cy="704549"/>
              </a:xfrm>
              <a:prstGeom prst="rect">
                <a:avLst/>
              </a:prstGeom>
            </p:spPr>
          </p:pic>
        </p:grp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B1B331F-DC4D-6D5C-9D60-D829CA6B9C1D}"/>
              </a:ext>
            </a:extLst>
          </p:cNvPr>
          <p:cNvSpPr txBox="1"/>
          <p:nvPr/>
        </p:nvSpPr>
        <p:spPr>
          <a:xfrm>
            <a:off x="9336679" y="7553221"/>
            <a:ext cx="30479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18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rPr>
              <a:t>マッチングシステム</a:t>
            </a:r>
          </a:p>
        </p:txBody>
      </p:sp>
    </p:spTree>
    <p:extLst>
      <p:ext uri="{BB962C8B-B14F-4D97-AF65-F5344CB8AC3E}">
        <p14:creationId xmlns:p14="http://schemas.microsoft.com/office/powerpoint/2010/main" val="2766286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8BFA9-2BBF-C3F8-C160-8F14663419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730D5134-B865-BC45-E4AD-24F0DA1673DA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EB4AAA26-0844-6898-D926-BBE7696ED5DF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A5A4DB73-398F-E0C9-97EF-6491BA51E90D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DFF8F19-8F6D-2359-2C27-7DE4BD711C02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65509D03-402A-1077-5D2D-43589FEA3F52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E1F7F37-A779-9E98-5B59-54C058C24037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76BBD031-66B8-BD6E-F436-D5AE3BD961C8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0DFC3AC-6EDF-69B9-FB3B-49D50E6DAA08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8DC6797-66C2-6FC1-DD63-5A52ECEF7E4E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729E2FE1-D563-0372-D735-61E09345E468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E4CA4440-32C2-1FD3-7FBC-5FD7ADD2144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C64D4C33-F9BD-A628-538A-85119DBC01D8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7858FD3E-E23F-9596-7AF6-5F4E86F4BD93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ABCFBB6B-5FA0-70EB-A9F8-DB04593BC88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0F26FB2A-2700-6B17-8ED6-84AE192BE367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F16CEACC-3541-4F23-C1FB-2C4B7311EC4B}"/>
              </a:ext>
            </a:extLst>
          </p:cNvPr>
          <p:cNvGrpSpPr/>
          <p:nvPr/>
        </p:nvGrpSpPr>
        <p:grpSpPr>
          <a:xfrm>
            <a:off x="13260890" y="5960771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A18AB0B9-3C56-C558-452E-A0E109A481C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2D32BB0-4820-FD0E-2380-17C9A1DBFB05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1200D84F-F4C8-C305-44AD-37FB3FE2D1E0}"/>
              </a:ext>
            </a:extLst>
          </p:cNvPr>
          <p:cNvGrpSpPr/>
          <p:nvPr/>
        </p:nvGrpSpPr>
        <p:grpSpPr>
          <a:xfrm>
            <a:off x="9747002" y="5826457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9EE8FBAC-6F6D-29A3-64A6-F392FAD41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FC752708-A40F-4929-6CED-32A0D10D0A6F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20E314FD-B0F0-03D2-1B34-9041E973ACA1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036D2202-9C43-93A3-E5E8-98B3514896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46FB1BBC-36FD-EA2D-8F39-BF0767A8FD6E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7219F052-7CD2-5F3C-85AC-27442968CB8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84D76FFD-5C4A-7B69-B4DF-52AAB4618DBF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D3536E5A-6BC4-F39D-6212-C3567BCDBC4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571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0217C13F-8BBD-0A4B-D352-76F18A7AEE18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57150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31A3780D-F3C8-F087-B5F6-CCD4651DF3A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E1C44753-B12A-9F7B-F857-6DD9DFD89B15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F0E471F0-15BC-D393-99EF-9DFAB205192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E35AB532-6CFB-F5FC-A5EB-30A00CCE9318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3DDB1DF0-16E5-807C-9C88-C4B5BA17E6A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603B67D4-947D-5E95-07CB-9BDAAD42643C}"/>
              </a:ext>
            </a:extLst>
          </p:cNvPr>
          <p:cNvCxnSpPr>
            <a:cxnSpLocks/>
          </p:cNvCxnSpPr>
          <p:nvPr/>
        </p:nvCxnSpPr>
        <p:spPr>
          <a:xfrm>
            <a:off x="3697647" y="4531262"/>
            <a:ext cx="0" cy="139431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A7D50072-8D0D-195B-5995-DC90FA915F4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48339" y="4754339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6A5FA647-1A5B-488E-C666-F9ACCD57D204}"/>
              </a:ext>
            </a:extLst>
          </p:cNvPr>
          <p:cNvGrpSpPr/>
          <p:nvPr/>
        </p:nvGrpSpPr>
        <p:grpSpPr>
          <a:xfrm>
            <a:off x="2451387" y="5716017"/>
            <a:ext cx="2295821" cy="2020223"/>
            <a:chOff x="2637565" y="6122140"/>
            <a:chExt cx="2295821" cy="2020223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F1B38502-67D3-90B5-2EEB-D2B7833112BE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E3A4D875-D6C3-8C72-F96D-9B7E2F031D5D}"/>
                </a:ext>
              </a:extLst>
            </p:cNvPr>
            <p:cNvSpPr txBox="1"/>
            <p:nvPr/>
          </p:nvSpPr>
          <p:spPr>
            <a:xfrm>
              <a:off x="2637565" y="7773031"/>
              <a:ext cx="2295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814EFAEE-1A90-3189-7661-39B9BFDED86E}"/>
              </a:ext>
            </a:extLst>
          </p:cNvPr>
          <p:cNvCxnSpPr>
            <a:cxnSpLocks/>
          </p:cNvCxnSpPr>
          <p:nvPr/>
        </p:nvCxnSpPr>
        <p:spPr>
          <a:xfrm>
            <a:off x="8043199" y="6349731"/>
            <a:ext cx="1815569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5D9F454B-A186-5E6D-9FA0-5BDB763A4CB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40999" y="5829300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286DEAEC-6855-38C0-E126-38922C349D69}"/>
              </a:ext>
            </a:extLst>
          </p:cNvPr>
          <p:cNvGrpSpPr/>
          <p:nvPr/>
        </p:nvGrpSpPr>
        <p:grpSpPr>
          <a:xfrm>
            <a:off x="16611621" y="5841969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9EB7FD93-38B2-415F-6292-75F7A9ACEF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FECB0108-7782-A526-A9F5-882FB7EAE2DE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1EFAB432-0EAC-6A92-7303-A96BC00B0679}"/>
              </a:ext>
            </a:extLst>
          </p:cNvPr>
          <p:cNvCxnSpPr>
            <a:cxnSpLocks/>
          </p:cNvCxnSpPr>
          <p:nvPr/>
        </p:nvCxnSpPr>
        <p:spPr>
          <a:xfrm>
            <a:off x="11264042" y="636861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FA6EE4C0-4C24-2A8A-1F22-0E7B7F3FD176}"/>
              </a:ext>
            </a:extLst>
          </p:cNvPr>
          <p:cNvCxnSpPr>
            <a:cxnSpLocks/>
          </p:cNvCxnSpPr>
          <p:nvPr/>
        </p:nvCxnSpPr>
        <p:spPr>
          <a:xfrm>
            <a:off x="147656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8D16AACD-D027-F886-3F15-1517E712B59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3024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919A9735-2C25-9C9B-DE6B-077217B99BC3}"/>
              </a:ext>
            </a:extLst>
          </p:cNvPr>
          <p:cNvCxnSpPr>
            <a:cxnSpLocks/>
          </p:cNvCxnSpPr>
          <p:nvPr/>
        </p:nvCxnSpPr>
        <p:spPr>
          <a:xfrm>
            <a:off x="112640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E4D6B706-B2C4-3BC5-1A29-B811A5560EE5}"/>
              </a:ext>
            </a:extLst>
          </p:cNvPr>
          <p:cNvCxnSpPr>
            <a:cxnSpLocks/>
          </p:cNvCxnSpPr>
          <p:nvPr/>
        </p:nvCxnSpPr>
        <p:spPr>
          <a:xfrm>
            <a:off x="14828357" y="6342396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8766CA23-A024-E27E-5DF7-177685384DF5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6542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15906DB7-B281-B083-B171-51F885A82ED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1729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E867FAF8-C1CA-6E72-01AC-3E81273A1F91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4146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1742A8C9-9A3E-6FD3-1A96-0D9848E83615}"/>
              </a:ext>
            </a:extLst>
          </p:cNvPr>
          <p:cNvCxnSpPr>
            <a:cxnSpLocks/>
          </p:cNvCxnSpPr>
          <p:nvPr/>
        </p:nvCxnSpPr>
        <p:spPr>
          <a:xfrm>
            <a:off x="2001899" y="9179375"/>
            <a:ext cx="15447911" cy="272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482ADA5C-028C-C80E-BEE8-630D0926567B}"/>
              </a:ext>
            </a:extLst>
          </p:cNvPr>
          <p:cNvCxnSpPr>
            <a:cxnSpLocks/>
            <a:stCxn id="111" idx="2"/>
          </p:cNvCxnSpPr>
          <p:nvPr/>
        </p:nvCxnSpPr>
        <p:spPr>
          <a:xfrm flipH="1">
            <a:off x="17438339" y="7736240"/>
            <a:ext cx="11471" cy="148710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468D9143-F508-A29A-58A7-8E35FDDCFDD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14750" y="6665934"/>
            <a:ext cx="624053" cy="624053"/>
          </a:xfrm>
          <a:prstGeom prst="rect">
            <a:avLst/>
          </a:prstGeom>
        </p:spPr>
      </p:pic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3C0963C3-BF8F-6863-5EAB-C347A81FC345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B1F0A999-D676-F98A-0F2E-DB31802B23DD}"/>
              </a:ext>
            </a:extLst>
          </p:cNvPr>
          <p:cNvGrpSpPr/>
          <p:nvPr/>
        </p:nvGrpSpPr>
        <p:grpSpPr>
          <a:xfrm>
            <a:off x="5736610" y="5665364"/>
            <a:ext cx="2492990" cy="2068936"/>
            <a:chOff x="5071589" y="5451656"/>
            <a:chExt cx="2492990" cy="2068936"/>
          </a:xfrm>
        </p:grpSpPr>
        <p:pic>
          <p:nvPicPr>
            <p:cNvPr id="14" name="グラフィックス 13" descr="ダンス 枠線">
              <a:extLst>
                <a:ext uri="{FF2B5EF4-FFF2-40B4-BE49-F238E27FC236}">
                  <a16:creationId xmlns:a16="http://schemas.microsoft.com/office/drawing/2014/main" id="{5337A111-EADE-09AD-5F6A-ABB0A52DA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366987" y="5451656"/>
              <a:ext cx="1859384" cy="1859384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0E9D8035-E70D-F131-A76A-E393B6504B5B}"/>
                </a:ext>
              </a:extLst>
            </p:cNvPr>
            <p:cNvSpPr txBox="1"/>
            <p:nvPr/>
          </p:nvSpPr>
          <p:spPr>
            <a:xfrm>
              <a:off x="5071589" y="7120482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57D58A69-BD4F-327B-DEA3-40774A9B7BCE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675522" y="4531262"/>
            <a:ext cx="1731144" cy="2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A44E382E-FB19-69DF-CA12-800455406E3E}"/>
              </a:ext>
            </a:extLst>
          </p:cNvPr>
          <p:cNvCxnSpPr>
            <a:cxnSpLocks/>
          </p:cNvCxnSpPr>
          <p:nvPr/>
        </p:nvCxnSpPr>
        <p:spPr>
          <a:xfrm>
            <a:off x="4541094" y="6349731"/>
            <a:ext cx="12503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アドレス帳 単色塗りつぶし">
            <a:extLst>
              <a:ext uri="{FF2B5EF4-FFF2-40B4-BE49-F238E27FC236}">
                <a16:creationId xmlns:a16="http://schemas.microsoft.com/office/drawing/2014/main" id="{33873C44-15C1-6698-10A2-E24E2A9AE14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23203" y="5945274"/>
            <a:ext cx="821125" cy="821125"/>
          </a:xfrm>
          <a:prstGeom prst="rect">
            <a:avLst/>
          </a:prstGeom>
        </p:spPr>
      </p:pic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DDAE9171-9EBD-BEB5-9AC6-F084E6188E73}"/>
              </a:ext>
            </a:extLst>
          </p:cNvPr>
          <p:cNvGrpSpPr/>
          <p:nvPr/>
        </p:nvGrpSpPr>
        <p:grpSpPr>
          <a:xfrm>
            <a:off x="13401661" y="1988751"/>
            <a:ext cx="4552419" cy="2812676"/>
            <a:chOff x="13447104" y="1589979"/>
            <a:chExt cx="4552419" cy="2812676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ED9187B3-D2E5-B3A8-2BB1-263DDA6CB94C}"/>
                </a:ext>
              </a:extLst>
            </p:cNvPr>
            <p:cNvSpPr/>
            <p:nvPr/>
          </p:nvSpPr>
          <p:spPr>
            <a:xfrm>
              <a:off x="13447104" y="1589979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8B37BCC3-E2AA-7B23-B805-3352D7138DC4}"/>
                </a:ext>
              </a:extLst>
            </p:cNvPr>
            <p:cNvSpPr txBox="1"/>
            <p:nvPr/>
          </p:nvSpPr>
          <p:spPr>
            <a:xfrm>
              <a:off x="14413095" y="1748998"/>
              <a:ext cx="2031325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：音声データ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：文字データ</a:t>
              </a: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：ラベル</a:t>
              </a:r>
              <a:r>
                <a: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/</a:t>
              </a:r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スコア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：マッチング結果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：プロフィール</a:t>
              </a:r>
            </a:p>
          </p:txBody>
        </p:sp>
        <p:pic>
          <p:nvPicPr>
            <p:cNvPr id="139" name="グラフィックス 138" descr="音符 単色塗りつぶし">
              <a:extLst>
                <a:ext uri="{FF2B5EF4-FFF2-40B4-BE49-F238E27FC236}">
                  <a16:creationId xmlns:a16="http://schemas.microsoft.com/office/drawing/2014/main" id="{E063E242-DAE0-A90D-3849-306A68862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782048" y="1639283"/>
              <a:ext cx="532417" cy="532417"/>
            </a:xfrm>
            <a:prstGeom prst="rect">
              <a:avLst/>
            </a:prstGeom>
          </p:spPr>
        </p:pic>
        <p:pic>
          <p:nvPicPr>
            <p:cNvPr id="141" name="グラフィックス 140" descr="レシート 単色塗りつぶし">
              <a:extLst>
                <a:ext uri="{FF2B5EF4-FFF2-40B4-BE49-F238E27FC236}">
                  <a16:creationId xmlns:a16="http://schemas.microsoft.com/office/drawing/2014/main" id="{B2CE6384-A4A7-7424-2BA9-7DC661C539F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782048" y="2171700"/>
              <a:ext cx="532416" cy="532416"/>
            </a:xfrm>
            <a:prstGeom prst="rect">
              <a:avLst/>
            </a:prstGeom>
          </p:spPr>
        </p:pic>
        <p:pic>
          <p:nvPicPr>
            <p:cNvPr id="142" name="グラフィックス 141" descr="コメント: ハート 単色塗りつぶし">
              <a:extLst>
                <a:ext uri="{FF2B5EF4-FFF2-40B4-BE49-F238E27FC236}">
                  <a16:creationId xmlns:a16="http://schemas.microsoft.com/office/drawing/2014/main" id="{59090B78-A23D-F199-5C34-E36973E446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3735337" y="3313465"/>
              <a:ext cx="610835" cy="610835"/>
            </a:xfrm>
            <a:prstGeom prst="rect">
              <a:avLst/>
            </a:prstGeom>
          </p:spPr>
        </p:pic>
        <p:pic>
          <p:nvPicPr>
            <p:cNvPr id="145" name="グラフィックス 144" descr="クリップ 単色塗りつぶし">
              <a:extLst>
                <a:ext uri="{FF2B5EF4-FFF2-40B4-BE49-F238E27FC236}">
                  <a16:creationId xmlns:a16="http://schemas.microsoft.com/office/drawing/2014/main" id="{D594FF29-17A2-0317-3BC0-E7349055C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3746915" y="3790100"/>
              <a:ext cx="591400" cy="591400"/>
            </a:xfrm>
            <a:prstGeom prst="rect">
              <a:avLst/>
            </a:prstGeom>
          </p:spPr>
        </p:pic>
        <p:pic>
          <p:nvPicPr>
            <p:cNvPr id="52" name="グラフィックス 51" descr="アドレス帳 単色塗りつぶし">
              <a:extLst>
                <a:ext uri="{FF2B5EF4-FFF2-40B4-BE49-F238E27FC236}">
                  <a16:creationId xmlns:a16="http://schemas.microsoft.com/office/drawing/2014/main" id="{F2584802-E253-112B-F09B-452BE3F6BF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13709214" y="2702049"/>
              <a:ext cx="689254" cy="689254"/>
            </a:xfrm>
            <a:prstGeom prst="rect">
              <a:avLst/>
            </a:prstGeom>
          </p:spPr>
        </p:pic>
      </p:grp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3E519E46-DC0C-2661-6EB3-BCB93C8CB9BF}"/>
              </a:ext>
            </a:extLst>
          </p:cNvPr>
          <p:cNvCxnSpPr>
            <a:cxnSpLocks/>
          </p:cNvCxnSpPr>
          <p:nvPr/>
        </p:nvCxnSpPr>
        <p:spPr>
          <a:xfrm flipV="1">
            <a:off x="10508942" y="7642562"/>
            <a:ext cx="0" cy="60960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F8127752-690E-CE4C-4043-8C1212A0956B}"/>
              </a:ext>
            </a:extLst>
          </p:cNvPr>
          <p:cNvCxnSpPr>
            <a:cxnSpLocks/>
          </p:cNvCxnSpPr>
          <p:nvPr/>
        </p:nvCxnSpPr>
        <p:spPr>
          <a:xfrm>
            <a:off x="3579546" y="8231256"/>
            <a:ext cx="6915365" cy="845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BB24FFE4-414D-F16B-FCA9-20913FA04BF0}"/>
              </a:ext>
            </a:extLst>
          </p:cNvPr>
          <p:cNvCxnSpPr>
            <a:cxnSpLocks/>
            <a:endCxn id="100" idx="2"/>
          </p:cNvCxnSpPr>
          <p:nvPr/>
        </p:nvCxnSpPr>
        <p:spPr>
          <a:xfrm flipV="1">
            <a:off x="3599297" y="7736240"/>
            <a:ext cx="1" cy="503470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グラフィックス 67" descr="アドレス帳 単色塗りつぶし">
            <a:extLst>
              <a:ext uri="{FF2B5EF4-FFF2-40B4-BE49-F238E27FC236}">
                <a16:creationId xmlns:a16="http://schemas.microsoft.com/office/drawing/2014/main" id="{85FC96DD-68F1-8027-077F-90D0F91CA722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6499318" y="7796687"/>
            <a:ext cx="821125" cy="82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687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8D98C-C7F7-DC4B-4498-6293ED184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E409823A-F138-92DE-8F6F-771B31E4E012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B06ADD58-6D05-73C1-1ADA-85509DC20BDE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48801C5A-E859-809E-276D-FF810F4862A5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E34A8FCA-91B3-1FD1-2001-695F2E21F934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2D7E18E9-F92D-13BE-B908-DBA67D2C51FE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B029EAA-7A7A-64D6-84F8-F1A2A607F7B9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68F02EC-9B56-D7EF-FB83-6F75A615296F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BC653E8B-DD33-1A3A-E2CB-4BA4336D88B3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1ACAA30-F7DB-70B3-44F7-04EEA17DDA97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A71D9448-68DF-C795-687E-DB0CF6EB7B05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961B03F4-C91E-D589-9DE3-16FC79D2B8E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4322D3EE-4A1C-D32D-47AD-DA25EFBCDB92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80041D8F-7983-DC3D-4FBA-703FBF95814B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CC9E7051-DF70-D2F4-9A10-66F7FE38E3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2DE4F25F-6DDC-EEF1-75A0-2BF2476D4BFE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2A7B7551-E32E-8D80-A8BD-F3F217ADEF3C}"/>
              </a:ext>
            </a:extLst>
          </p:cNvPr>
          <p:cNvGrpSpPr/>
          <p:nvPr/>
        </p:nvGrpSpPr>
        <p:grpSpPr>
          <a:xfrm>
            <a:off x="13260890" y="5960771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73A97206-2FAF-4A0F-F102-A167A60EE1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C734E9E5-51CD-71C4-D237-BB0404943BB8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FBB1CBE6-5DC1-F781-461D-32B0647B0146}"/>
              </a:ext>
            </a:extLst>
          </p:cNvPr>
          <p:cNvGrpSpPr/>
          <p:nvPr/>
        </p:nvGrpSpPr>
        <p:grpSpPr>
          <a:xfrm>
            <a:off x="9747002" y="5826457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D207E201-624D-9F36-31D9-9FFC08E8F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51B76A8A-3935-D645-2F46-AA153868507F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7AF80985-3E06-2F85-DFD5-B636D5419BE9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298DB30F-C6A5-DC9D-FDFB-BFF7B6B74AD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BE42A881-05AB-C869-ECDD-C20B7E535FD7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9C47E0F2-42DA-6A67-0879-0D0B515BAF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F2BCB065-321B-8342-DAC7-AF1E2F9EAE1A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97CEAE56-EFE9-EB7B-DC49-377291FF9511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0EB86A33-F5E7-CF73-D3EE-6765361DE2F8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247F035B-7470-BB9E-559B-3AA665BD662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D92C3C76-2C02-F6CC-9ABC-1114DDAE87C4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FF3DA480-1B94-54A7-6F4B-81D7FF18002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4A6589F8-C8B7-1425-9658-FAE0C48C04D4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8072829E-82C7-DF76-4384-83659CD8699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EA3D3DA0-41C5-074A-7E76-873B8043BDAE}"/>
              </a:ext>
            </a:extLst>
          </p:cNvPr>
          <p:cNvGrpSpPr/>
          <p:nvPr/>
        </p:nvGrpSpPr>
        <p:grpSpPr>
          <a:xfrm>
            <a:off x="2451387" y="5716017"/>
            <a:ext cx="2295821" cy="2020223"/>
            <a:chOff x="2637565" y="6122140"/>
            <a:chExt cx="2295821" cy="2020223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15B51052-7491-E814-ACBB-6ACA5B7A6BCB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5601D1D5-E3A2-FE78-FB4E-77619B6FF4DC}"/>
                </a:ext>
              </a:extLst>
            </p:cNvPr>
            <p:cNvSpPr txBox="1"/>
            <p:nvPr/>
          </p:nvSpPr>
          <p:spPr>
            <a:xfrm>
              <a:off x="2637565" y="7773031"/>
              <a:ext cx="2295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396BD2A0-D8EF-B87E-C815-836DA173ADEC}"/>
              </a:ext>
            </a:extLst>
          </p:cNvPr>
          <p:cNvCxnSpPr>
            <a:cxnSpLocks/>
          </p:cNvCxnSpPr>
          <p:nvPr/>
        </p:nvCxnSpPr>
        <p:spPr>
          <a:xfrm>
            <a:off x="8043199" y="6349731"/>
            <a:ext cx="1815569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B68A3003-30D3-6421-EB0D-6ACEE4687CA9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40999" y="5829300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C8757C63-1AB1-A01D-52A9-D34E507CB44E}"/>
              </a:ext>
            </a:extLst>
          </p:cNvPr>
          <p:cNvGrpSpPr/>
          <p:nvPr/>
        </p:nvGrpSpPr>
        <p:grpSpPr>
          <a:xfrm>
            <a:off x="16611621" y="5841969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886DF9B7-64A1-3EBB-6FDF-71FFD2FC24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5B84B246-448D-42C7-C200-2D0DB5BA670C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2D81A198-2575-73EE-D8A7-00250F22A38B}"/>
              </a:ext>
            </a:extLst>
          </p:cNvPr>
          <p:cNvCxnSpPr>
            <a:cxnSpLocks/>
          </p:cNvCxnSpPr>
          <p:nvPr/>
        </p:nvCxnSpPr>
        <p:spPr>
          <a:xfrm>
            <a:off x="11264042" y="636861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2373931D-4047-25CA-EA2A-07BA6501298F}"/>
              </a:ext>
            </a:extLst>
          </p:cNvPr>
          <p:cNvCxnSpPr>
            <a:cxnSpLocks/>
          </p:cNvCxnSpPr>
          <p:nvPr/>
        </p:nvCxnSpPr>
        <p:spPr>
          <a:xfrm>
            <a:off x="147656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0794AC30-DCBE-828C-8600-D6D4D9E9B00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3024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1C7B318E-8493-1A7F-9715-84C13B70B240}"/>
              </a:ext>
            </a:extLst>
          </p:cNvPr>
          <p:cNvCxnSpPr>
            <a:cxnSpLocks/>
          </p:cNvCxnSpPr>
          <p:nvPr/>
        </p:nvCxnSpPr>
        <p:spPr>
          <a:xfrm>
            <a:off x="112640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FFF43C88-D998-FDEC-47AE-FCF4BED356D3}"/>
              </a:ext>
            </a:extLst>
          </p:cNvPr>
          <p:cNvCxnSpPr>
            <a:cxnSpLocks/>
          </p:cNvCxnSpPr>
          <p:nvPr/>
        </p:nvCxnSpPr>
        <p:spPr>
          <a:xfrm>
            <a:off x="14828357" y="634239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94953951-1143-EB5D-00F7-86D272F663DC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6542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612C9C86-0A6C-9BC5-12DC-D2CD4B4FA441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1729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C0643454-BF84-97B9-022E-E039938EF27D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4146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2017329F-FF6E-D4A7-7929-9F4FF87424C5}"/>
              </a:ext>
            </a:extLst>
          </p:cNvPr>
          <p:cNvCxnSpPr>
            <a:cxnSpLocks/>
          </p:cNvCxnSpPr>
          <p:nvPr/>
        </p:nvCxnSpPr>
        <p:spPr>
          <a:xfrm>
            <a:off x="2001899" y="9179375"/>
            <a:ext cx="15447911" cy="272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C26B171F-D474-A10D-6C59-85BDE8F519AA}"/>
              </a:ext>
            </a:extLst>
          </p:cNvPr>
          <p:cNvCxnSpPr>
            <a:cxnSpLocks/>
            <a:stCxn id="111" idx="2"/>
          </p:cNvCxnSpPr>
          <p:nvPr/>
        </p:nvCxnSpPr>
        <p:spPr>
          <a:xfrm flipH="1">
            <a:off x="17438339" y="7736240"/>
            <a:ext cx="11471" cy="148710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D4A9DF6A-F242-CE7B-AD19-E46518C7778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14750" y="6665934"/>
            <a:ext cx="624053" cy="624053"/>
          </a:xfrm>
          <a:prstGeom prst="rect">
            <a:avLst/>
          </a:prstGeom>
        </p:spPr>
      </p:pic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17CA07EA-7E90-DEB2-D439-03D530B96DEB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874A668A-D363-C0A6-0CB0-A8528FFAB757}"/>
              </a:ext>
            </a:extLst>
          </p:cNvPr>
          <p:cNvCxnSpPr>
            <a:cxnSpLocks/>
          </p:cNvCxnSpPr>
          <p:nvPr/>
        </p:nvCxnSpPr>
        <p:spPr>
          <a:xfrm>
            <a:off x="10444642" y="4775271"/>
            <a:ext cx="0" cy="1080777"/>
          </a:xfrm>
          <a:prstGeom prst="straightConnector1">
            <a:avLst/>
          </a:prstGeom>
          <a:ln w="5715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グラフィックス 34" descr="レシート 単色塗りつぶし">
            <a:extLst>
              <a:ext uri="{FF2B5EF4-FFF2-40B4-BE49-F238E27FC236}">
                <a16:creationId xmlns:a16="http://schemas.microsoft.com/office/drawing/2014/main" id="{4A606CA2-FEA4-552D-7707-603DEFA066C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969046" y="4875159"/>
            <a:ext cx="654366" cy="654366"/>
          </a:xfrm>
          <a:prstGeom prst="rect">
            <a:avLst/>
          </a:prstGeom>
        </p:spPr>
      </p:pic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B695A033-1C76-FA2A-05B4-2D7CFA33BC90}"/>
              </a:ext>
            </a:extLst>
          </p:cNvPr>
          <p:cNvGrpSpPr/>
          <p:nvPr/>
        </p:nvGrpSpPr>
        <p:grpSpPr>
          <a:xfrm>
            <a:off x="5736610" y="5665364"/>
            <a:ext cx="2492990" cy="2068936"/>
            <a:chOff x="5071589" y="5451656"/>
            <a:chExt cx="2492990" cy="2068936"/>
          </a:xfrm>
        </p:grpSpPr>
        <p:pic>
          <p:nvPicPr>
            <p:cNvPr id="14" name="グラフィックス 13" descr="ダンス 枠線">
              <a:extLst>
                <a:ext uri="{FF2B5EF4-FFF2-40B4-BE49-F238E27FC236}">
                  <a16:creationId xmlns:a16="http://schemas.microsoft.com/office/drawing/2014/main" id="{F7F74469-4675-AC53-D3C4-74FCBA8D18CD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366987" y="5451656"/>
              <a:ext cx="1859384" cy="1859384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3AE14915-FE7E-9454-081C-03FC6B2EBA22}"/>
                </a:ext>
              </a:extLst>
            </p:cNvPr>
            <p:cNvSpPr txBox="1"/>
            <p:nvPr/>
          </p:nvSpPr>
          <p:spPr>
            <a:xfrm>
              <a:off x="5071589" y="7120482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EAECE7F5-FED0-3CA4-162E-061936E92BE8}"/>
              </a:ext>
            </a:extLst>
          </p:cNvPr>
          <p:cNvCxnSpPr>
            <a:cxnSpLocks/>
          </p:cNvCxnSpPr>
          <p:nvPr/>
        </p:nvCxnSpPr>
        <p:spPr>
          <a:xfrm>
            <a:off x="4541094" y="6349731"/>
            <a:ext cx="12503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アドレス帳 単色塗りつぶし">
            <a:extLst>
              <a:ext uri="{FF2B5EF4-FFF2-40B4-BE49-F238E27FC236}">
                <a16:creationId xmlns:a16="http://schemas.microsoft.com/office/drawing/2014/main" id="{16B6C446-4B5A-C8BC-988C-5C92C38159FF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23203" y="5945274"/>
            <a:ext cx="821125" cy="821125"/>
          </a:xfrm>
          <a:prstGeom prst="rect">
            <a:avLst/>
          </a:prstGeom>
        </p:spPr>
      </p:pic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92CF0C17-1027-93B9-B4AE-2D8775AD4DE5}"/>
              </a:ext>
            </a:extLst>
          </p:cNvPr>
          <p:cNvGrpSpPr/>
          <p:nvPr/>
        </p:nvGrpSpPr>
        <p:grpSpPr>
          <a:xfrm>
            <a:off x="13401661" y="1988751"/>
            <a:ext cx="4552419" cy="2812676"/>
            <a:chOff x="13447104" y="1589979"/>
            <a:chExt cx="4552419" cy="2812676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30AF0A96-A53F-76ED-A636-5558E204E598}"/>
                </a:ext>
              </a:extLst>
            </p:cNvPr>
            <p:cNvSpPr/>
            <p:nvPr/>
          </p:nvSpPr>
          <p:spPr>
            <a:xfrm>
              <a:off x="13447104" y="1589979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2C07B606-8878-E5FC-7D25-700433586386}"/>
                </a:ext>
              </a:extLst>
            </p:cNvPr>
            <p:cNvSpPr txBox="1"/>
            <p:nvPr/>
          </p:nvSpPr>
          <p:spPr>
            <a:xfrm>
              <a:off x="14413095" y="1748998"/>
              <a:ext cx="2031325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：音声データ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：文字データ</a:t>
              </a: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：ラベル</a:t>
              </a:r>
              <a:r>
                <a: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/</a:t>
              </a:r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スコア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：マッチング結果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：プロフィール</a:t>
              </a:r>
            </a:p>
          </p:txBody>
        </p:sp>
        <p:pic>
          <p:nvPicPr>
            <p:cNvPr id="139" name="グラフィックス 138" descr="音符 単色塗りつぶし">
              <a:extLst>
                <a:ext uri="{FF2B5EF4-FFF2-40B4-BE49-F238E27FC236}">
                  <a16:creationId xmlns:a16="http://schemas.microsoft.com/office/drawing/2014/main" id="{753F4852-AE5F-9704-82D9-9DD0119A013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782048" y="1639283"/>
              <a:ext cx="532417" cy="532417"/>
            </a:xfrm>
            <a:prstGeom prst="rect">
              <a:avLst/>
            </a:prstGeom>
          </p:spPr>
        </p:pic>
        <p:pic>
          <p:nvPicPr>
            <p:cNvPr id="141" name="グラフィックス 140" descr="レシート 単色塗りつぶし">
              <a:extLst>
                <a:ext uri="{FF2B5EF4-FFF2-40B4-BE49-F238E27FC236}">
                  <a16:creationId xmlns:a16="http://schemas.microsoft.com/office/drawing/2014/main" id="{30F7A29C-9AE4-BAEB-5359-6A23BA950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782048" y="2171700"/>
              <a:ext cx="532416" cy="532416"/>
            </a:xfrm>
            <a:prstGeom prst="rect">
              <a:avLst/>
            </a:prstGeom>
          </p:spPr>
        </p:pic>
        <p:pic>
          <p:nvPicPr>
            <p:cNvPr id="142" name="グラフィックス 141" descr="コメント: ハート 単色塗りつぶし">
              <a:extLst>
                <a:ext uri="{FF2B5EF4-FFF2-40B4-BE49-F238E27FC236}">
                  <a16:creationId xmlns:a16="http://schemas.microsoft.com/office/drawing/2014/main" id="{1AABCDE4-14EE-DCF0-39F2-3FEA868C27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3735337" y="3313465"/>
              <a:ext cx="610835" cy="610835"/>
            </a:xfrm>
            <a:prstGeom prst="rect">
              <a:avLst/>
            </a:prstGeom>
          </p:spPr>
        </p:pic>
        <p:pic>
          <p:nvPicPr>
            <p:cNvPr id="145" name="グラフィックス 144" descr="クリップ 単色塗りつぶし">
              <a:extLst>
                <a:ext uri="{FF2B5EF4-FFF2-40B4-BE49-F238E27FC236}">
                  <a16:creationId xmlns:a16="http://schemas.microsoft.com/office/drawing/2014/main" id="{559795CD-80AE-A0AB-C1A9-DF74893BA1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3746915" y="3790100"/>
              <a:ext cx="591400" cy="591400"/>
            </a:xfrm>
            <a:prstGeom prst="rect">
              <a:avLst/>
            </a:prstGeom>
          </p:spPr>
        </p:pic>
        <p:pic>
          <p:nvPicPr>
            <p:cNvPr id="52" name="グラフィックス 51" descr="アドレス帳 単色塗りつぶし">
              <a:extLst>
                <a:ext uri="{FF2B5EF4-FFF2-40B4-BE49-F238E27FC236}">
                  <a16:creationId xmlns:a16="http://schemas.microsoft.com/office/drawing/2014/main" id="{8BD5AB96-7E7B-3E40-3BC3-7ECF3F4C7A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13709214" y="2702049"/>
              <a:ext cx="689254" cy="689254"/>
            </a:xfrm>
            <a:prstGeom prst="rect">
              <a:avLst/>
            </a:prstGeom>
          </p:spPr>
        </p:pic>
      </p:grp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E7FD674F-0E3E-1FC3-3FF3-49F4F55DE778}"/>
              </a:ext>
            </a:extLst>
          </p:cNvPr>
          <p:cNvCxnSpPr>
            <a:cxnSpLocks/>
          </p:cNvCxnSpPr>
          <p:nvPr/>
        </p:nvCxnSpPr>
        <p:spPr>
          <a:xfrm>
            <a:off x="3579546" y="8231256"/>
            <a:ext cx="6915365" cy="8454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C7027AEA-DDA5-0839-A81B-9B3EB913ABB4}"/>
              </a:ext>
            </a:extLst>
          </p:cNvPr>
          <p:cNvCxnSpPr>
            <a:cxnSpLocks/>
            <a:endCxn id="100" idx="2"/>
          </p:cNvCxnSpPr>
          <p:nvPr/>
        </p:nvCxnSpPr>
        <p:spPr>
          <a:xfrm flipV="1">
            <a:off x="3599297" y="7736240"/>
            <a:ext cx="1" cy="50347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グラフィックス 67" descr="アドレス帳 単色塗りつぶし">
            <a:extLst>
              <a:ext uri="{FF2B5EF4-FFF2-40B4-BE49-F238E27FC236}">
                <a16:creationId xmlns:a16="http://schemas.microsoft.com/office/drawing/2014/main" id="{D66B3263-48CB-C59B-7B79-176C9CB80040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6499318" y="7796687"/>
            <a:ext cx="821125" cy="82112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47721A4-D1EF-266D-F49E-4F2053B7EA3D}"/>
              </a:ext>
            </a:extLst>
          </p:cNvPr>
          <p:cNvSpPr txBox="1"/>
          <p:nvPr/>
        </p:nvSpPr>
        <p:spPr>
          <a:xfrm>
            <a:off x="8355162" y="190005"/>
            <a:ext cx="15776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u="sng">
                <a:solidFill>
                  <a:schemeClr val="accent6">
                    <a:lumMod val="75000"/>
                  </a:schemeClr>
                </a:solidFill>
              </a:rPr>
              <a:t>前回ログ</a:t>
            </a: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E42A9FF1-2E05-BD3E-C565-77337AA50D1C}"/>
              </a:ext>
            </a:extLst>
          </p:cNvPr>
          <p:cNvCxnSpPr>
            <a:cxnSpLocks/>
          </p:cNvCxnSpPr>
          <p:nvPr/>
        </p:nvCxnSpPr>
        <p:spPr>
          <a:xfrm flipV="1">
            <a:off x="10439400" y="7658100"/>
            <a:ext cx="0" cy="60960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AAA2CBA-18E6-75DF-119B-1E3E049F65BB}"/>
              </a:ext>
            </a:extLst>
          </p:cNvPr>
          <p:cNvSpPr txBox="1"/>
          <p:nvPr/>
        </p:nvSpPr>
        <p:spPr>
          <a:xfrm>
            <a:off x="7607007" y="4328831"/>
            <a:ext cx="1023037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chemeClr val="bg1"/>
                </a:solidFill>
              </a:rPr>
              <a:t>どっち？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965BC20-D2B1-6D57-8274-1089F6F886F0}"/>
              </a:ext>
            </a:extLst>
          </p:cNvPr>
          <p:cNvSpPr txBox="1"/>
          <p:nvPr/>
        </p:nvSpPr>
        <p:spPr>
          <a:xfrm>
            <a:off x="10682893" y="5011357"/>
            <a:ext cx="1023037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chemeClr val="bg1"/>
                </a:solidFill>
              </a:rPr>
              <a:t>どっち？</a:t>
            </a:r>
          </a:p>
        </p:txBody>
      </p:sp>
      <p:cxnSp>
        <p:nvCxnSpPr>
          <p:cNvPr id="16" name="直線矢印コネクタ 15">
            <a:extLst>
              <a:ext uri="{FF2B5EF4-FFF2-40B4-BE49-F238E27FC236}">
                <a16:creationId xmlns:a16="http://schemas.microsoft.com/office/drawing/2014/main" id="{9E20DD19-5991-CA17-1FD4-73B0D7B65F5A}"/>
              </a:ext>
            </a:extLst>
          </p:cNvPr>
          <p:cNvCxnSpPr>
            <a:cxnSpLocks/>
          </p:cNvCxnSpPr>
          <p:nvPr/>
        </p:nvCxnSpPr>
        <p:spPr>
          <a:xfrm>
            <a:off x="3697647" y="3984468"/>
            <a:ext cx="0" cy="1941109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56F58F51-F3F1-B694-DD35-5F9D4A1AF8E7}"/>
              </a:ext>
            </a:extLst>
          </p:cNvPr>
          <p:cNvCxnSpPr>
            <a:cxnSpLocks/>
          </p:cNvCxnSpPr>
          <p:nvPr/>
        </p:nvCxnSpPr>
        <p:spPr>
          <a:xfrm>
            <a:off x="3697647" y="4000500"/>
            <a:ext cx="1959034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E6FAD7E1-20B8-B306-C034-DF06FE7C2C5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48339" y="4754339"/>
            <a:ext cx="654366" cy="6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434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84C8B-7B0D-B3BC-7AC1-06B4C0FE7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角丸四角形 9">
            <a:extLst>
              <a:ext uri="{FF2B5EF4-FFF2-40B4-BE49-F238E27FC236}">
                <a16:creationId xmlns:a16="http://schemas.microsoft.com/office/drawing/2014/main" id="{BBB4DA76-6C99-FFBF-B0B4-93DEBF112D6A}"/>
              </a:ext>
            </a:extLst>
          </p:cNvPr>
          <p:cNvSpPr/>
          <p:nvPr/>
        </p:nvSpPr>
        <p:spPr>
          <a:xfrm>
            <a:off x="393598" y="2420830"/>
            <a:ext cx="918672" cy="2722668"/>
          </a:xfrm>
          <a:prstGeom prst="roundRect">
            <a:avLst/>
          </a:prstGeom>
          <a:solidFill>
            <a:srgbClr val="FFF3B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音声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文字起こし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2AB0A8C6-D679-0241-749E-C3C0597CE6FD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3BB1C18B-2518-BB3D-ABF5-9C863EB28349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DC33FCD7-FD17-1BA2-65C9-F334C02B931E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57E12F5-9FCB-494E-F194-448C38CEEA5C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6D7277B-9401-FB49-6414-186441538852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ED60A7E-6DB8-3B05-DEAB-01579E7E1933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2E9303A-5418-5888-4327-00F45423C7BD}"/>
              </a:ext>
            </a:extLst>
          </p:cNvPr>
          <p:cNvSpPr txBox="1"/>
          <p:nvPr/>
        </p:nvSpPr>
        <p:spPr>
          <a:xfrm>
            <a:off x="2949343" y="1371153"/>
            <a:ext cx="14309957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ローカル環境でのサービスに必要な技術要素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F8AA407-DFA6-1E9C-BEA8-92CE5B5684F5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01</a:t>
            </a: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058CF977-805C-EAC2-AE71-5A44B025B68A}"/>
              </a:ext>
            </a:extLst>
          </p:cNvPr>
          <p:cNvGrpSpPr/>
          <p:nvPr/>
        </p:nvGrpSpPr>
        <p:grpSpPr>
          <a:xfrm>
            <a:off x="4897196" y="2683594"/>
            <a:ext cx="1855186" cy="2078502"/>
            <a:chOff x="7213805" y="3006543"/>
            <a:chExt cx="1855186" cy="2078502"/>
          </a:xfrm>
        </p:grpSpPr>
        <p:sp>
          <p:nvSpPr>
            <p:cNvPr id="17" name="Freeform 22">
              <a:extLst>
                <a:ext uri="{FF2B5EF4-FFF2-40B4-BE49-F238E27FC236}">
                  <a16:creationId xmlns:a16="http://schemas.microsoft.com/office/drawing/2014/main" id="{569C95D8-FC03-9D8A-9675-AE9125E045E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5BD84C1B-5461-ECAB-D38A-C3C69A7C53DF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0" name="グループ化 29">
            <a:extLst>
              <a:ext uri="{FF2B5EF4-FFF2-40B4-BE49-F238E27FC236}">
                <a16:creationId xmlns:a16="http://schemas.microsoft.com/office/drawing/2014/main" id="{E4AD81A7-AE11-3211-A8DC-6354E7C6B7D1}"/>
              </a:ext>
            </a:extLst>
          </p:cNvPr>
          <p:cNvGrpSpPr/>
          <p:nvPr/>
        </p:nvGrpSpPr>
        <p:grpSpPr>
          <a:xfrm>
            <a:off x="9003837" y="2706732"/>
            <a:ext cx="2529860" cy="2055363"/>
            <a:chOff x="11486205" y="3006543"/>
            <a:chExt cx="2529860" cy="2055363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B1BD7C9B-F3A4-391A-DC7C-37669768BA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D6139F01-6F03-6966-ECB3-A100218927E7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4" name="グループ化 33">
            <a:extLst>
              <a:ext uri="{FF2B5EF4-FFF2-40B4-BE49-F238E27FC236}">
                <a16:creationId xmlns:a16="http://schemas.microsoft.com/office/drawing/2014/main" id="{20B98CCA-7A42-503F-C805-0C45686F5484}"/>
              </a:ext>
            </a:extLst>
          </p:cNvPr>
          <p:cNvGrpSpPr/>
          <p:nvPr/>
        </p:nvGrpSpPr>
        <p:grpSpPr>
          <a:xfrm>
            <a:off x="13260890" y="5960771"/>
            <a:ext cx="1339002" cy="1775469"/>
            <a:chOff x="2256509" y="6734974"/>
            <a:chExt cx="1339002" cy="1775469"/>
          </a:xfrm>
        </p:grpSpPr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1EC23274-6FB9-43F4-4F87-90ED84B8E8D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509" y="6734974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3952B3C4-17BF-7D3F-0C62-11ABAF8E24C2}"/>
                </a:ext>
              </a:extLst>
            </p:cNvPr>
            <p:cNvSpPr txBox="1"/>
            <p:nvPr/>
          </p:nvSpPr>
          <p:spPr>
            <a:xfrm>
              <a:off x="2344848" y="8048778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6" name="グループ化 35">
            <a:extLst>
              <a:ext uri="{FF2B5EF4-FFF2-40B4-BE49-F238E27FC236}">
                <a16:creationId xmlns:a16="http://schemas.microsoft.com/office/drawing/2014/main" id="{156EFFF8-FF14-FE8E-E33B-75F743B47AFD}"/>
              </a:ext>
            </a:extLst>
          </p:cNvPr>
          <p:cNvGrpSpPr/>
          <p:nvPr/>
        </p:nvGrpSpPr>
        <p:grpSpPr>
          <a:xfrm>
            <a:off x="9747002" y="5826457"/>
            <a:ext cx="1426106" cy="1909783"/>
            <a:chOff x="7173083" y="6753785"/>
            <a:chExt cx="1426106" cy="1909783"/>
          </a:xfrm>
        </p:grpSpPr>
        <p:pic>
          <p:nvPicPr>
            <p:cNvPr id="21" name="グラフィックス 20" descr="データベース 枠線">
              <a:extLst>
                <a:ext uri="{FF2B5EF4-FFF2-40B4-BE49-F238E27FC236}">
                  <a16:creationId xmlns:a16="http://schemas.microsoft.com/office/drawing/2014/main" id="{BB8246F9-7524-102C-5ADA-1235B96DA26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D58A2551-355D-D23A-6579-8EA09CCCA884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5" name="直線矢印コネクタ 44">
            <a:extLst>
              <a:ext uri="{FF2B5EF4-FFF2-40B4-BE49-F238E27FC236}">
                <a16:creationId xmlns:a16="http://schemas.microsoft.com/office/drawing/2014/main" id="{C1AFD553-CBCA-150A-447C-D17CB390CA55}"/>
              </a:ext>
            </a:extLst>
          </p:cNvPr>
          <p:cNvCxnSpPr>
            <a:cxnSpLocks/>
          </p:cNvCxnSpPr>
          <p:nvPr/>
        </p:nvCxnSpPr>
        <p:spPr>
          <a:xfrm>
            <a:off x="2898749" y="3722418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9" name="グラフィックス 48" descr="音符 単色塗りつぶし">
            <a:extLst>
              <a:ext uri="{FF2B5EF4-FFF2-40B4-BE49-F238E27FC236}">
                <a16:creationId xmlns:a16="http://schemas.microsoft.com/office/drawing/2014/main" id="{A4A6825B-934D-D8A1-A25C-9189C70690B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392136" y="3304383"/>
            <a:ext cx="634281" cy="634281"/>
          </a:xfrm>
          <a:prstGeom prst="rect">
            <a:avLst/>
          </a:prstGeom>
        </p:spPr>
      </p:pic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23C45AA2-A878-3BE4-1D03-D9BD7CF48A31}"/>
              </a:ext>
            </a:extLst>
          </p:cNvPr>
          <p:cNvCxnSpPr>
            <a:cxnSpLocks/>
          </p:cNvCxnSpPr>
          <p:nvPr/>
        </p:nvCxnSpPr>
        <p:spPr>
          <a:xfrm>
            <a:off x="7277690" y="3480156"/>
            <a:ext cx="1676400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グラフィックス 54" descr="音符 単色塗りつぶし">
            <a:extLst>
              <a:ext uri="{FF2B5EF4-FFF2-40B4-BE49-F238E27FC236}">
                <a16:creationId xmlns:a16="http://schemas.microsoft.com/office/drawing/2014/main" id="{E3B021C4-8E67-CE76-A5A4-AF0672177E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71077" y="3062121"/>
            <a:ext cx="634281" cy="634281"/>
          </a:xfrm>
          <a:prstGeom prst="rect">
            <a:avLst/>
          </a:prstGeom>
        </p:spPr>
      </p:pic>
      <p:cxnSp>
        <p:nvCxnSpPr>
          <p:cNvPr id="56" name="直線矢印コネクタ 55">
            <a:extLst>
              <a:ext uri="{FF2B5EF4-FFF2-40B4-BE49-F238E27FC236}">
                <a16:creationId xmlns:a16="http://schemas.microsoft.com/office/drawing/2014/main" id="{4754BE86-AAFD-1824-C8A8-3B09FF3C02FE}"/>
              </a:ext>
            </a:extLst>
          </p:cNvPr>
          <p:cNvCxnSpPr>
            <a:cxnSpLocks/>
          </p:cNvCxnSpPr>
          <p:nvPr/>
        </p:nvCxnSpPr>
        <p:spPr>
          <a:xfrm flipH="1">
            <a:off x="7277690" y="3984468"/>
            <a:ext cx="1676400" cy="5755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カギ線コネクタ 69">
            <a:extLst>
              <a:ext uri="{FF2B5EF4-FFF2-40B4-BE49-F238E27FC236}">
                <a16:creationId xmlns:a16="http://schemas.microsoft.com/office/drawing/2014/main" id="{83246448-1C50-ACD4-E494-CE5F070DB9BC}"/>
              </a:ext>
            </a:extLst>
          </p:cNvPr>
          <p:cNvCxnSpPr>
            <a:cxnSpLocks/>
          </p:cNvCxnSpPr>
          <p:nvPr/>
        </p:nvCxnSpPr>
        <p:spPr>
          <a:xfrm rot="10800000" flipV="1">
            <a:off x="11029607" y="3282988"/>
            <a:ext cx="941426" cy="712664"/>
          </a:xfrm>
          <a:prstGeom prst="bentConnector3">
            <a:avLst>
              <a:gd name="adj1" fmla="val 12"/>
            </a:avLst>
          </a:prstGeom>
          <a:ln w="76200">
            <a:solidFill>
              <a:srgbClr val="C0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線矢印コネクタ 74">
            <a:extLst>
              <a:ext uri="{FF2B5EF4-FFF2-40B4-BE49-F238E27FC236}">
                <a16:creationId xmlns:a16="http://schemas.microsoft.com/office/drawing/2014/main" id="{23D3CAF4-1E0C-2F98-C610-569D56E63B6B}"/>
              </a:ext>
            </a:extLst>
          </p:cNvPr>
          <p:cNvCxnSpPr>
            <a:cxnSpLocks/>
          </p:cNvCxnSpPr>
          <p:nvPr/>
        </p:nvCxnSpPr>
        <p:spPr>
          <a:xfrm>
            <a:off x="11151209" y="3282987"/>
            <a:ext cx="838200" cy="0"/>
          </a:xfrm>
          <a:prstGeom prst="straightConnector1">
            <a:avLst/>
          </a:prstGeom>
          <a:ln w="76200">
            <a:solidFill>
              <a:srgbClr val="C00000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1" name="グラフィックス 80" descr="レシート 単色塗りつぶし">
            <a:extLst>
              <a:ext uri="{FF2B5EF4-FFF2-40B4-BE49-F238E27FC236}">
                <a16:creationId xmlns:a16="http://schemas.microsoft.com/office/drawing/2014/main" id="{7241F155-B3B5-53F9-8A6C-AA256004A9E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971033" y="3062121"/>
            <a:ext cx="1005403" cy="1005403"/>
          </a:xfrm>
          <a:prstGeom prst="rect">
            <a:avLst/>
          </a:prstGeom>
        </p:spPr>
      </p:pic>
      <p:grpSp>
        <p:nvGrpSpPr>
          <p:cNvPr id="83" name="グループ化 82">
            <a:extLst>
              <a:ext uri="{FF2B5EF4-FFF2-40B4-BE49-F238E27FC236}">
                <a16:creationId xmlns:a16="http://schemas.microsoft.com/office/drawing/2014/main" id="{BEFEA3F3-617E-C797-F549-1EAA70451D91}"/>
              </a:ext>
            </a:extLst>
          </p:cNvPr>
          <p:cNvGrpSpPr/>
          <p:nvPr/>
        </p:nvGrpSpPr>
        <p:grpSpPr>
          <a:xfrm>
            <a:off x="1219200" y="2676668"/>
            <a:ext cx="1565399" cy="2088047"/>
            <a:chOff x="2175483" y="3006543"/>
            <a:chExt cx="1565399" cy="2088047"/>
          </a:xfrm>
        </p:grpSpPr>
        <p:sp>
          <p:nvSpPr>
            <p:cNvPr id="84" name="Freeform 9">
              <a:extLst>
                <a:ext uri="{FF2B5EF4-FFF2-40B4-BE49-F238E27FC236}">
                  <a16:creationId xmlns:a16="http://schemas.microsoft.com/office/drawing/2014/main" id="{495CE6B4-6058-6A14-BE1D-F5C725FDF6C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175483" y="3006543"/>
              <a:ext cx="1565399" cy="1525552"/>
            </a:xfrm>
            <a:custGeom>
              <a:avLst/>
              <a:gdLst/>
              <a:ahLst/>
              <a:cxnLst/>
              <a:rect l="l" t="t" r="r" b="b"/>
              <a:pathLst>
                <a:path w="1565399" h="1525552">
                  <a:moveTo>
                    <a:pt x="0" y="0"/>
                  </a:moveTo>
                  <a:lnTo>
                    <a:pt x="1565399" y="0"/>
                  </a:lnTo>
                  <a:lnTo>
                    <a:pt x="1565399" y="1525552"/>
                  </a:lnTo>
                  <a:lnTo>
                    <a:pt x="0" y="15255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85" name="テキスト ボックス 84">
              <a:extLst>
                <a:ext uri="{FF2B5EF4-FFF2-40B4-BE49-F238E27FC236}">
                  <a16:creationId xmlns:a16="http://schemas.microsoft.com/office/drawing/2014/main" id="{48A377FA-369D-EBB3-7CD4-AAB590BA216A}"/>
                </a:ext>
              </a:extLst>
            </p:cNvPr>
            <p:cNvSpPr txBox="1"/>
            <p:nvPr/>
          </p:nvSpPr>
          <p:spPr>
            <a:xfrm>
              <a:off x="2274341" y="4632925"/>
              <a:ext cx="136768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 err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pyaudio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pic>
        <p:nvPicPr>
          <p:cNvPr id="90" name="グラフィックス 89" descr="レシート 単色塗りつぶし">
            <a:extLst>
              <a:ext uri="{FF2B5EF4-FFF2-40B4-BE49-F238E27FC236}">
                <a16:creationId xmlns:a16="http://schemas.microsoft.com/office/drawing/2014/main" id="{D84561FE-A18F-5CE6-929F-26AD2BACF45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716016" y="3704938"/>
            <a:ext cx="654366" cy="654366"/>
          </a:xfrm>
          <a:prstGeom prst="rect">
            <a:avLst/>
          </a:prstGeom>
        </p:spPr>
      </p:pic>
      <p:cxnSp>
        <p:nvCxnSpPr>
          <p:cNvPr id="95" name="直線矢印コネクタ 94">
            <a:extLst>
              <a:ext uri="{FF2B5EF4-FFF2-40B4-BE49-F238E27FC236}">
                <a16:creationId xmlns:a16="http://schemas.microsoft.com/office/drawing/2014/main" id="{BF60D983-DD8E-424C-9A0E-073D78ED03B7}"/>
              </a:ext>
            </a:extLst>
          </p:cNvPr>
          <p:cNvCxnSpPr>
            <a:cxnSpLocks/>
          </p:cNvCxnSpPr>
          <p:nvPr/>
        </p:nvCxnSpPr>
        <p:spPr>
          <a:xfrm>
            <a:off x="3697647" y="3984468"/>
            <a:ext cx="0" cy="1941109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7" name="グラフィックス 96" descr="レシート 単色塗りつぶし">
            <a:extLst>
              <a:ext uri="{FF2B5EF4-FFF2-40B4-BE49-F238E27FC236}">
                <a16:creationId xmlns:a16="http://schemas.microsoft.com/office/drawing/2014/main" id="{88A52A9B-1560-42DE-DBD2-CE832F40A76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348339" y="4754339"/>
            <a:ext cx="654366" cy="654366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341C5A20-0FEA-6F47-BBE9-6DE892EAFB5A}"/>
              </a:ext>
            </a:extLst>
          </p:cNvPr>
          <p:cNvGrpSpPr/>
          <p:nvPr/>
        </p:nvGrpSpPr>
        <p:grpSpPr>
          <a:xfrm>
            <a:off x="2451387" y="5716017"/>
            <a:ext cx="2295821" cy="2020223"/>
            <a:chOff x="2637565" y="6122140"/>
            <a:chExt cx="2295821" cy="2020223"/>
          </a:xfrm>
        </p:grpSpPr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675DFBA7-75AC-EAA7-DD6A-BF0016A02A50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0" name="テキスト ボックス 99">
              <a:extLst>
                <a:ext uri="{FF2B5EF4-FFF2-40B4-BE49-F238E27FC236}">
                  <a16:creationId xmlns:a16="http://schemas.microsoft.com/office/drawing/2014/main" id="{653A8985-F370-5125-07F0-5567D0130AFB}"/>
                </a:ext>
              </a:extLst>
            </p:cNvPr>
            <p:cNvSpPr txBox="1"/>
            <p:nvPr/>
          </p:nvSpPr>
          <p:spPr>
            <a:xfrm>
              <a:off x="2637565" y="7773031"/>
              <a:ext cx="2295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ja-JP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</p:txBody>
        </p:sp>
      </p:grpSp>
      <p:cxnSp>
        <p:nvCxnSpPr>
          <p:cNvPr id="102" name="直線矢印コネクタ 101">
            <a:extLst>
              <a:ext uri="{FF2B5EF4-FFF2-40B4-BE49-F238E27FC236}">
                <a16:creationId xmlns:a16="http://schemas.microsoft.com/office/drawing/2014/main" id="{75582F52-F7C5-E5DE-1839-1CAB9DE9CC2A}"/>
              </a:ext>
            </a:extLst>
          </p:cNvPr>
          <p:cNvCxnSpPr>
            <a:cxnSpLocks/>
          </p:cNvCxnSpPr>
          <p:nvPr/>
        </p:nvCxnSpPr>
        <p:spPr>
          <a:xfrm>
            <a:off x="8043199" y="6349731"/>
            <a:ext cx="1815569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7" name="グラフィックス 106" descr="コメント: ハート 単色塗りつぶし">
            <a:extLst>
              <a:ext uri="{FF2B5EF4-FFF2-40B4-BE49-F238E27FC236}">
                <a16:creationId xmlns:a16="http://schemas.microsoft.com/office/drawing/2014/main" id="{9453400E-3AEB-7C49-B7D6-ECEDEB3DAF67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540999" y="5829300"/>
            <a:ext cx="821125" cy="821125"/>
          </a:xfrm>
          <a:prstGeom prst="rect">
            <a:avLst/>
          </a:prstGeom>
        </p:spPr>
      </p:pic>
      <p:grpSp>
        <p:nvGrpSpPr>
          <p:cNvPr id="112" name="グループ化 111">
            <a:extLst>
              <a:ext uri="{FF2B5EF4-FFF2-40B4-BE49-F238E27FC236}">
                <a16:creationId xmlns:a16="http://schemas.microsoft.com/office/drawing/2014/main" id="{1B719D50-AA5A-0584-DD1D-F280BE3B6685}"/>
              </a:ext>
            </a:extLst>
          </p:cNvPr>
          <p:cNvGrpSpPr/>
          <p:nvPr/>
        </p:nvGrpSpPr>
        <p:grpSpPr>
          <a:xfrm>
            <a:off x="16611621" y="5841969"/>
            <a:ext cx="1676379" cy="1894271"/>
            <a:chOff x="14518479" y="5789880"/>
            <a:chExt cx="1676379" cy="1894271"/>
          </a:xfrm>
        </p:grpSpPr>
        <p:pic>
          <p:nvPicPr>
            <p:cNvPr id="110" name="グラフィックス 109" descr="男性のプロフィール 枠線">
              <a:extLst>
                <a:ext uri="{FF2B5EF4-FFF2-40B4-BE49-F238E27FC236}">
                  <a16:creationId xmlns:a16="http://schemas.microsoft.com/office/drawing/2014/main" id="{F4D923BA-2915-223D-2343-36F817966E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111" name="テキスト ボックス 110">
              <a:extLst>
                <a:ext uri="{FF2B5EF4-FFF2-40B4-BE49-F238E27FC236}">
                  <a16:creationId xmlns:a16="http://schemas.microsoft.com/office/drawing/2014/main" id="{304FC0AB-C9B8-68D3-1663-93D7700C20B0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113" name="直線矢印コネクタ 112">
            <a:extLst>
              <a:ext uri="{FF2B5EF4-FFF2-40B4-BE49-F238E27FC236}">
                <a16:creationId xmlns:a16="http://schemas.microsoft.com/office/drawing/2014/main" id="{372BADD9-F209-B034-647B-D5FC2F2F19AC}"/>
              </a:ext>
            </a:extLst>
          </p:cNvPr>
          <p:cNvCxnSpPr>
            <a:cxnSpLocks/>
          </p:cNvCxnSpPr>
          <p:nvPr/>
        </p:nvCxnSpPr>
        <p:spPr>
          <a:xfrm>
            <a:off x="11264042" y="636861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直線矢印コネクタ 114">
            <a:extLst>
              <a:ext uri="{FF2B5EF4-FFF2-40B4-BE49-F238E27FC236}">
                <a16:creationId xmlns:a16="http://schemas.microsoft.com/office/drawing/2014/main" id="{F5C8F387-5835-D383-2CFB-81533622F26E}"/>
              </a:ext>
            </a:extLst>
          </p:cNvPr>
          <p:cNvCxnSpPr>
            <a:cxnSpLocks/>
          </p:cNvCxnSpPr>
          <p:nvPr/>
        </p:nvCxnSpPr>
        <p:spPr>
          <a:xfrm>
            <a:off x="14765669" y="6852919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グラフィックス 118" descr="クリップ 単色塗りつぶし">
            <a:extLst>
              <a:ext uri="{FF2B5EF4-FFF2-40B4-BE49-F238E27FC236}">
                <a16:creationId xmlns:a16="http://schemas.microsoft.com/office/drawing/2014/main" id="{E2DDD342-E754-6AD7-84E6-755FA3BEBF1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5302474" y="6571589"/>
            <a:ext cx="624053" cy="624053"/>
          </a:xfrm>
          <a:prstGeom prst="rect">
            <a:avLst/>
          </a:prstGeom>
        </p:spPr>
      </p:pic>
      <p:cxnSp>
        <p:nvCxnSpPr>
          <p:cNvPr id="121" name="直線矢印コネクタ 120">
            <a:extLst>
              <a:ext uri="{FF2B5EF4-FFF2-40B4-BE49-F238E27FC236}">
                <a16:creationId xmlns:a16="http://schemas.microsoft.com/office/drawing/2014/main" id="{42E34384-71BC-14AD-D554-23E1F19BA377}"/>
              </a:ext>
            </a:extLst>
          </p:cNvPr>
          <p:cNvCxnSpPr>
            <a:cxnSpLocks/>
          </p:cNvCxnSpPr>
          <p:nvPr/>
        </p:nvCxnSpPr>
        <p:spPr>
          <a:xfrm>
            <a:off x="11264042" y="6915230"/>
            <a:ext cx="1554798" cy="0"/>
          </a:xfrm>
          <a:prstGeom prst="straightConnector1">
            <a:avLst/>
          </a:prstGeom>
          <a:ln w="571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線矢印コネクタ 122">
            <a:extLst>
              <a:ext uri="{FF2B5EF4-FFF2-40B4-BE49-F238E27FC236}">
                <a16:creationId xmlns:a16="http://schemas.microsoft.com/office/drawing/2014/main" id="{87FEF1FB-563A-8339-751D-45B7E5D7845D}"/>
              </a:ext>
            </a:extLst>
          </p:cNvPr>
          <p:cNvCxnSpPr>
            <a:cxnSpLocks/>
          </p:cNvCxnSpPr>
          <p:nvPr/>
        </p:nvCxnSpPr>
        <p:spPr>
          <a:xfrm>
            <a:off x="14828357" y="6342396"/>
            <a:ext cx="1554798" cy="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グラフィックス 126" descr="コメント: ハート 単色塗りつぶし">
            <a:extLst>
              <a:ext uri="{FF2B5EF4-FFF2-40B4-BE49-F238E27FC236}">
                <a16:creationId xmlns:a16="http://schemas.microsoft.com/office/drawing/2014/main" id="{FD054DCC-E7AB-DF8B-B000-EA2ED165A13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654253" y="5848371"/>
            <a:ext cx="821125" cy="821125"/>
          </a:xfrm>
          <a:prstGeom prst="rect">
            <a:avLst/>
          </a:prstGeom>
        </p:spPr>
      </p:pic>
      <p:pic>
        <p:nvPicPr>
          <p:cNvPr id="128" name="グラフィックス 127" descr="コメント: ハート 単色塗りつぶし">
            <a:extLst>
              <a:ext uri="{FF2B5EF4-FFF2-40B4-BE49-F238E27FC236}">
                <a16:creationId xmlns:a16="http://schemas.microsoft.com/office/drawing/2014/main" id="{92DA5E71-90FB-A156-7AA8-51ED884E225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5172987" y="5846375"/>
            <a:ext cx="821125" cy="821125"/>
          </a:xfrm>
          <a:prstGeom prst="rect">
            <a:avLst/>
          </a:prstGeom>
        </p:spPr>
      </p:pic>
      <p:cxnSp>
        <p:nvCxnSpPr>
          <p:cNvPr id="129" name="直線矢印コネクタ 128">
            <a:extLst>
              <a:ext uri="{FF2B5EF4-FFF2-40B4-BE49-F238E27FC236}">
                <a16:creationId xmlns:a16="http://schemas.microsoft.com/office/drawing/2014/main" id="{D3D7579B-472F-D04A-9B39-19193140C2BA}"/>
              </a:ext>
            </a:extLst>
          </p:cNvPr>
          <p:cNvCxnSpPr>
            <a:cxnSpLocks/>
            <a:endCxn id="85" idx="2"/>
          </p:cNvCxnSpPr>
          <p:nvPr/>
        </p:nvCxnSpPr>
        <p:spPr>
          <a:xfrm flipV="1">
            <a:off x="2001899" y="4764715"/>
            <a:ext cx="0" cy="441466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6090DF4F-B0F2-68A7-B2B5-C3C48BC8F086}"/>
              </a:ext>
            </a:extLst>
          </p:cNvPr>
          <p:cNvCxnSpPr>
            <a:cxnSpLocks/>
          </p:cNvCxnSpPr>
          <p:nvPr/>
        </p:nvCxnSpPr>
        <p:spPr>
          <a:xfrm>
            <a:off x="2001899" y="9179375"/>
            <a:ext cx="15447911" cy="2725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線矢印コネクタ 135">
            <a:extLst>
              <a:ext uri="{FF2B5EF4-FFF2-40B4-BE49-F238E27FC236}">
                <a16:creationId xmlns:a16="http://schemas.microsoft.com/office/drawing/2014/main" id="{5E5CB9AC-50A6-7D1C-20D0-740FB3622FFD}"/>
              </a:ext>
            </a:extLst>
          </p:cNvPr>
          <p:cNvCxnSpPr>
            <a:cxnSpLocks/>
            <a:stCxn id="111" idx="2"/>
          </p:cNvCxnSpPr>
          <p:nvPr/>
        </p:nvCxnSpPr>
        <p:spPr>
          <a:xfrm flipH="1">
            <a:off x="17438339" y="7736240"/>
            <a:ext cx="11471" cy="1487104"/>
          </a:xfrm>
          <a:prstGeom prst="straightConnector1">
            <a:avLst/>
          </a:prstGeom>
          <a:ln w="57150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4" name="グラフィックス 143" descr="クリップ 単色塗りつぶし">
            <a:extLst>
              <a:ext uri="{FF2B5EF4-FFF2-40B4-BE49-F238E27FC236}">
                <a16:creationId xmlns:a16="http://schemas.microsoft.com/office/drawing/2014/main" id="{A3D8215F-3653-D817-A0D8-5C2944F3B54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814750" y="6665934"/>
            <a:ext cx="624053" cy="624053"/>
          </a:xfrm>
          <a:prstGeom prst="rect">
            <a:avLst/>
          </a:prstGeom>
        </p:spPr>
      </p:pic>
      <p:sp>
        <p:nvSpPr>
          <p:cNvPr id="28" name="角丸四角形 27">
            <a:extLst>
              <a:ext uri="{FF2B5EF4-FFF2-40B4-BE49-F238E27FC236}">
                <a16:creationId xmlns:a16="http://schemas.microsoft.com/office/drawing/2014/main" id="{8F338C37-EC57-B792-79CB-228F9BF26E2D}"/>
              </a:ext>
            </a:extLst>
          </p:cNvPr>
          <p:cNvSpPr/>
          <p:nvPr/>
        </p:nvSpPr>
        <p:spPr>
          <a:xfrm>
            <a:off x="443701" y="5483029"/>
            <a:ext cx="918672" cy="3546669"/>
          </a:xfrm>
          <a:prstGeom prst="roundRect">
            <a:avLst/>
          </a:prstGeom>
          <a:solidFill>
            <a:srgbClr val="FFE8E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>
                <a:solidFill>
                  <a:schemeClr val="tx1"/>
                </a:solidFill>
              </a:rPr>
              <a:t>データ分析</a:t>
            </a:r>
            <a:endParaRPr kumimoji="1" lang="en-US" altLang="ja-JP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dirty="0">
                <a:solidFill>
                  <a:schemeClr val="tx1"/>
                </a:solidFill>
              </a:rPr>
              <a:t>to</a:t>
            </a:r>
          </a:p>
          <a:p>
            <a:pPr algn="ctr"/>
            <a:r>
              <a:rPr kumimoji="1" lang="ja-JP" altLang="en-US">
                <a:solidFill>
                  <a:schemeClr val="tx1"/>
                </a:solidFill>
              </a:rPr>
              <a:t>表示</a:t>
            </a:r>
            <a:endParaRPr kumimoji="1" lang="en-US" altLang="ja-JP" dirty="0">
              <a:solidFill>
                <a:schemeClr val="tx1"/>
              </a:solidFill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9D912394-EF3F-3B30-D02E-DB36C456B41B}"/>
              </a:ext>
            </a:extLst>
          </p:cNvPr>
          <p:cNvSpPr txBox="1"/>
          <p:nvPr/>
        </p:nvSpPr>
        <p:spPr>
          <a:xfrm>
            <a:off x="7607007" y="4328831"/>
            <a:ext cx="1003801" cy="369332"/>
          </a:xfrm>
          <a:prstGeom prst="rect">
            <a:avLst/>
          </a:prstGeom>
          <a:solidFill>
            <a:srgbClr val="C00000"/>
          </a:solidFill>
        </p:spPr>
        <p:txBody>
          <a:bodyPr wrap="none" rtlCol="0">
            <a:spAutoFit/>
          </a:bodyPr>
          <a:lstStyle/>
          <a:p>
            <a:r>
              <a:rPr kumimoji="1" lang="ja-JP" altLang="en-US" b="1">
                <a:solidFill>
                  <a:schemeClr val="bg1"/>
                </a:solidFill>
              </a:rPr>
              <a:t>こっち！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E3FDEE0-1838-504C-B873-144497B62A33}"/>
              </a:ext>
            </a:extLst>
          </p:cNvPr>
          <p:cNvGrpSpPr/>
          <p:nvPr/>
        </p:nvGrpSpPr>
        <p:grpSpPr>
          <a:xfrm>
            <a:off x="5736610" y="5665364"/>
            <a:ext cx="2492990" cy="2068936"/>
            <a:chOff x="5071589" y="5451656"/>
            <a:chExt cx="2492990" cy="2068936"/>
          </a:xfrm>
        </p:grpSpPr>
        <p:pic>
          <p:nvPicPr>
            <p:cNvPr id="14" name="グラフィックス 13" descr="ダンス 枠線">
              <a:extLst>
                <a:ext uri="{FF2B5EF4-FFF2-40B4-BE49-F238E27FC236}">
                  <a16:creationId xmlns:a16="http://schemas.microsoft.com/office/drawing/2014/main" id="{292CE5FD-016F-DE7A-D57D-1FAA4C031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366987" y="5451656"/>
              <a:ext cx="1859384" cy="1859384"/>
            </a:xfrm>
            <a:prstGeom prst="rect">
              <a:avLst/>
            </a:prstGeom>
          </p:spPr>
        </p:pic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1E7FB1F1-54B0-6045-176A-DA69D1EFB77A}"/>
                </a:ext>
              </a:extLst>
            </p:cNvPr>
            <p:cNvSpPr txBox="1"/>
            <p:nvPr/>
          </p:nvSpPr>
          <p:spPr>
            <a:xfrm>
              <a:off x="5071589" y="7120482"/>
              <a:ext cx="249299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0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13CC5CAB-18FA-6866-C543-3E39F13E7F8A}"/>
              </a:ext>
            </a:extLst>
          </p:cNvPr>
          <p:cNvCxnSpPr>
            <a:cxnSpLocks/>
          </p:cNvCxnSpPr>
          <p:nvPr/>
        </p:nvCxnSpPr>
        <p:spPr>
          <a:xfrm>
            <a:off x="3697647" y="4000500"/>
            <a:ext cx="1959034" cy="0"/>
          </a:xfrm>
          <a:prstGeom prst="straightConnector1">
            <a:avLst/>
          </a:prstGeom>
          <a:ln w="76200"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5180AF25-2101-A14E-9812-7EC32A80B0BE}"/>
              </a:ext>
            </a:extLst>
          </p:cNvPr>
          <p:cNvCxnSpPr>
            <a:cxnSpLocks/>
          </p:cNvCxnSpPr>
          <p:nvPr/>
        </p:nvCxnSpPr>
        <p:spPr>
          <a:xfrm>
            <a:off x="4541094" y="6349731"/>
            <a:ext cx="125035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アドレス帳 単色塗りつぶし">
            <a:extLst>
              <a:ext uri="{FF2B5EF4-FFF2-40B4-BE49-F238E27FC236}">
                <a16:creationId xmlns:a16="http://schemas.microsoft.com/office/drawing/2014/main" id="{AFEDD660-88D4-337D-DD6B-20E6AA8DFAAD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4723203" y="5945274"/>
            <a:ext cx="821125" cy="821125"/>
          </a:xfrm>
          <a:prstGeom prst="rect">
            <a:avLst/>
          </a:prstGeom>
        </p:spPr>
      </p:pic>
      <p:grpSp>
        <p:nvGrpSpPr>
          <p:cNvPr id="53" name="グループ化 52">
            <a:extLst>
              <a:ext uri="{FF2B5EF4-FFF2-40B4-BE49-F238E27FC236}">
                <a16:creationId xmlns:a16="http://schemas.microsoft.com/office/drawing/2014/main" id="{C65BEFDF-1FCE-2F90-D07F-5EE4D341F280}"/>
              </a:ext>
            </a:extLst>
          </p:cNvPr>
          <p:cNvGrpSpPr/>
          <p:nvPr/>
        </p:nvGrpSpPr>
        <p:grpSpPr>
          <a:xfrm>
            <a:off x="13401661" y="1988751"/>
            <a:ext cx="4552419" cy="2812676"/>
            <a:chOff x="13447104" y="1589979"/>
            <a:chExt cx="4552419" cy="2812676"/>
          </a:xfrm>
        </p:grpSpPr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510EF7B9-04B9-ACDA-9CEA-58A25CBD9BFC}"/>
                </a:ext>
              </a:extLst>
            </p:cNvPr>
            <p:cNvSpPr/>
            <p:nvPr/>
          </p:nvSpPr>
          <p:spPr>
            <a:xfrm>
              <a:off x="13447104" y="1589979"/>
              <a:ext cx="4552419" cy="281267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tx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テキスト ボックス 86">
              <a:extLst>
                <a:ext uri="{FF2B5EF4-FFF2-40B4-BE49-F238E27FC236}">
                  <a16:creationId xmlns:a16="http://schemas.microsoft.com/office/drawing/2014/main" id="{5120B9BC-4FCE-5D40-6FA9-0552B1B7EF53}"/>
                </a:ext>
              </a:extLst>
            </p:cNvPr>
            <p:cNvSpPr txBox="1"/>
            <p:nvPr/>
          </p:nvSpPr>
          <p:spPr>
            <a:xfrm>
              <a:off x="14413095" y="1748998"/>
              <a:ext cx="2031325" cy="2585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：音声データ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：文字データ</a:t>
              </a: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：ラベル</a:t>
              </a:r>
              <a:r>
                <a:rPr kumimoji="1" lang="en-US" altLang="ja-JP" b="1" dirty="0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/</a:t>
              </a:r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スコア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：マッチング結果</a:t>
              </a:r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endParaRPr kumimoji="1" lang="en-US" altLang="ja-JP" b="1" dirty="0">
                <a:solidFill>
                  <a:schemeClr val="accent5">
                    <a:lumMod val="50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r>
                <a:rPr kumimoji="1" lang="ja-JP" altLang="en-US" b="1">
                  <a:solidFill>
                    <a:schemeClr val="accent5">
                      <a:lumMod val="50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：プロフィール</a:t>
              </a:r>
            </a:p>
          </p:txBody>
        </p:sp>
        <p:pic>
          <p:nvPicPr>
            <p:cNvPr id="139" name="グラフィックス 138" descr="音符 単色塗りつぶし">
              <a:extLst>
                <a:ext uri="{FF2B5EF4-FFF2-40B4-BE49-F238E27FC236}">
                  <a16:creationId xmlns:a16="http://schemas.microsoft.com/office/drawing/2014/main" id="{F5C7D4E3-772A-FF13-91C1-000BBCD27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3782048" y="1639283"/>
              <a:ext cx="532417" cy="532417"/>
            </a:xfrm>
            <a:prstGeom prst="rect">
              <a:avLst/>
            </a:prstGeom>
          </p:spPr>
        </p:pic>
        <p:pic>
          <p:nvPicPr>
            <p:cNvPr id="141" name="グラフィックス 140" descr="レシート 単色塗りつぶし">
              <a:extLst>
                <a:ext uri="{FF2B5EF4-FFF2-40B4-BE49-F238E27FC236}">
                  <a16:creationId xmlns:a16="http://schemas.microsoft.com/office/drawing/2014/main" id="{C0B33C7E-A27F-4BB2-1521-E173D2F1E7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13782048" y="2171700"/>
              <a:ext cx="532416" cy="532416"/>
            </a:xfrm>
            <a:prstGeom prst="rect">
              <a:avLst/>
            </a:prstGeom>
          </p:spPr>
        </p:pic>
        <p:pic>
          <p:nvPicPr>
            <p:cNvPr id="142" name="グラフィックス 141" descr="コメント: ハート 単色塗りつぶし">
              <a:extLst>
                <a:ext uri="{FF2B5EF4-FFF2-40B4-BE49-F238E27FC236}">
                  <a16:creationId xmlns:a16="http://schemas.microsoft.com/office/drawing/2014/main" id="{99EF87A7-36E8-A88D-0588-478B1A85D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3735337" y="3313465"/>
              <a:ext cx="610835" cy="610835"/>
            </a:xfrm>
            <a:prstGeom prst="rect">
              <a:avLst/>
            </a:prstGeom>
          </p:spPr>
        </p:pic>
        <p:pic>
          <p:nvPicPr>
            <p:cNvPr id="145" name="グラフィックス 144" descr="クリップ 単色塗りつぶし">
              <a:extLst>
                <a:ext uri="{FF2B5EF4-FFF2-40B4-BE49-F238E27FC236}">
                  <a16:creationId xmlns:a16="http://schemas.microsoft.com/office/drawing/2014/main" id="{5BFD2CF1-E967-6E66-549D-52FE2FC02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/>
            </a:stretch>
          </p:blipFill>
          <p:spPr>
            <a:xfrm>
              <a:off x="13746915" y="3790100"/>
              <a:ext cx="591400" cy="591400"/>
            </a:xfrm>
            <a:prstGeom prst="rect">
              <a:avLst/>
            </a:prstGeom>
          </p:spPr>
        </p:pic>
        <p:pic>
          <p:nvPicPr>
            <p:cNvPr id="52" name="グラフィックス 51" descr="アドレス帳 単色塗りつぶし">
              <a:extLst>
                <a:ext uri="{FF2B5EF4-FFF2-40B4-BE49-F238E27FC236}">
                  <a16:creationId xmlns:a16="http://schemas.microsoft.com/office/drawing/2014/main" id="{3903EAE6-BDC8-75E0-62A0-9380FC6859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/>
            <a:stretch/>
          </p:blipFill>
          <p:spPr>
            <a:xfrm>
              <a:off x="13709214" y="2702049"/>
              <a:ext cx="689254" cy="689254"/>
            </a:xfrm>
            <a:prstGeom prst="rect">
              <a:avLst/>
            </a:prstGeom>
          </p:spPr>
        </p:pic>
      </p:grp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575DB82A-120A-83C0-76CC-33DEFE010E3A}"/>
              </a:ext>
            </a:extLst>
          </p:cNvPr>
          <p:cNvCxnSpPr>
            <a:cxnSpLocks/>
          </p:cNvCxnSpPr>
          <p:nvPr/>
        </p:nvCxnSpPr>
        <p:spPr>
          <a:xfrm flipV="1">
            <a:off x="10439400" y="7658100"/>
            <a:ext cx="0" cy="60960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矢印コネクタ 61">
            <a:extLst>
              <a:ext uri="{FF2B5EF4-FFF2-40B4-BE49-F238E27FC236}">
                <a16:creationId xmlns:a16="http://schemas.microsoft.com/office/drawing/2014/main" id="{842EC671-C7FB-8D8C-9E9E-C14B75BC7C71}"/>
              </a:ext>
            </a:extLst>
          </p:cNvPr>
          <p:cNvCxnSpPr>
            <a:cxnSpLocks/>
          </p:cNvCxnSpPr>
          <p:nvPr/>
        </p:nvCxnSpPr>
        <p:spPr>
          <a:xfrm>
            <a:off x="3579546" y="8231256"/>
            <a:ext cx="6915365" cy="8454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矢印コネクタ 64">
            <a:extLst>
              <a:ext uri="{FF2B5EF4-FFF2-40B4-BE49-F238E27FC236}">
                <a16:creationId xmlns:a16="http://schemas.microsoft.com/office/drawing/2014/main" id="{05442346-1C5D-3C43-D4B9-DB7BDFC2F84E}"/>
              </a:ext>
            </a:extLst>
          </p:cNvPr>
          <p:cNvCxnSpPr>
            <a:cxnSpLocks/>
            <a:endCxn id="100" idx="2"/>
          </p:cNvCxnSpPr>
          <p:nvPr/>
        </p:nvCxnSpPr>
        <p:spPr>
          <a:xfrm flipV="1">
            <a:off x="3599297" y="7736240"/>
            <a:ext cx="1" cy="503470"/>
          </a:xfrm>
          <a:prstGeom prst="straightConnector1">
            <a:avLst/>
          </a:prstGeom>
          <a:ln w="76200">
            <a:solidFill>
              <a:srgbClr val="C00000"/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グラフィックス 67" descr="アドレス帳 単色塗りつぶし">
            <a:extLst>
              <a:ext uri="{FF2B5EF4-FFF2-40B4-BE49-F238E27FC236}">
                <a16:creationId xmlns:a16="http://schemas.microsoft.com/office/drawing/2014/main" id="{DD28F48E-038C-D7B9-41AC-DBA0B5140A35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/>
        </p:blipFill>
        <p:spPr>
          <a:xfrm>
            <a:off x="6499318" y="7796687"/>
            <a:ext cx="821125" cy="821125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AAF51EF-64D5-B425-9FA0-8DA1CF64749C}"/>
              </a:ext>
            </a:extLst>
          </p:cNvPr>
          <p:cNvSpPr txBox="1"/>
          <p:nvPr/>
        </p:nvSpPr>
        <p:spPr>
          <a:xfrm>
            <a:off x="8320698" y="190005"/>
            <a:ext cx="164660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u="sng">
                <a:solidFill>
                  <a:schemeClr val="accent6">
                    <a:lumMod val="75000"/>
                  </a:schemeClr>
                </a:solidFill>
              </a:rPr>
              <a:t>今回進捗</a:t>
            </a:r>
          </a:p>
        </p:txBody>
      </p:sp>
    </p:spTree>
    <p:extLst>
      <p:ext uri="{BB962C8B-B14F-4D97-AF65-F5344CB8AC3E}">
        <p14:creationId xmlns:p14="http://schemas.microsoft.com/office/powerpoint/2010/main" val="882966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2EF56-E0BB-2BB6-81D4-BF2C518A2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0B985542-F126-34D9-8E3D-30AAE0B6D477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942C4685-2844-3D02-2A67-34192AF9EFC6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6829461A-9589-6D3E-5162-C998CAE2826F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F874E3AC-846A-9D24-E4AA-17B5961BFCEA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04784978-BC0E-4A12-943C-D83A6C67B57A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AC68D1C-1ED5-F809-F8CC-436A24BD0AE9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A9383F83-9E4E-D8AC-0BE6-7A01BF6D1EF9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91AEB17F-7FBC-E479-F790-F456BF65E9E4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話者のタグ付けがうまくいかない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A1EECC1-40B1-40E5-CB52-8909CFA64BF8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675D46B3-B0DF-728C-E142-0349B1CF3AA4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pic>
        <p:nvPicPr>
          <p:cNvPr id="10" name="図 9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1D0EA21-780A-F3A8-F209-7876B817986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334"/>
          <a:stretch>
            <a:fillRect/>
          </a:stretch>
        </p:blipFill>
        <p:spPr>
          <a:xfrm>
            <a:off x="10332473" y="2381820"/>
            <a:ext cx="6583927" cy="6847899"/>
          </a:xfrm>
          <a:prstGeom prst="rect">
            <a:avLst/>
          </a:prstGeom>
        </p:spPr>
      </p:pic>
      <p:sp>
        <p:nvSpPr>
          <p:cNvPr id="15" name="左中かっこ 14">
            <a:extLst>
              <a:ext uri="{FF2B5EF4-FFF2-40B4-BE49-F238E27FC236}">
                <a16:creationId xmlns:a16="http://schemas.microsoft.com/office/drawing/2014/main" id="{1E925EAA-782C-1FD0-21F1-01E54537FFB1}"/>
              </a:ext>
            </a:extLst>
          </p:cNvPr>
          <p:cNvSpPr/>
          <p:nvPr/>
        </p:nvSpPr>
        <p:spPr>
          <a:xfrm>
            <a:off x="9829800" y="4914901"/>
            <a:ext cx="502672" cy="1904994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左中かっこ 15">
            <a:extLst>
              <a:ext uri="{FF2B5EF4-FFF2-40B4-BE49-F238E27FC236}">
                <a16:creationId xmlns:a16="http://schemas.microsoft.com/office/drawing/2014/main" id="{444E7167-928D-96B3-58D8-48466C7B4AB1}"/>
              </a:ext>
            </a:extLst>
          </p:cNvPr>
          <p:cNvSpPr/>
          <p:nvPr/>
        </p:nvSpPr>
        <p:spPr>
          <a:xfrm>
            <a:off x="9829798" y="6963673"/>
            <a:ext cx="502673" cy="1904995"/>
          </a:xfrm>
          <a:prstGeom prst="leftBrac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583E643-E73C-6B58-DAD9-50724EF04879}"/>
              </a:ext>
            </a:extLst>
          </p:cNvPr>
          <p:cNvSpPr txBox="1"/>
          <p:nvPr/>
        </p:nvSpPr>
        <p:spPr>
          <a:xfrm>
            <a:off x="1282599" y="4389851"/>
            <a:ext cx="8470589" cy="2369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u="sng">
                <a:solidFill>
                  <a:srgbClr val="C00000"/>
                </a:solidFill>
              </a:rPr>
              <a:t>全ての発話内容が話者タグだけ変化して格納している</a:t>
            </a:r>
            <a:endParaRPr kumimoji="1" lang="en-US" altLang="ja-JP" sz="2800" b="1" u="sng" dirty="0">
              <a:solidFill>
                <a:srgbClr val="C00000"/>
              </a:solidFill>
            </a:endParaRPr>
          </a:p>
          <a:p>
            <a:endParaRPr kumimoji="1" lang="en-US" altLang="ja-JP" sz="2400" dirty="0"/>
          </a:p>
          <a:p>
            <a:r>
              <a:rPr kumimoji="1" lang="en-US" altLang="ja-JP" sz="2400" dirty="0"/>
              <a:t>【</a:t>
            </a:r>
            <a:r>
              <a:rPr kumimoji="1" lang="ja-JP" altLang="en-US" sz="2400"/>
              <a:t>本来の出力イメージ</a:t>
            </a:r>
            <a:r>
              <a:rPr kumimoji="1" lang="en-US" altLang="ja-JP" sz="2400" dirty="0"/>
              <a:t>】</a:t>
            </a:r>
          </a:p>
          <a:p>
            <a:r>
              <a:rPr kumimoji="1" lang="ja-JP" altLang="en-US" sz="2400"/>
              <a:t>話者</a:t>
            </a:r>
            <a:r>
              <a:rPr kumimoji="1" lang="en-US" altLang="ja-JP" sz="2400" dirty="0"/>
              <a:t> 0</a:t>
            </a:r>
            <a:r>
              <a:rPr kumimoji="1" lang="ja-JP" altLang="en-US" sz="2400"/>
              <a:t>：明日はミーティングです</a:t>
            </a:r>
            <a:endParaRPr kumimoji="1" lang="en-US" altLang="ja-JP" sz="2400" dirty="0"/>
          </a:p>
          <a:p>
            <a:r>
              <a:rPr kumimoji="1" lang="ja-JP" altLang="en-US" sz="2400"/>
              <a:t>話者</a:t>
            </a:r>
            <a:r>
              <a:rPr kumimoji="1" lang="en-US" altLang="ja-JP" sz="2400" dirty="0"/>
              <a:t> 1</a:t>
            </a:r>
            <a:r>
              <a:rPr kumimoji="1" lang="ja-JP" altLang="en-US" sz="2400"/>
              <a:t>：識別できないね</a:t>
            </a:r>
            <a:endParaRPr kumimoji="1" lang="en-US" altLang="ja-JP" sz="2400" dirty="0"/>
          </a:p>
          <a:p>
            <a:r>
              <a:rPr kumimoji="1" lang="ja-JP" altLang="en-US" sz="2400"/>
              <a:t>話者</a:t>
            </a:r>
            <a:r>
              <a:rPr kumimoji="1" lang="en-US" altLang="ja-JP" sz="2400" dirty="0"/>
              <a:t> 0</a:t>
            </a:r>
            <a:r>
              <a:rPr kumimoji="1" lang="ja-JP" altLang="en-US" sz="2400"/>
              <a:t>：悲しいです</a:t>
            </a:r>
            <a:endParaRPr kumimoji="1" lang="en-US" altLang="ja-JP" sz="2400" dirty="0"/>
          </a:p>
        </p:txBody>
      </p:sp>
      <p:pic>
        <p:nvPicPr>
          <p:cNvPr id="19" name="357388.mp3">
            <a:hlinkClick r:id="" action="ppaction://media"/>
            <a:extLst>
              <a:ext uri="{FF2B5EF4-FFF2-40B4-BE49-F238E27FC236}">
                <a16:creationId xmlns:a16="http://schemas.microsoft.com/office/drawing/2014/main" id="{B31AE011-4749-CB40-FDBB-F2A7442CDCD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962400" y="7448639"/>
            <a:ext cx="812800" cy="81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110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974" fill="hold"/>
                                        <p:tgtEl>
                                          <p:spTgt spid="1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9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D5002-4BB4-2211-0E8A-6AC64E3D4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5AF312F-D401-5633-5FD6-70E23861EFC4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0C0ED546-C0ED-C420-0C5B-EA623EE958D3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4113394B-F97F-5F64-3933-AD805D66533E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D58FA50-42B2-BD0F-7FB0-46350DC7D8D3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A9D5182E-B4BF-971C-5FE0-9844E477CA07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0479DADC-052B-A1A5-DEC3-DAFC5EC5F0B0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4163759-408E-DA88-761F-C6346DC18BC1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E5D4D31-71CF-A32A-7709-B866A3FC8B09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話者のタグ付けがうまくいかない　の原因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A34F7AF-94EE-7BA1-9B30-2DD95595D94F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sp>
        <p:nvSpPr>
          <p:cNvPr id="11" name="AutoShape 6">
            <a:extLst>
              <a:ext uri="{FF2B5EF4-FFF2-40B4-BE49-F238E27FC236}">
                <a16:creationId xmlns:a16="http://schemas.microsoft.com/office/drawing/2014/main" id="{C406EA36-A192-5013-FFDF-B7AC6D4D5A35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C914C12-0538-6ABD-663A-199CE6540CE9}"/>
              </a:ext>
            </a:extLst>
          </p:cNvPr>
          <p:cNvSpPr txBox="1"/>
          <p:nvPr/>
        </p:nvSpPr>
        <p:spPr>
          <a:xfrm>
            <a:off x="1350187" y="2442734"/>
            <a:ext cx="17077304" cy="65556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 err="1"/>
              <a:t>Gemni</a:t>
            </a:r>
            <a:r>
              <a:rPr kumimoji="1" lang="ja-JP" altLang="en-US" sz="2800"/>
              <a:t>に原因の要因を聞いてみた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en-US" altLang="ja-JP" sz="2800" b="1" u="sng" dirty="0">
                <a:solidFill>
                  <a:schemeClr val="tx2"/>
                </a:solidFill>
              </a:rPr>
              <a:t>①</a:t>
            </a:r>
            <a:r>
              <a:rPr kumimoji="1" lang="ja-JP" altLang="en-US" sz="2800" b="1" u="sng">
                <a:solidFill>
                  <a:schemeClr val="tx2"/>
                </a:solidFill>
              </a:rPr>
              <a:t>最小</a:t>
            </a:r>
            <a:r>
              <a:rPr kumimoji="1" lang="en-US" altLang="ja-JP" sz="2800" b="1" u="sng" dirty="0">
                <a:solidFill>
                  <a:schemeClr val="tx2"/>
                </a:solidFill>
              </a:rPr>
              <a:t>or</a:t>
            </a:r>
            <a:r>
              <a:rPr kumimoji="1" lang="ja-JP" altLang="en-US" sz="2800" b="1" u="sng">
                <a:solidFill>
                  <a:schemeClr val="tx2"/>
                </a:solidFill>
              </a:rPr>
              <a:t>最大の発話者数に合わせようとしている</a:t>
            </a:r>
            <a:br>
              <a:rPr kumimoji="1" lang="en-US" altLang="ja-JP" sz="2800" dirty="0"/>
            </a:br>
            <a:r>
              <a:rPr kumimoji="1" lang="en-US" altLang="ja-JP" sz="2800" dirty="0"/>
              <a:t>	</a:t>
            </a:r>
            <a:r>
              <a:rPr kumimoji="1" lang="ja-JP" altLang="en-US" sz="2800"/>
              <a:t>→最小発話者数</a:t>
            </a:r>
            <a:r>
              <a:rPr kumimoji="1" lang="en-US" altLang="ja-JP" sz="2800" dirty="0"/>
              <a:t>=</a:t>
            </a:r>
            <a:r>
              <a:rPr kumimoji="1" lang="ja-JP" altLang="en-US" sz="2800"/>
              <a:t>最大発話者数</a:t>
            </a:r>
            <a:r>
              <a:rPr kumimoji="1" lang="en-US" altLang="ja-JP" sz="2800" dirty="0"/>
              <a:t>=2</a:t>
            </a:r>
            <a:r>
              <a:rPr kumimoji="1" lang="ja-JP" altLang="en-US" sz="2800"/>
              <a:t>に設定しても失敗</a:t>
            </a:r>
            <a:r>
              <a:rPr kumimoji="1" lang="en-US" altLang="ja-JP" sz="2800" dirty="0"/>
              <a:t>...</a:t>
            </a:r>
            <a:r>
              <a:rPr kumimoji="1" lang="ja-JP" altLang="en-US" sz="2800"/>
              <a:t>。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en-US" altLang="ja-JP" sz="2800" b="1" u="sng" dirty="0">
                <a:solidFill>
                  <a:schemeClr val="tx2"/>
                </a:solidFill>
              </a:rPr>
              <a:t>②</a:t>
            </a:r>
            <a:r>
              <a:rPr kumimoji="1" lang="ja-JP" altLang="en-US" sz="2800" b="1" u="sng">
                <a:solidFill>
                  <a:schemeClr val="tx2"/>
                </a:solidFill>
              </a:rPr>
              <a:t>機械音声から特徴を抽出できない</a:t>
            </a:r>
            <a:endParaRPr kumimoji="1" lang="en-US" altLang="ja-JP" sz="2800" b="1" u="sng" dirty="0">
              <a:solidFill>
                <a:schemeClr val="tx2"/>
              </a:solidFill>
            </a:endParaRPr>
          </a:p>
          <a:p>
            <a:r>
              <a:rPr kumimoji="1" lang="en-US" altLang="ja-JP" sz="2800" dirty="0"/>
              <a:t>	</a:t>
            </a:r>
            <a:r>
              <a:rPr kumimoji="1" lang="ja-JP" altLang="en-US" sz="2800"/>
              <a:t>→人が発話した音声データでも失敗</a:t>
            </a:r>
            <a:r>
              <a:rPr kumimoji="1" lang="en-US" altLang="ja-JP" sz="2800" dirty="0"/>
              <a:t>...</a:t>
            </a:r>
            <a:r>
              <a:rPr kumimoji="1" lang="ja-JP" altLang="en-US" sz="2800"/>
              <a:t>。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en-US" altLang="ja-JP" sz="2800" b="1" u="sng" dirty="0">
                <a:solidFill>
                  <a:schemeClr val="tx2"/>
                </a:solidFill>
              </a:rPr>
              <a:t>③</a:t>
            </a:r>
            <a:r>
              <a:rPr kumimoji="1" lang="ja-JP" altLang="en-US" sz="2800" b="1" u="sng">
                <a:solidFill>
                  <a:schemeClr val="tx2"/>
                </a:solidFill>
              </a:rPr>
              <a:t>音声データの詳細設定のミス</a:t>
            </a:r>
            <a:r>
              <a:rPr kumimoji="1" lang="en-US" altLang="ja-JP" sz="2800" b="1" u="sng" dirty="0">
                <a:solidFill>
                  <a:schemeClr val="tx2"/>
                </a:solidFill>
              </a:rPr>
              <a:t>(e.g.)</a:t>
            </a:r>
            <a:r>
              <a:rPr kumimoji="1" lang="ja-JP" altLang="en-US" sz="2800" b="1" u="sng">
                <a:solidFill>
                  <a:schemeClr val="tx2"/>
                </a:solidFill>
              </a:rPr>
              <a:t>サンプリングレート，チャンネル数など</a:t>
            </a:r>
            <a:endParaRPr kumimoji="1" lang="en-US" altLang="ja-JP" sz="2800" b="1" u="sng" dirty="0">
              <a:solidFill>
                <a:schemeClr val="tx2"/>
              </a:solidFill>
            </a:endParaRPr>
          </a:p>
          <a:p>
            <a:r>
              <a:rPr kumimoji="1" lang="en-US" altLang="ja-JP" sz="2800" dirty="0"/>
              <a:t>	</a:t>
            </a:r>
            <a:r>
              <a:rPr kumimoji="1" lang="ja-JP" altLang="en-US" sz="2800"/>
              <a:t>→問題がないことを確認済</a:t>
            </a:r>
            <a:endParaRPr kumimoji="1" lang="en-US" altLang="ja-JP" sz="2800" dirty="0"/>
          </a:p>
          <a:p>
            <a:endParaRPr kumimoji="1" lang="en-US" altLang="ja-JP" sz="2800" dirty="0"/>
          </a:p>
          <a:p>
            <a:r>
              <a:rPr kumimoji="1" lang="en-US" altLang="ja-JP" sz="2800" b="1" u="sng" dirty="0">
                <a:solidFill>
                  <a:schemeClr val="tx2"/>
                </a:solidFill>
              </a:rPr>
              <a:t>③</a:t>
            </a:r>
            <a:r>
              <a:rPr lang="en-US" altLang="ja-JP" sz="2800" b="1" u="sng" dirty="0">
                <a:solidFill>
                  <a:schemeClr val="tx2"/>
                </a:solidFill>
              </a:rPr>
              <a:t>Google Cloud Speech-to-Text API</a:t>
            </a:r>
            <a:r>
              <a:rPr lang="ja-JP" altLang="en-US" sz="2800" b="1" u="sng">
                <a:solidFill>
                  <a:schemeClr val="tx2"/>
                </a:solidFill>
              </a:rPr>
              <a:t>のダイアライゼーション機能は不適切</a:t>
            </a:r>
            <a:endParaRPr lang="en-US" altLang="ja-JP" sz="2800" b="1" u="sng" dirty="0">
              <a:solidFill>
                <a:schemeClr val="tx2"/>
              </a:solidFill>
            </a:endParaRPr>
          </a:p>
          <a:p>
            <a:r>
              <a:rPr lang="ja-JP" altLang="en-US" sz="2800"/>
              <a:t>　　</a:t>
            </a:r>
            <a:r>
              <a:rPr lang="en-US" altLang="ja-JP" sz="2800" dirty="0"/>
              <a:t>Gemini</a:t>
            </a:r>
            <a:r>
              <a:rPr lang="ja-JP" altLang="en-US" sz="2800"/>
              <a:t>「上記の方法でも話者分離がうまくいかない場合、</a:t>
            </a:r>
            <a:r>
              <a:rPr lang="en-US" altLang="ja-JP" sz="2800" dirty="0"/>
              <a:t>Google Cloud Speech-to-Text API</a:t>
            </a:r>
            <a:r>
              <a:rPr lang="ja-JP" altLang="en-US" sz="2800"/>
              <a:t>の話者分離機能が、</a:t>
            </a:r>
            <a:endParaRPr lang="en-US" altLang="ja-JP" sz="2800" dirty="0"/>
          </a:p>
          <a:p>
            <a:r>
              <a:rPr lang="en-US" altLang="ja-JP" sz="2800" b="1" dirty="0">
                <a:solidFill>
                  <a:srgbClr val="C00000"/>
                </a:solidFill>
              </a:rPr>
              <a:t>	</a:t>
            </a:r>
            <a:r>
              <a:rPr lang="ja-JP" altLang="en-US" sz="2800" b="1">
                <a:solidFill>
                  <a:srgbClr val="C00000"/>
                </a:solidFill>
              </a:rPr>
              <a:t>　　　</a:t>
            </a:r>
            <a:r>
              <a:rPr lang="en-US" altLang="ja-JP" sz="2800" b="1" dirty="0">
                <a:solidFill>
                  <a:srgbClr val="C00000"/>
                </a:solidFill>
              </a:rPr>
              <a:t> </a:t>
            </a:r>
            <a:r>
              <a:rPr lang="ja-JP" altLang="en-US" sz="2800" b="1">
                <a:solidFill>
                  <a:srgbClr val="C00000"/>
                </a:solidFill>
              </a:rPr>
              <a:t>あなたの目的や音声データの特性に対して、現状では十分な精度を提供できない</a:t>
            </a:r>
            <a:endParaRPr lang="en-US" altLang="ja-JP" sz="2800" b="1" dirty="0">
              <a:solidFill>
                <a:srgbClr val="C00000"/>
              </a:solidFill>
            </a:endParaRPr>
          </a:p>
          <a:p>
            <a:r>
              <a:rPr lang="en-US" altLang="ja-JP" sz="2800" b="1" dirty="0">
                <a:solidFill>
                  <a:srgbClr val="C00000"/>
                </a:solidFill>
              </a:rPr>
              <a:t>	</a:t>
            </a:r>
            <a:r>
              <a:rPr lang="ja-JP" altLang="en-US" sz="2800" b="1">
                <a:solidFill>
                  <a:srgbClr val="C00000"/>
                </a:solidFill>
              </a:rPr>
              <a:t>　　　</a:t>
            </a:r>
            <a:r>
              <a:rPr lang="en-US" altLang="ja-JP" sz="2800" b="1" dirty="0">
                <a:solidFill>
                  <a:srgbClr val="C00000"/>
                </a:solidFill>
              </a:rPr>
              <a:t> </a:t>
            </a:r>
            <a:r>
              <a:rPr lang="ja-JP" altLang="en-US" sz="2800"/>
              <a:t>と判断せざるを得ません。」</a:t>
            </a:r>
            <a:endParaRPr lang="en-US" altLang="ja-JP" sz="2800" dirty="0"/>
          </a:p>
        </p:txBody>
      </p:sp>
    </p:spTree>
    <p:extLst>
      <p:ext uri="{BB962C8B-B14F-4D97-AF65-F5344CB8AC3E}">
        <p14:creationId xmlns:p14="http://schemas.microsoft.com/office/powerpoint/2010/main" val="2144663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20208D6-8E36-E467-5E92-5979E7FCE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C7FB5D9B-6C55-DB01-CF7D-84890102EFF0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B9C991F7-523C-1525-6D67-A1DC8C57251D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C6C5DC7-031A-ADEB-F2AB-EA3CDABCAB0C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033CECEC-DAF2-6083-B603-1C5AACD70FFE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3B7E2A20-ED8E-63AF-B831-FB764F718CF3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A2113A07-FF1A-E73B-5B4B-B84F10977321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2CC4BCB-5190-1ABA-BA4C-5389A439C0B2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54CDA2D-F4C6-86C4-D189-ED5FD04DEE83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今後実装する部分</a:t>
            </a: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データ作成・変換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B45A17B0-5F54-C5B4-7D2C-81B0F88E072B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A600FBBF-7463-93F1-0FB5-791239365EBF}"/>
              </a:ext>
            </a:extLst>
          </p:cNvPr>
          <p:cNvGraphicFramePr>
            <a:graphicFrameLocks noGrp="1"/>
          </p:cNvGraphicFramePr>
          <p:nvPr/>
        </p:nvGraphicFramePr>
        <p:xfrm>
          <a:off x="7935297" y="4229100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音文字起こしデータを</a:t>
                      </a:r>
                      <a:r>
                        <a:rPr kumimoji="1" lang="en-US" altLang="ja-JP" sz="2800" b="1" dirty="0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GCS</a:t>
                      </a:r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に保存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する</a:t>
                      </a:r>
                      <a:endParaRPr kumimoji="1" lang="ja-JP" altLang="en-US" sz="2800" b="1">
                        <a:solidFill>
                          <a:srgbClr val="C00000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そもそも，文字起こしのコードはどうやって実行する</a:t>
                      </a:r>
                      <a:r>
                        <a:rPr kumimoji="1" lang="en-US" altLang="ja-JP" sz="2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...</a:t>
                      </a:r>
                      <a:r>
                        <a:rPr kumimoji="1" lang="ja-JP" altLang="en-US" sz="2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？</a:t>
                      </a:r>
                      <a:endParaRPr kumimoji="1" lang="en-US" altLang="ja-JP" sz="2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pSp>
        <p:nvGrpSpPr>
          <p:cNvPr id="31" name="グループ化 30">
            <a:extLst>
              <a:ext uri="{FF2B5EF4-FFF2-40B4-BE49-F238E27FC236}">
                <a16:creationId xmlns:a16="http://schemas.microsoft.com/office/drawing/2014/main" id="{8F4A169C-4DD1-2639-C05F-A4D899B3283B}"/>
              </a:ext>
            </a:extLst>
          </p:cNvPr>
          <p:cNvGrpSpPr/>
          <p:nvPr/>
        </p:nvGrpSpPr>
        <p:grpSpPr>
          <a:xfrm>
            <a:off x="856856" y="4474062"/>
            <a:ext cx="1855186" cy="2078502"/>
            <a:chOff x="7213805" y="3006543"/>
            <a:chExt cx="1855186" cy="2078502"/>
          </a:xfrm>
        </p:grpSpPr>
        <p:sp>
          <p:nvSpPr>
            <p:cNvPr id="37" name="Freeform 22">
              <a:extLst>
                <a:ext uri="{FF2B5EF4-FFF2-40B4-BE49-F238E27FC236}">
                  <a16:creationId xmlns:a16="http://schemas.microsoft.com/office/drawing/2014/main" id="{E0250CED-C08C-C438-5E12-933F7B56A3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213805" y="3006543"/>
              <a:ext cx="1855186" cy="1498063"/>
            </a:xfrm>
            <a:custGeom>
              <a:avLst/>
              <a:gdLst/>
              <a:ahLst/>
              <a:cxnLst/>
              <a:rect l="l" t="t" r="r" b="b"/>
              <a:pathLst>
                <a:path w="1855186" h="1498063">
                  <a:moveTo>
                    <a:pt x="0" y="0"/>
                  </a:moveTo>
                  <a:lnTo>
                    <a:pt x="1855187" y="0"/>
                  </a:lnTo>
                  <a:lnTo>
                    <a:pt x="1855187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61B714C1-2206-3A3C-4E34-350CB4E7CC8D}"/>
                </a:ext>
              </a:extLst>
            </p:cNvPr>
            <p:cNvSpPr txBox="1"/>
            <p:nvPr/>
          </p:nvSpPr>
          <p:spPr>
            <a:xfrm>
              <a:off x="7723275" y="4623380"/>
              <a:ext cx="84510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GCS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0803E1B1-8DF4-BCB3-B27F-5AEA4BD298C5}"/>
              </a:ext>
            </a:extLst>
          </p:cNvPr>
          <p:cNvGrpSpPr/>
          <p:nvPr/>
        </p:nvGrpSpPr>
        <p:grpSpPr>
          <a:xfrm>
            <a:off x="4963497" y="4497200"/>
            <a:ext cx="2529860" cy="2055363"/>
            <a:chOff x="11486205" y="3006543"/>
            <a:chExt cx="2529860" cy="2055363"/>
          </a:xfrm>
        </p:grpSpPr>
        <p:sp>
          <p:nvSpPr>
            <p:cNvPr id="40" name="Freeform 11">
              <a:extLst>
                <a:ext uri="{FF2B5EF4-FFF2-40B4-BE49-F238E27FC236}">
                  <a16:creationId xmlns:a16="http://schemas.microsoft.com/office/drawing/2014/main" id="{5B9A9A67-A9E1-98C9-02BF-BBBAE72D262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990296" y="3006543"/>
              <a:ext cx="1521679" cy="1480179"/>
            </a:xfrm>
            <a:custGeom>
              <a:avLst/>
              <a:gdLst/>
              <a:ahLst/>
              <a:cxnLst/>
              <a:rect l="l" t="t" r="r" b="b"/>
              <a:pathLst>
                <a:path w="1521679" h="1480179">
                  <a:moveTo>
                    <a:pt x="0" y="0"/>
                  </a:moveTo>
                  <a:lnTo>
                    <a:pt x="1521679" y="0"/>
                  </a:lnTo>
                  <a:lnTo>
                    <a:pt x="1521679" y="1480179"/>
                  </a:lnTo>
                  <a:lnTo>
                    <a:pt x="0" y="14801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41" name="テキスト ボックス 40">
              <a:extLst>
                <a:ext uri="{FF2B5EF4-FFF2-40B4-BE49-F238E27FC236}">
                  <a16:creationId xmlns:a16="http://schemas.microsoft.com/office/drawing/2014/main" id="{26275DAE-80D1-2043-CEB6-2EDB1FEA18FE}"/>
                </a:ext>
              </a:extLst>
            </p:cNvPr>
            <p:cNvSpPr txBox="1"/>
            <p:nvPr/>
          </p:nvSpPr>
          <p:spPr>
            <a:xfrm>
              <a:off x="11486205" y="4600241"/>
              <a:ext cx="252986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Speech-to-Text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cxnSp>
        <p:nvCxnSpPr>
          <p:cNvPr id="42" name="直線矢印コネクタ 41">
            <a:extLst>
              <a:ext uri="{FF2B5EF4-FFF2-40B4-BE49-F238E27FC236}">
                <a16:creationId xmlns:a16="http://schemas.microsoft.com/office/drawing/2014/main" id="{74542BE4-1539-BFEF-5FA3-8EA7E70C9B53}"/>
              </a:ext>
            </a:extLst>
          </p:cNvPr>
          <p:cNvCxnSpPr>
            <a:cxnSpLocks/>
          </p:cNvCxnSpPr>
          <p:nvPr/>
        </p:nvCxnSpPr>
        <p:spPr>
          <a:xfrm flipH="1">
            <a:off x="3237350" y="5580231"/>
            <a:ext cx="1676400" cy="575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グラフィックス 42" descr="レシート 単色塗りつぶし">
            <a:extLst>
              <a:ext uri="{FF2B5EF4-FFF2-40B4-BE49-F238E27FC236}">
                <a16:creationId xmlns:a16="http://schemas.microsoft.com/office/drawing/2014/main" id="{94834239-B1A9-DFD3-4F84-D8906459B1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20497" y="5300701"/>
            <a:ext cx="654366" cy="654366"/>
          </a:xfrm>
          <a:prstGeom prst="rect">
            <a:avLst/>
          </a:prstGeom>
        </p:spPr>
      </p:pic>
      <p:sp>
        <p:nvSpPr>
          <p:cNvPr id="11" name="AutoShape 6">
            <a:extLst>
              <a:ext uri="{FF2B5EF4-FFF2-40B4-BE49-F238E27FC236}">
                <a16:creationId xmlns:a16="http://schemas.microsoft.com/office/drawing/2014/main" id="{B9B686C5-DAA9-C2FD-DC9F-81B27580DB58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4403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C3BDE5-03A8-6C95-D679-D2A538C13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B49E2E48-AF92-216A-1002-DEA3E5A9E681}"/>
              </a:ext>
            </a:extLst>
          </p:cNvPr>
          <p:cNvSpPr/>
          <p:nvPr/>
        </p:nvSpPr>
        <p:spPr>
          <a:xfrm>
            <a:off x="857250" y="2361305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D7447D6A-BFDC-3745-CF2C-34904286CA5D}"/>
              </a:ext>
            </a:extLst>
          </p:cNvPr>
          <p:cNvSpPr/>
          <p:nvPr/>
        </p:nvSpPr>
        <p:spPr>
          <a:xfrm>
            <a:off x="857250" y="1047750"/>
            <a:ext cx="16573459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4C651D9-1EE6-1C7D-2CC7-882C9FB9CCDC}"/>
              </a:ext>
            </a:extLst>
          </p:cNvPr>
          <p:cNvSpPr/>
          <p:nvPr/>
        </p:nvSpPr>
        <p:spPr>
          <a:xfrm flipV="1">
            <a:off x="856856" y="904405"/>
            <a:ext cx="16574288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BA204C76-E99B-5105-57AD-276FBC2E2BA9}"/>
              </a:ext>
            </a:extLst>
          </p:cNvPr>
          <p:cNvSpPr/>
          <p:nvPr/>
        </p:nvSpPr>
        <p:spPr>
          <a:xfrm>
            <a:off x="857250" y="9382595"/>
            <a:ext cx="16573500" cy="0"/>
          </a:xfrm>
          <a:prstGeom prst="line">
            <a:avLst/>
          </a:prstGeom>
          <a:ln w="571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8E0B9951-ED97-3CC3-AB3F-A74BEF52AFF0}"/>
              </a:ext>
            </a:extLst>
          </p:cNvPr>
          <p:cNvSpPr/>
          <p:nvPr/>
        </p:nvSpPr>
        <p:spPr>
          <a:xfrm>
            <a:off x="857250" y="9239250"/>
            <a:ext cx="16573500" cy="0"/>
          </a:xfrm>
          <a:prstGeom prst="line">
            <a:avLst/>
          </a:prstGeom>
          <a:ln w="19050" cap="flat">
            <a:solidFill>
              <a:srgbClr val="1B1B1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EFA54D60-D1DF-C503-E758-A1725B7F1E9D}"/>
              </a:ext>
            </a:extLst>
          </p:cNvPr>
          <p:cNvGrpSpPr/>
          <p:nvPr/>
        </p:nvGrpSpPr>
        <p:grpSpPr>
          <a:xfrm>
            <a:off x="1282599" y="650625"/>
            <a:ext cx="1213487" cy="1720205"/>
            <a:chOff x="0" y="0"/>
            <a:chExt cx="319601" cy="453058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FE72C7E5-654D-DF39-59DB-24874AF2E09F}"/>
                </a:ext>
              </a:extLst>
            </p:cNvPr>
            <p:cNvSpPr/>
            <p:nvPr/>
          </p:nvSpPr>
          <p:spPr>
            <a:xfrm>
              <a:off x="0" y="0"/>
              <a:ext cx="319601" cy="453058"/>
            </a:xfrm>
            <a:custGeom>
              <a:avLst/>
              <a:gdLst/>
              <a:ahLst/>
              <a:cxnLst/>
              <a:rect l="l" t="t" r="r" b="b"/>
              <a:pathLst>
                <a:path w="319601" h="453058">
                  <a:moveTo>
                    <a:pt x="0" y="0"/>
                  </a:moveTo>
                  <a:lnTo>
                    <a:pt x="319601" y="0"/>
                  </a:lnTo>
                  <a:lnTo>
                    <a:pt x="319601" y="453058"/>
                  </a:lnTo>
                  <a:lnTo>
                    <a:pt x="0" y="453058"/>
                  </a:lnTo>
                  <a:close/>
                </a:path>
              </a:pathLst>
            </a:custGeom>
            <a:solidFill>
              <a:srgbClr val="1B1B1B"/>
            </a:solid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69194DF2-DB27-739C-6E37-96485FF3B90B}"/>
                </a:ext>
              </a:extLst>
            </p:cNvPr>
            <p:cNvSpPr txBox="1"/>
            <p:nvPr/>
          </p:nvSpPr>
          <p:spPr>
            <a:xfrm>
              <a:off x="0" y="-47625"/>
              <a:ext cx="319601" cy="5006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79381A37-1F11-39F9-EF48-75AAA5BA2057}"/>
              </a:ext>
            </a:extLst>
          </p:cNvPr>
          <p:cNvSpPr txBox="1"/>
          <p:nvPr/>
        </p:nvSpPr>
        <p:spPr>
          <a:xfrm>
            <a:off x="2949343" y="1371153"/>
            <a:ext cx="14309957" cy="596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今後実装する部分</a:t>
            </a:r>
            <a:r>
              <a:rPr lang="ja-JP" altLang="en-US" sz="3500" b="1" spc="175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　</a:t>
            </a:r>
            <a:r>
              <a:rPr lang="en-US" sz="3500" b="1" spc="175" dirty="0" err="1">
                <a:solidFill>
                  <a:srgbClr val="1B1B1B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Noto Sans JP Heavy"/>
                <a:sym typeface="Noto Sans JP Heavy"/>
              </a:rPr>
              <a:t>データ管理</a:t>
            </a:r>
            <a:endParaRPr lang="en-US" sz="3500" b="1" spc="175" dirty="0">
              <a:solidFill>
                <a:srgbClr val="1B1B1B"/>
              </a:solidFill>
              <a:latin typeface="Yu Gothic" panose="020B0400000000000000" pitchFamily="34" charset="-128"/>
              <a:ea typeface="Yu Gothic" panose="020B0400000000000000" pitchFamily="34" charset="-128"/>
              <a:cs typeface="Noto Sans JP Heavy"/>
              <a:sym typeface="Noto Sans JP Heavy"/>
            </a:endParaRP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4064EC89-5EA3-CF77-5FE7-3A3D5E46BF75}"/>
              </a:ext>
            </a:extLst>
          </p:cNvPr>
          <p:cNvSpPr txBox="1"/>
          <p:nvPr/>
        </p:nvSpPr>
        <p:spPr>
          <a:xfrm>
            <a:off x="1461953" y="1228278"/>
            <a:ext cx="854779" cy="7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00"/>
              </a:lnSpc>
              <a:spcBef>
                <a:spcPct val="0"/>
              </a:spcBef>
            </a:pPr>
            <a:r>
              <a:rPr lang="en-US" sz="3500" b="1" u="none" strike="noStrike" dirty="0">
                <a:solidFill>
                  <a:srgbClr val="FAFAFA"/>
                </a:solidFill>
                <a:latin typeface="Yu Gothic" panose="020B0400000000000000" pitchFamily="34" charset="-128"/>
                <a:ea typeface="Yu Gothic" panose="020B0400000000000000" pitchFamily="34" charset="-128"/>
                <a:cs typeface="Open Sans Bold"/>
                <a:sym typeface="Open Sans Bold"/>
              </a:rPr>
              <a:t>02</a:t>
            </a:r>
          </a:p>
        </p:txBody>
      </p:sp>
      <p:graphicFrame>
        <p:nvGraphicFramePr>
          <p:cNvPr id="10" name="表 9">
            <a:extLst>
              <a:ext uri="{FF2B5EF4-FFF2-40B4-BE49-F238E27FC236}">
                <a16:creationId xmlns:a16="http://schemas.microsoft.com/office/drawing/2014/main" id="{449E536C-E48E-DABD-3BE9-1BA0260779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402065"/>
              </p:ext>
            </p:extLst>
          </p:nvPr>
        </p:nvGraphicFramePr>
        <p:xfrm>
          <a:off x="7772400" y="2694232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興味関心，マッチングの分析結果を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1" dirty="0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SQLite</a:t>
                      </a:r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に保存</a:t>
                      </a:r>
                      <a:r>
                        <a:rPr kumimoji="1" lang="ja-JP" altLang="en-US" sz="2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する</a:t>
                      </a:r>
                      <a:endParaRPr kumimoji="1" lang="en-US" altLang="ja-JP" sz="2800" b="0" kern="1200" dirty="0">
                        <a:solidFill>
                          <a:schemeClr val="dk1"/>
                        </a:solidFill>
                        <a:latin typeface="Yu Gothic" panose="020B0400000000000000" pitchFamily="34" charset="-128"/>
                        <a:ea typeface="Yu Gothic" panose="020B0400000000000000" pitchFamily="34" charset="-128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Django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と同様のデータベースに繋げる</a:t>
                      </a:r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(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？</a:t>
                      </a:r>
                      <a:r>
                        <a:rPr kumimoji="1" lang="en-US" altLang="ja-JP" sz="2800" b="0" dirty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)</a:t>
                      </a:r>
                      <a:endParaRPr kumimoji="1" lang="en-US" altLang="ja-JP" sz="11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aphicFrame>
        <p:nvGraphicFramePr>
          <p:cNvPr id="14" name="表 13">
            <a:extLst>
              <a:ext uri="{FF2B5EF4-FFF2-40B4-BE49-F238E27FC236}">
                <a16:creationId xmlns:a16="http://schemas.microsoft.com/office/drawing/2014/main" id="{2CD41FB1-EFD5-1397-77AA-B96564880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335547"/>
              </p:ext>
            </p:extLst>
          </p:nvPr>
        </p:nvGraphicFramePr>
        <p:xfrm>
          <a:off x="7772400" y="5976899"/>
          <a:ext cx="9066992" cy="274898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2040073">
                  <a:extLst>
                    <a:ext uri="{9D8B030D-6E8A-4147-A177-3AD203B41FA5}">
                      <a16:colId xmlns:a16="http://schemas.microsoft.com/office/drawing/2014/main" val="151083142"/>
                    </a:ext>
                  </a:extLst>
                </a:gridCol>
                <a:gridCol w="7026919">
                  <a:extLst>
                    <a:ext uri="{9D8B030D-6E8A-4147-A177-3AD203B41FA5}">
                      <a16:colId xmlns:a16="http://schemas.microsoft.com/office/drawing/2014/main" val="3451232418"/>
                    </a:ext>
                  </a:extLst>
                </a:gridCol>
              </a:tblGrid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目的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興味関心，マッチングの分析結果を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r>
                        <a:rPr kumimoji="1" lang="ja-JP" altLang="en-US" sz="2800" b="1">
                          <a:solidFill>
                            <a:srgbClr val="C00000"/>
                          </a:solidFill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ユーザーに表示する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7943959"/>
                  </a:ext>
                </a:extLst>
              </a:tr>
              <a:tr h="137449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技術要素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kumimoji="1" lang="en-US" altLang="ja-JP" sz="2800" b="0" dirty="0" err="1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Transcript.objects</a:t>
                      </a:r>
                      <a:r>
                        <a:rPr kumimoji="1" lang="ja-JP" altLang="en-US" sz="2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を使えばすぐ実装可能</a:t>
                      </a:r>
                      <a:endParaRPr kumimoji="1" lang="en-US" altLang="ja-JP" sz="2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  <a:p>
                      <a:pPr algn="r"/>
                      <a:r>
                        <a:rPr kumimoji="1" lang="ja-JP" altLang="en-US" sz="1800" b="0">
                          <a:latin typeface="Yu Gothic" panose="020B0400000000000000" pitchFamily="34" charset="-128"/>
                          <a:ea typeface="Yu Gothic" panose="020B0400000000000000" pitchFamily="34" charset="-128"/>
                        </a:rPr>
                        <a:t>っぽいです</a:t>
                      </a:r>
                      <a:endParaRPr kumimoji="1" lang="en-US" altLang="ja-JP" sz="1800" b="0" dirty="0">
                        <a:latin typeface="Yu Gothic" panose="020B0400000000000000" pitchFamily="34" charset="-128"/>
                        <a:ea typeface="Yu Gothic" panose="020B0400000000000000" pitchFamily="34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2937220"/>
                  </a:ext>
                </a:extLst>
              </a:tr>
            </a:tbl>
          </a:graphicData>
        </a:graphic>
      </p:graphicFrame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2E267013-1DA3-68D7-4223-E1883A6C7627}"/>
              </a:ext>
            </a:extLst>
          </p:cNvPr>
          <p:cNvGrpSpPr/>
          <p:nvPr/>
        </p:nvGrpSpPr>
        <p:grpSpPr>
          <a:xfrm>
            <a:off x="5335892" y="3104658"/>
            <a:ext cx="1426106" cy="1909783"/>
            <a:chOff x="7173083" y="6753785"/>
            <a:chExt cx="1426106" cy="1909783"/>
          </a:xfrm>
        </p:grpSpPr>
        <p:pic>
          <p:nvPicPr>
            <p:cNvPr id="15" name="グラフィックス 14" descr="データベース 枠線">
              <a:extLst>
                <a:ext uri="{FF2B5EF4-FFF2-40B4-BE49-F238E27FC236}">
                  <a16:creationId xmlns:a16="http://schemas.microsoft.com/office/drawing/2014/main" id="{778D5D55-CE0E-F400-3189-B8508308BEA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CBC8DBA3-11C2-1B62-EA18-F386D12076D1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17DA34DF-146F-C9A0-E9B7-8ED419B0DB69}"/>
              </a:ext>
            </a:extLst>
          </p:cNvPr>
          <p:cNvGrpSpPr/>
          <p:nvPr/>
        </p:nvGrpSpPr>
        <p:grpSpPr>
          <a:xfrm>
            <a:off x="1170950" y="2884197"/>
            <a:ext cx="2113079" cy="2604998"/>
            <a:chOff x="2728937" y="6122140"/>
            <a:chExt cx="2113079" cy="2604998"/>
          </a:xfrm>
        </p:grpSpPr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2215DF6-67D0-F733-98B0-99DF11F5726C}"/>
                </a:ext>
              </a:extLst>
            </p:cNvPr>
            <p:cNvSpPr/>
            <p:nvPr/>
          </p:nvSpPr>
          <p:spPr>
            <a:xfrm>
              <a:off x="2874802" y="6122140"/>
              <a:ext cx="1821353" cy="1498063"/>
            </a:xfrm>
            <a:custGeom>
              <a:avLst/>
              <a:gdLst/>
              <a:ahLst/>
              <a:cxnLst/>
              <a:rect l="l" t="t" r="r" b="b"/>
              <a:pathLst>
                <a:path w="1821353" h="1498063">
                  <a:moveTo>
                    <a:pt x="0" y="0"/>
                  </a:moveTo>
                  <a:lnTo>
                    <a:pt x="1821353" y="0"/>
                  </a:lnTo>
                  <a:lnTo>
                    <a:pt x="1821353" y="1498063"/>
                  </a:lnTo>
                  <a:lnTo>
                    <a:pt x="0" y="14980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26F4537C-5863-7DFA-7264-89E965F64122}"/>
                </a:ext>
              </a:extLst>
            </p:cNvPr>
            <p:cNvSpPr txBox="1"/>
            <p:nvPr/>
          </p:nvSpPr>
          <p:spPr>
            <a:xfrm>
              <a:off x="2728937" y="7773031"/>
              <a:ext cx="2113079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分析</a:t>
              </a:r>
              <a:endParaRPr kumimoji="1" lang="en-US" altLang="ja-JP" sz="2400" b="1" dirty="0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  <a:p>
              <a:pPr algn="ctr"/>
              <a:r>
                <a:rPr kumimoji="1" lang="en-US" altLang="ja-JP" sz="16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Zero-shot-learning</a:t>
              </a:r>
            </a:p>
            <a:p>
              <a:pPr algn="ctr"/>
              <a:r>
                <a:rPr kumimoji="1" lang="ja-JP" altLang="en-US" sz="16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マッチングシステム</a:t>
              </a:r>
            </a:p>
          </p:txBody>
        </p:sp>
      </p:grp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AD0785E0-C73D-AC0A-8E89-FDF39811FB1D}"/>
              </a:ext>
            </a:extLst>
          </p:cNvPr>
          <p:cNvCxnSpPr>
            <a:cxnSpLocks/>
          </p:cNvCxnSpPr>
          <p:nvPr/>
        </p:nvCxnSpPr>
        <p:spPr>
          <a:xfrm>
            <a:off x="3191965" y="3633228"/>
            <a:ext cx="2255693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グラフィックス 21" descr="コメント: ハート 単色塗りつぶし">
            <a:extLst>
              <a:ext uri="{FF2B5EF4-FFF2-40B4-BE49-F238E27FC236}">
                <a16:creationId xmlns:a16="http://schemas.microsoft.com/office/drawing/2014/main" id="{B88F2DFF-E4E2-61DB-05E6-32C0F63C5B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97774" y="3129872"/>
            <a:ext cx="821125" cy="821125"/>
          </a:xfrm>
          <a:prstGeom prst="rect">
            <a:avLst/>
          </a:prstGeom>
        </p:spPr>
      </p:pic>
      <p:grpSp>
        <p:nvGrpSpPr>
          <p:cNvPr id="25" name="グループ化 24">
            <a:extLst>
              <a:ext uri="{FF2B5EF4-FFF2-40B4-BE49-F238E27FC236}">
                <a16:creationId xmlns:a16="http://schemas.microsoft.com/office/drawing/2014/main" id="{4EBCFBFC-6885-A848-172A-FD3F28BFB899}"/>
              </a:ext>
            </a:extLst>
          </p:cNvPr>
          <p:cNvGrpSpPr/>
          <p:nvPr/>
        </p:nvGrpSpPr>
        <p:grpSpPr>
          <a:xfrm>
            <a:off x="3157427" y="6447252"/>
            <a:ext cx="1162383" cy="1776969"/>
            <a:chOff x="2197288" y="6628760"/>
            <a:chExt cx="1278614" cy="1734867"/>
          </a:xfrm>
        </p:grpSpPr>
        <p:sp>
          <p:nvSpPr>
            <p:cNvPr id="26" name="Freeform 21">
              <a:extLst>
                <a:ext uri="{FF2B5EF4-FFF2-40B4-BE49-F238E27FC236}">
                  <a16:creationId xmlns:a16="http://schemas.microsoft.com/office/drawing/2014/main" id="{C9067BB2-953E-C7DB-7BDC-3D2B6958509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256042" y="6628760"/>
              <a:ext cx="1219860" cy="1247938"/>
            </a:xfrm>
            <a:custGeom>
              <a:avLst/>
              <a:gdLst/>
              <a:ahLst/>
              <a:cxnLst/>
              <a:rect l="l" t="t" r="r" b="b"/>
              <a:pathLst>
                <a:path w="1341162" h="1372032">
                  <a:moveTo>
                    <a:pt x="0" y="0"/>
                  </a:moveTo>
                  <a:lnTo>
                    <a:pt x="1341162" y="0"/>
                  </a:lnTo>
                  <a:lnTo>
                    <a:pt x="1341162" y="1372032"/>
                  </a:lnTo>
                  <a:lnTo>
                    <a:pt x="0" y="13720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ja-JP" altLang="en-US"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6DCD1096-08D3-BB85-72AE-3DDFC9ADF815}"/>
                </a:ext>
              </a:extLst>
            </p:cNvPr>
            <p:cNvSpPr txBox="1"/>
            <p:nvPr/>
          </p:nvSpPr>
          <p:spPr>
            <a:xfrm>
              <a:off x="2197288" y="7901962"/>
              <a:ext cx="125066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Django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713099CA-D63C-1982-8136-953F0BAAA39C}"/>
              </a:ext>
            </a:extLst>
          </p:cNvPr>
          <p:cNvGrpSpPr/>
          <p:nvPr/>
        </p:nvGrpSpPr>
        <p:grpSpPr>
          <a:xfrm>
            <a:off x="383958" y="6283725"/>
            <a:ext cx="1296468" cy="1956129"/>
            <a:chOff x="7173083" y="6753785"/>
            <a:chExt cx="1426106" cy="1909783"/>
          </a:xfrm>
        </p:grpSpPr>
        <p:pic>
          <p:nvPicPr>
            <p:cNvPr id="30" name="グラフィックス 29" descr="データベース 枠線">
              <a:extLst>
                <a:ext uri="{FF2B5EF4-FFF2-40B4-BE49-F238E27FC236}">
                  <a16:creationId xmlns:a16="http://schemas.microsoft.com/office/drawing/2014/main" id="{C4E79F0B-3B02-099E-989F-0C9C609D38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173083" y="6753785"/>
              <a:ext cx="1426106" cy="1426106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8A5C68BB-0E56-4751-4CCA-B60DA2295282}"/>
                </a:ext>
              </a:extLst>
            </p:cNvPr>
            <p:cNvSpPr txBox="1"/>
            <p:nvPr/>
          </p:nvSpPr>
          <p:spPr>
            <a:xfrm>
              <a:off x="7284849" y="8201903"/>
              <a:ext cx="12025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400" b="1" dirty="0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SQLite</a:t>
              </a:r>
              <a:endParaRPr kumimoji="1" lang="ja-JP" altLang="en-US" sz="2400" b="1">
                <a:solidFill>
                  <a:schemeClr val="tx2">
                    <a:lumMod val="75000"/>
                  </a:schemeClr>
                </a:solidFill>
                <a:latin typeface="Yu Gothic" panose="020B0400000000000000" pitchFamily="34" charset="-128"/>
                <a:ea typeface="Yu Gothic" panose="020B0400000000000000" pitchFamily="34" charset="-128"/>
              </a:endParaRPr>
            </a:p>
          </p:txBody>
        </p:sp>
      </p:grpSp>
      <p:grpSp>
        <p:nvGrpSpPr>
          <p:cNvPr id="33" name="グループ化 32">
            <a:extLst>
              <a:ext uri="{FF2B5EF4-FFF2-40B4-BE49-F238E27FC236}">
                <a16:creationId xmlns:a16="http://schemas.microsoft.com/office/drawing/2014/main" id="{104F69F2-7D08-CA33-568A-FD6FD7C51B71}"/>
              </a:ext>
            </a:extLst>
          </p:cNvPr>
          <p:cNvGrpSpPr/>
          <p:nvPr/>
        </p:nvGrpSpPr>
        <p:grpSpPr>
          <a:xfrm>
            <a:off x="6150174" y="6299613"/>
            <a:ext cx="1523990" cy="1940241"/>
            <a:chOff x="14518479" y="5789880"/>
            <a:chExt cx="1676379" cy="1894271"/>
          </a:xfrm>
        </p:grpSpPr>
        <p:pic>
          <p:nvPicPr>
            <p:cNvPr id="34" name="グラフィックス 33" descr="男性のプロフィール 枠線">
              <a:extLst>
                <a:ext uri="{FF2B5EF4-FFF2-40B4-BE49-F238E27FC236}">
                  <a16:creationId xmlns:a16="http://schemas.microsoft.com/office/drawing/2014/main" id="{2B76B076-0064-B991-87A5-C9B9ED8381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14518479" y="5789880"/>
              <a:ext cx="1676379" cy="1676379"/>
            </a:xfrm>
            <a:prstGeom prst="rect">
              <a:avLst/>
            </a:prstGeom>
          </p:spPr>
        </p:pic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6E245590-2FB6-2A12-72A2-10441819AB93}"/>
                </a:ext>
              </a:extLst>
            </p:cNvPr>
            <p:cNvSpPr txBox="1"/>
            <p:nvPr/>
          </p:nvSpPr>
          <p:spPr>
            <a:xfrm>
              <a:off x="14648782" y="7222486"/>
              <a:ext cx="14157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b="1">
                  <a:solidFill>
                    <a:schemeClr val="tx2">
                      <a:lumMod val="75000"/>
                    </a:schemeClr>
                  </a:solidFill>
                  <a:latin typeface="Yu Gothic" panose="020B0400000000000000" pitchFamily="34" charset="-128"/>
                  <a:ea typeface="Yu Gothic" panose="020B0400000000000000" pitchFamily="34" charset="-128"/>
                </a:rPr>
                <a:t>ユーザー</a:t>
              </a:r>
            </a:p>
          </p:txBody>
        </p:sp>
      </p:grpSp>
      <p:cxnSp>
        <p:nvCxnSpPr>
          <p:cNvPr id="36" name="直線矢印コネクタ 35">
            <a:extLst>
              <a:ext uri="{FF2B5EF4-FFF2-40B4-BE49-F238E27FC236}">
                <a16:creationId xmlns:a16="http://schemas.microsoft.com/office/drawing/2014/main" id="{A60EE49F-2CEF-1609-0E7C-E66B44AD6CD1}"/>
              </a:ext>
            </a:extLst>
          </p:cNvPr>
          <p:cNvCxnSpPr>
            <a:cxnSpLocks/>
          </p:cNvCxnSpPr>
          <p:nvPr/>
        </p:nvCxnSpPr>
        <p:spPr>
          <a:xfrm>
            <a:off x="1586631" y="7108125"/>
            <a:ext cx="14134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グラフィックス 44" descr="コメント: ハート 単色塗りつぶし">
            <a:extLst>
              <a:ext uri="{FF2B5EF4-FFF2-40B4-BE49-F238E27FC236}">
                <a16:creationId xmlns:a16="http://schemas.microsoft.com/office/drawing/2014/main" id="{2DFAEF9F-6478-4B99-E154-6ACC2D19880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727181" y="6591300"/>
            <a:ext cx="841052" cy="841052"/>
          </a:xfrm>
          <a:prstGeom prst="rect">
            <a:avLst/>
          </a:prstGeom>
        </p:spPr>
      </p:pic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EF54170A-ABF0-3A56-CF2D-565007252B48}"/>
              </a:ext>
            </a:extLst>
          </p:cNvPr>
          <p:cNvCxnSpPr>
            <a:cxnSpLocks/>
          </p:cNvCxnSpPr>
          <p:nvPr/>
        </p:nvCxnSpPr>
        <p:spPr>
          <a:xfrm>
            <a:off x="4658301" y="7127077"/>
            <a:ext cx="1413461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グラフィックス 49" descr="コメント: ハート 単色塗りつぶし">
            <a:extLst>
              <a:ext uri="{FF2B5EF4-FFF2-40B4-BE49-F238E27FC236}">
                <a16:creationId xmlns:a16="http://schemas.microsoft.com/office/drawing/2014/main" id="{D37516AF-3AA1-3637-3457-E28F067917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98851" y="6591300"/>
            <a:ext cx="841052" cy="84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42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4366</TotalTime>
  <Words>618</Words>
  <Application>Microsoft Macintosh PowerPoint</Application>
  <PresentationFormat>ユーザー設定</PresentationFormat>
  <Paragraphs>203</Paragraphs>
  <Slides>10</Slides>
  <Notes>8</Notes>
  <HiddenSlides>4</HiddenSlides>
  <MMClips>1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5" baseType="lpstr">
      <vt:lpstr>游ゴシック</vt:lpstr>
      <vt:lpstr>Calibri</vt:lpstr>
      <vt:lpstr>游ゴシック</vt:lpstr>
      <vt:lpstr>Arial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白　シンプル　年次報告書　プレゼンテーション</dc:title>
  <cp:lastModifiedBy>Momoko SHIRAKAWA</cp:lastModifiedBy>
  <cp:revision>15</cp:revision>
  <dcterms:created xsi:type="dcterms:W3CDTF">2006-08-16T00:00:00Z</dcterms:created>
  <dcterms:modified xsi:type="dcterms:W3CDTF">2025-06-13T05:57:48Z</dcterms:modified>
  <dc:identifier>DAGn9M6bQfc</dc:identifier>
</cp:coreProperties>
</file>